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8" r:id="rId6"/>
    <p:sldId id="279" r:id="rId7"/>
    <p:sldId id="260" r:id="rId8"/>
    <p:sldId id="261" r:id="rId9"/>
    <p:sldId id="280" r:id="rId10"/>
    <p:sldId id="281" r:id="rId11"/>
    <p:sldId id="282" r:id="rId12"/>
    <p:sldId id="283" r:id="rId13"/>
    <p:sldId id="262" r:id="rId14"/>
    <p:sldId id="263" r:id="rId15"/>
    <p:sldId id="264" r:id="rId16"/>
    <p:sldId id="265" r:id="rId17"/>
    <p:sldId id="266" r:id="rId18"/>
    <p:sldId id="267" r:id="rId19"/>
    <p:sldId id="268" r:id="rId20"/>
    <p:sldId id="269" r:id="rId21"/>
    <p:sldId id="276" r:id="rId22"/>
    <p:sldId id="277" r:id="rId23"/>
    <p:sldId id="284" r:id="rId24"/>
    <p:sldId id="285" r:id="rId25"/>
    <p:sldId id="286" r:id="rId26"/>
    <p:sldId id="287" r:id="rId27"/>
    <p:sldId id="270" r:id="rId28"/>
    <p:sldId id="271" r:id="rId29"/>
    <p:sldId id="272" r:id="rId30"/>
    <p:sldId id="273" r:id="rId31"/>
    <p:sldId id="274" r:id="rId32"/>
    <p:sldId id="275"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7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5" name="Holder 5"/>
          <p:cNvSpPr>
            <a:spLocks noGrp="1"/>
          </p:cNvSpPr>
          <p:nvPr>
            <p:ph type="dt" sz="half" idx="6"/>
          </p:nvPr>
        </p:nvSpPr>
        <p:spPr/>
        <p:txBody>
          <a:bodyPr lIns="0" tIns="0" rIns="0" bIns="0"/>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6" name="Holder 6"/>
          <p:cNvSpPr>
            <a:spLocks noGrp="1"/>
          </p:cNvSpPr>
          <p:nvPr>
            <p:ph type="sldNum" sz="quarter" idx="7"/>
          </p:nvPr>
        </p:nvSpPr>
        <p:spPr/>
        <p:txBody>
          <a:bodyPr lIns="0" tIns="0" rIns="0" bIns="0"/>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5" name="Holder 5"/>
          <p:cNvSpPr>
            <a:spLocks noGrp="1"/>
          </p:cNvSpPr>
          <p:nvPr>
            <p:ph type="dt" sz="half" idx="6"/>
          </p:nvPr>
        </p:nvSpPr>
        <p:spPr/>
        <p:txBody>
          <a:bodyPr lIns="0" tIns="0" rIns="0" bIns="0"/>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6" name="Holder 6"/>
          <p:cNvSpPr>
            <a:spLocks noGrp="1"/>
          </p:cNvSpPr>
          <p:nvPr>
            <p:ph type="sldNum" sz="quarter" idx="7"/>
          </p:nvPr>
        </p:nvSpPr>
        <p:spPr/>
        <p:txBody>
          <a:bodyPr lIns="0" tIns="0" rIns="0" bIns="0"/>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30453" y="1275714"/>
            <a:ext cx="4994910" cy="4387215"/>
          </a:xfrm>
          <a:prstGeom prst="rect">
            <a:avLst/>
          </a:prstGeom>
        </p:spPr>
        <p:txBody>
          <a:bodyPr wrap="square" lIns="0" tIns="0" rIns="0" bIns="0">
            <a:spAutoFit/>
          </a:bodyPr>
          <a:lstStyle>
            <a:lvl1pPr>
              <a:defRPr sz="2200" b="1" i="0">
                <a:solidFill>
                  <a:schemeClr val="tx1"/>
                </a:solidFill>
                <a:latin typeface="Times New Roman"/>
                <a:cs typeface="Times New Roman"/>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6" name="Holder 6"/>
          <p:cNvSpPr>
            <a:spLocks noGrp="1"/>
          </p:cNvSpPr>
          <p:nvPr>
            <p:ph type="dt" sz="half" idx="6"/>
          </p:nvPr>
        </p:nvSpPr>
        <p:spPr/>
        <p:txBody>
          <a:bodyPr lIns="0" tIns="0" rIns="0" bIns="0"/>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7" name="Holder 7"/>
          <p:cNvSpPr>
            <a:spLocks noGrp="1"/>
          </p:cNvSpPr>
          <p:nvPr>
            <p:ph type="sldNum" sz="quarter" idx="7"/>
          </p:nvPr>
        </p:nvSpPr>
        <p:spPr/>
        <p:txBody>
          <a:bodyPr lIns="0" tIns="0" rIns="0" bIns="0"/>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4" name="Holder 4"/>
          <p:cNvSpPr>
            <a:spLocks noGrp="1"/>
          </p:cNvSpPr>
          <p:nvPr>
            <p:ph type="dt" sz="half" idx="6"/>
          </p:nvPr>
        </p:nvSpPr>
        <p:spPr/>
        <p:txBody>
          <a:bodyPr lIns="0" tIns="0" rIns="0" bIns="0"/>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5" name="Holder 5"/>
          <p:cNvSpPr>
            <a:spLocks noGrp="1"/>
          </p:cNvSpPr>
          <p:nvPr>
            <p:ph type="sldNum" sz="quarter" idx="7"/>
          </p:nvPr>
        </p:nvSpPr>
        <p:spPr/>
        <p:txBody>
          <a:bodyPr lIns="0" tIns="0" rIns="0" bIns="0"/>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3" name="Holder 3"/>
          <p:cNvSpPr>
            <a:spLocks noGrp="1"/>
          </p:cNvSpPr>
          <p:nvPr>
            <p:ph type="dt" sz="half" idx="6"/>
          </p:nvPr>
        </p:nvSpPr>
        <p:spPr/>
        <p:txBody>
          <a:bodyPr lIns="0" tIns="0" rIns="0" bIns="0"/>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4" name="Holder 4"/>
          <p:cNvSpPr>
            <a:spLocks noGrp="1"/>
          </p:cNvSpPr>
          <p:nvPr>
            <p:ph type="sldNum" sz="quarter" idx="7"/>
          </p:nvPr>
        </p:nvSpPr>
        <p:spPr/>
        <p:txBody>
          <a:bodyPr lIns="0" tIns="0" rIns="0" bIns="0"/>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911" y="39623"/>
            <a:ext cx="3666744" cy="502920"/>
          </a:xfrm>
          <a:prstGeom prst="rect">
            <a:avLst/>
          </a:prstGeom>
        </p:spPr>
      </p:pic>
      <p:sp>
        <p:nvSpPr>
          <p:cNvPr id="2" name="Holder 2"/>
          <p:cNvSpPr>
            <a:spLocks noGrp="1"/>
          </p:cNvSpPr>
          <p:nvPr>
            <p:ph type="title"/>
          </p:nvPr>
        </p:nvSpPr>
        <p:spPr>
          <a:xfrm>
            <a:off x="1392682" y="552399"/>
            <a:ext cx="9665970" cy="62928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212841" y="1745742"/>
            <a:ext cx="6598284" cy="33782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430014" y="6448890"/>
            <a:ext cx="854710" cy="194309"/>
          </a:xfrm>
          <a:prstGeom prst="rect">
            <a:avLst/>
          </a:prstGeom>
        </p:spPr>
        <p:txBody>
          <a:bodyPr wrap="square" lIns="0" tIns="0" rIns="0" bIns="0">
            <a:spAutoFit/>
          </a:bodyPr>
          <a:lstStyle>
            <a:lvl1pPr>
              <a:defRPr sz="1200" b="0" i="0">
                <a:solidFill>
                  <a:srgbClr val="878787"/>
                </a:solidFill>
                <a:latin typeface="Times New Roman"/>
                <a:cs typeface="Times New Roman"/>
              </a:defRPr>
            </a:lvl1pPr>
          </a:lstStyle>
          <a:p>
            <a:pPr marL="12700">
              <a:lnSpc>
                <a:spcPts val="1410"/>
              </a:lnSpc>
            </a:pPr>
            <a:r>
              <a:rPr dirty="0"/>
              <a:t>Review</a:t>
            </a:r>
            <a:r>
              <a:rPr spc="-55" dirty="0"/>
              <a:t> </a:t>
            </a:r>
            <a:r>
              <a:rPr dirty="0"/>
              <a:t>No</a:t>
            </a:r>
            <a:r>
              <a:rPr spc="-75" dirty="0"/>
              <a:t> </a:t>
            </a:r>
            <a:r>
              <a:rPr spc="-25" dirty="0"/>
              <a:t>.1</a:t>
            </a:r>
          </a:p>
        </p:txBody>
      </p:sp>
      <p:sp>
        <p:nvSpPr>
          <p:cNvPr id="5" name="Holder 5"/>
          <p:cNvSpPr>
            <a:spLocks noGrp="1"/>
          </p:cNvSpPr>
          <p:nvPr>
            <p:ph type="dt" sz="half" idx="6"/>
          </p:nvPr>
        </p:nvSpPr>
        <p:spPr>
          <a:xfrm>
            <a:off x="905052" y="6448890"/>
            <a:ext cx="732916" cy="197357"/>
          </a:xfrm>
          <a:prstGeom prst="rect">
            <a:avLst/>
          </a:prstGeom>
        </p:spPr>
        <p:txBody>
          <a:bodyPr wrap="square" lIns="0" tIns="0" rIns="0" bIns="0">
            <a:spAutoFit/>
          </a:bodyPr>
          <a:lstStyle>
            <a:lvl1pPr>
              <a:defRPr sz="1200" b="0" i="0">
                <a:solidFill>
                  <a:srgbClr val="878787"/>
                </a:solidFill>
                <a:latin typeface="Times New Roman"/>
                <a:cs typeface="Times New Roman"/>
              </a:defRPr>
            </a:lvl1pPr>
          </a:lstStyle>
          <a:p>
            <a:pPr marL="24765">
              <a:lnSpc>
                <a:spcPts val="1410"/>
              </a:lnSpc>
            </a:pPr>
            <a:r>
              <a:rPr spc="-25" dirty="0"/>
              <a:t>11/11/2025</a:t>
            </a:r>
          </a:p>
        </p:txBody>
      </p:sp>
      <p:sp>
        <p:nvSpPr>
          <p:cNvPr id="6" name="Holder 6"/>
          <p:cNvSpPr>
            <a:spLocks noGrp="1"/>
          </p:cNvSpPr>
          <p:nvPr>
            <p:ph type="sldNum" sz="quarter" idx="7"/>
          </p:nvPr>
        </p:nvSpPr>
        <p:spPr>
          <a:xfrm>
            <a:off x="11081639" y="6448890"/>
            <a:ext cx="197484" cy="194309"/>
          </a:xfrm>
          <a:prstGeom prst="rect">
            <a:avLst/>
          </a:prstGeom>
        </p:spPr>
        <p:txBody>
          <a:bodyPr wrap="square" lIns="0" tIns="0" rIns="0" bIns="0">
            <a:spAutoFit/>
          </a:bodyPr>
          <a:lstStyle>
            <a:lvl1pPr>
              <a:defRPr sz="1200" b="0" i="0">
                <a:solidFill>
                  <a:srgbClr val="878787"/>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document/6280553" TargetMode="External"/><Relationship Id="rId2" Type="http://schemas.openxmlformats.org/officeDocument/2006/relationships/hyperlink" Target="https://ieeexplore.ieee.org/document/9361372" TargetMode="External"/><Relationship Id="rId1" Type="http://schemas.openxmlformats.org/officeDocument/2006/relationships/slideLayout" Target="../slideLayouts/slideLayout2.xml"/><Relationship Id="rId6" Type="http://schemas.openxmlformats.org/officeDocument/2006/relationships/hyperlink" Target="https://ieeexplore.ieee.org/document/10613812" TargetMode="External"/><Relationship Id="rId5" Type="http://schemas.openxmlformats.org/officeDocument/2006/relationships/hyperlink" Target="https://ieeexplore.ieee.org/document/10630818" TargetMode="External"/><Relationship Id="rId4" Type="http://schemas.openxmlformats.org/officeDocument/2006/relationships/hyperlink" Target="https://ieeexplore.ieee.org/document/1006411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hyperlink" Target="mailto:mpk20002@gmail.com" TargetMode="Externa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hyperlink" Target="mailto:skmastanvali5707@gmail.com" TargetMode="External"/><Relationship Id="rId5" Type="http://schemas.openxmlformats.org/officeDocument/2006/relationships/hyperlink" Target="mailto:sk.basha579@gmail.com" TargetMode="External"/><Relationship Id="rId4" Type="http://schemas.openxmlformats.org/officeDocument/2006/relationships/hyperlink" Target="mailto:db2majorpro@gmail.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36693" y="164966"/>
            <a:ext cx="10281920" cy="2027555"/>
            <a:chOff x="1036693" y="164966"/>
            <a:chExt cx="10281920" cy="2027555"/>
          </a:xfrm>
        </p:grpSpPr>
        <p:pic>
          <p:nvPicPr>
            <p:cNvPr id="3" name="object 3"/>
            <p:cNvPicPr/>
            <p:nvPr/>
          </p:nvPicPr>
          <p:blipFill>
            <a:blip r:embed="rId2" cstate="print"/>
            <a:stretch>
              <a:fillRect/>
            </a:stretch>
          </p:blipFill>
          <p:spPr>
            <a:xfrm>
              <a:off x="1036693" y="164966"/>
              <a:ext cx="10193035" cy="2027440"/>
            </a:xfrm>
            <a:prstGeom prst="rect">
              <a:avLst/>
            </a:prstGeom>
            <a:ln>
              <a:noFill/>
            </a:ln>
          </p:spPr>
        </p:pic>
        <p:pic>
          <p:nvPicPr>
            <p:cNvPr id="4" name="object 4"/>
            <p:cNvPicPr/>
            <p:nvPr/>
          </p:nvPicPr>
          <p:blipFill>
            <a:blip r:embed="rId3" cstate="print"/>
            <a:stretch>
              <a:fillRect/>
            </a:stretch>
          </p:blipFill>
          <p:spPr>
            <a:xfrm>
              <a:off x="1264920" y="573024"/>
              <a:ext cx="10053574" cy="1430909"/>
            </a:xfrm>
            <a:prstGeom prst="rect">
              <a:avLst/>
            </a:prstGeom>
            <a:ln>
              <a:noFill/>
            </a:ln>
          </p:spPr>
        </p:pic>
        <p:sp>
          <p:nvSpPr>
            <p:cNvPr id="5" name="object 5"/>
            <p:cNvSpPr/>
            <p:nvPr/>
          </p:nvSpPr>
          <p:spPr>
            <a:xfrm>
              <a:off x="1046988" y="214884"/>
              <a:ext cx="10101580" cy="1932939"/>
            </a:xfrm>
            <a:custGeom>
              <a:avLst/>
              <a:gdLst/>
              <a:ahLst/>
              <a:cxnLst/>
              <a:rect l="l" t="t" r="r" b="b"/>
              <a:pathLst>
                <a:path w="10101580" h="1932939">
                  <a:moveTo>
                    <a:pt x="0" y="1932432"/>
                  </a:moveTo>
                  <a:lnTo>
                    <a:pt x="10101071" y="1932432"/>
                  </a:lnTo>
                  <a:lnTo>
                    <a:pt x="10101071" y="0"/>
                  </a:lnTo>
                  <a:lnTo>
                    <a:pt x="0" y="0"/>
                  </a:lnTo>
                  <a:lnTo>
                    <a:pt x="0" y="1932432"/>
                  </a:lnTo>
                  <a:close/>
                </a:path>
              </a:pathLst>
            </a:custGeom>
            <a:ln w="9143">
              <a:noFill/>
            </a:ln>
          </p:spPr>
          <p:txBody>
            <a:bodyPr wrap="square" lIns="0" tIns="0" rIns="0" bIns="0" rtlCol="0"/>
            <a:lstStyle/>
            <a:p>
              <a:endParaRPr/>
            </a:p>
          </p:txBody>
        </p:sp>
      </p:grpSp>
      <p:sp>
        <p:nvSpPr>
          <p:cNvPr id="6" name="object 6"/>
          <p:cNvSpPr txBox="1"/>
          <p:nvPr/>
        </p:nvSpPr>
        <p:spPr>
          <a:xfrm>
            <a:off x="3737864" y="678560"/>
            <a:ext cx="4965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Department</a:t>
            </a:r>
            <a:r>
              <a:rPr sz="1800" b="1" spc="-45" dirty="0">
                <a:latin typeface="Times New Roman"/>
                <a:cs typeface="Times New Roman"/>
              </a:rPr>
              <a:t> </a:t>
            </a:r>
            <a:r>
              <a:rPr sz="1800" b="1" dirty="0">
                <a:latin typeface="Times New Roman"/>
                <a:cs typeface="Times New Roman"/>
              </a:rPr>
              <a:t>of</a:t>
            </a:r>
            <a:r>
              <a:rPr sz="1800" b="1" spc="-70" dirty="0">
                <a:latin typeface="Times New Roman"/>
                <a:cs typeface="Times New Roman"/>
              </a:rPr>
              <a:t> </a:t>
            </a:r>
            <a:r>
              <a:rPr sz="1800" b="1" dirty="0">
                <a:latin typeface="Times New Roman"/>
                <a:cs typeface="Times New Roman"/>
              </a:rPr>
              <a:t>Computer</a:t>
            </a:r>
            <a:r>
              <a:rPr sz="1800" b="1" spc="-40" dirty="0">
                <a:latin typeface="Times New Roman"/>
                <a:cs typeface="Times New Roman"/>
              </a:rPr>
              <a:t> </a:t>
            </a:r>
            <a:r>
              <a:rPr sz="1800" b="1" dirty="0">
                <a:latin typeface="Times New Roman"/>
                <a:cs typeface="Times New Roman"/>
              </a:rPr>
              <a:t>Science</a:t>
            </a:r>
            <a:r>
              <a:rPr sz="1800" b="1" spc="-40" dirty="0">
                <a:latin typeface="Times New Roman"/>
                <a:cs typeface="Times New Roman"/>
              </a:rPr>
              <a:t> </a:t>
            </a:r>
            <a:r>
              <a:rPr sz="1800" b="1" dirty="0">
                <a:latin typeface="Times New Roman"/>
                <a:cs typeface="Times New Roman"/>
              </a:rPr>
              <a:t>and</a:t>
            </a:r>
            <a:r>
              <a:rPr sz="1800" b="1" spc="-25" dirty="0">
                <a:latin typeface="Times New Roman"/>
                <a:cs typeface="Times New Roman"/>
              </a:rPr>
              <a:t> </a:t>
            </a:r>
            <a:r>
              <a:rPr sz="1800" b="1" spc="-10" dirty="0">
                <a:latin typeface="Times New Roman"/>
                <a:cs typeface="Times New Roman"/>
              </a:rPr>
              <a:t>Engineering</a:t>
            </a:r>
            <a:endParaRPr sz="1800">
              <a:latin typeface="Times New Roman"/>
              <a:cs typeface="Times New Roman"/>
            </a:endParaRPr>
          </a:p>
        </p:txBody>
      </p:sp>
      <p:sp>
        <p:nvSpPr>
          <p:cNvPr id="7" name="object 7"/>
          <p:cNvSpPr txBox="1">
            <a:spLocks noGrp="1"/>
          </p:cNvSpPr>
          <p:nvPr>
            <p:ph type="title"/>
          </p:nvPr>
        </p:nvSpPr>
        <p:spPr>
          <a:xfrm>
            <a:off x="1451610" y="1014221"/>
            <a:ext cx="9531350" cy="757555"/>
          </a:xfrm>
          <a:prstGeom prst="rect">
            <a:avLst/>
          </a:prstGeom>
        </p:spPr>
        <p:txBody>
          <a:bodyPr vert="horz" wrap="square" lIns="0" tIns="12700" rIns="0" bIns="0" rtlCol="0">
            <a:spAutoFit/>
          </a:bodyPr>
          <a:lstStyle/>
          <a:p>
            <a:pPr marL="3493770" marR="5080" indent="-3481704">
              <a:lnSpc>
                <a:spcPct val="100000"/>
              </a:lnSpc>
              <a:spcBef>
                <a:spcPts val="100"/>
              </a:spcBef>
            </a:pPr>
            <a:r>
              <a:rPr sz="2400" dirty="0">
                <a:solidFill>
                  <a:srgbClr val="FF0000"/>
                </a:solidFill>
              </a:rPr>
              <a:t>HYBRIDBERT</a:t>
            </a:r>
            <a:r>
              <a:rPr sz="2400" spc="-75" dirty="0">
                <a:solidFill>
                  <a:srgbClr val="FF0000"/>
                </a:solidFill>
              </a:rPr>
              <a:t> </a:t>
            </a:r>
            <a:r>
              <a:rPr sz="2400" dirty="0">
                <a:solidFill>
                  <a:srgbClr val="FF0000"/>
                </a:solidFill>
              </a:rPr>
              <a:t>AND</a:t>
            </a:r>
            <a:r>
              <a:rPr sz="2400" spc="-55" dirty="0">
                <a:solidFill>
                  <a:srgbClr val="FF0000"/>
                </a:solidFill>
              </a:rPr>
              <a:t> </a:t>
            </a:r>
            <a:r>
              <a:rPr sz="2400" dirty="0">
                <a:solidFill>
                  <a:srgbClr val="FF0000"/>
                </a:solidFill>
              </a:rPr>
              <a:t>METADATA</a:t>
            </a:r>
            <a:r>
              <a:rPr sz="2400" spc="-60" dirty="0">
                <a:solidFill>
                  <a:srgbClr val="FF0000"/>
                </a:solidFill>
              </a:rPr>
              <a:t> </a:t>
            </a:r>
            <a:r>
              <a:rPr sz="2400" dirty="0">
                <a:solidFill>
                  <a:srgbClr val="FF0000"/>
                </a:solidFill>
              </a:rPr>
              <a:t>DEEP</a:t>
            </a:r>
            <a:r>
              <a:rPr sz="2400" spc="-70" dirty="0">
                <a:solidFill>
                  <a:srgbClr val="FF0000"/>
                </a:solidFill>
              </a:rPr>
              <a:t> </a:t>
            </a:r>
            <a:r>
              <a:rPr sz="2400" dirty="0">
                <a:solidFill>
                  <a:srgbClr val="FF0000"/>
                </a:solidFill>
              </a:rPr>
              <a:t>LEARNING</a:t>
            </a:r>
            <a:r>
              <a:rPr sz="2400" spc="-75" dirty="0">
                <a:solidFill>
                  <a:srgbClr val="FF0000"/>
                </a:solidFill>
              </a:rPr>
              <a:t> </a:t>
            </a:r>
            <a:r>
              <a:rPr sz="2400" dirty="0">
                <a:solidFill>
                  <a:srgbClr val="FF0000"/>
                </a:solidFill>
              </a:rPr>
              <a:t>FOR</a:t>
            </a:r>
            <a:r>
              <a:rPr sz="2400" spc="-50" dirty="0">
                <a:solidFill>
                  <a:srgbClr val="FF0000"/>
                </a:solidFill>
              </a:rPr>
              <a:t> </a:t>
            </a:r>
            <a:r>
              <a:rPr sz="2400" spc="-10" dirty="0">
                <a:solidFill>
                  <a:srgbClr val="FF0000"/>
                </a:solidFill>
              </a:rPr>
              <a:t>TWITTER </a:t>
            </a:r>
            <a:r>
              <a:rPr sz="2400" dirty="0">
                <a:solidFill>
                  <a:srgbClr val="FF0000"/>
                </a:solidFill>
              </a:rPr>
              <a:t>BOT</a:t>
            </a:r>
            <a:r>
              <a:rPr sz="2400" spc="-15" dirty="0">
                <a:solidFill>
                  <a:srgbClr val="FF0000"/>
                </a:solidFill>
              </a:rPr>
              <a:t> </a:t>
            </a:r>
            <a:r>
              <a:rPr sz="2400" spc="-10" dirty="0">
                <a:solidFill>
                  <a:srgbClr val="FF0000"/>
                </a:solidFill>
              </a:rPr>
              <a:t>DETECTION</a:t>
            </a:r>
            <a:endParaRPr sz="2400"/>
          </a:p>
        </p:txBody>
      </p:sp>
      <p:sp>
        <p:nvSpPr>
          <p:cNvPr id="8" name="object 8"/>
          <p:cNvSpPr txBox="1"/>
          <p:nvPr/>
        </p:nvSpPr>
        <p:spPr>
          <a:xfrm>
            <a:off x="5592571" y="2248357"/>
            <a:ext cx="1484630" cy="263525"/>
          </a:xfrm>
          <a:prstGeom prst="rect">
            <a:avLst/>
          </a:prstGeom>
        </p:spPr>
        <p:txBody>
          <a:bodyPr vert="horz" wrap="square" lIns="0" tIns="13970" rIns="0" bIns="0" rtlCol="0">
            <a:spAutoFit/>
          </a:bodyPr>
          <a:lstStyle/>
          <a:p>
            <a:pPr marL="12700">
              <a:lnSpc>
                <a:spcPct val="100000"/>
              </a:lnSpc>
              <a:spcBef>
                <a:spcPts val="110"/>
              </a:spcBef>
            </a:pPr>
            <a:r>
              <a:rPr sz="1550" dirty="0">
                <a:latin typeface="Times New Roman"/>
                <a:cs typeface="Times New Roman"/>
              </a:rPr>
              <a:t>PRESENTED</a:t>
            </a:r>
            <a:r>
              <a:rPr sz="1550" spc="135" dirty="0">
                <a:latin typeface="Times New Roman"/>
                <a:cs typeface="Times New Roman"/>
              </a:rPr>
              <a:t> </a:t>
            </a:r>
            <a:r>
              <a:rPr sz="1550" spc="-25" dirty="0">
                <a:latin typeface="Times New Roman"/>
                <a:cs typeface="Times New Roman"/>
              </a:rPr>
              <a:t>BY</a:t>
            </a:r>
            <a:endParaRPr sz="1550">
              <a:latin typeface="Times New Roman"/>
              <a:cs typeface="Times New Roman"/>
            </a:endParaRPr>
          </a:p>
        </p:txBody>
      </p:sp>
      <p:sp>
        <p:nvSpPr>
          <p:cNvPr id="9" name="object 9"/>
          <p:cNvSpPr txBox="1"/>
          <p:nvPr/>
        </p:nvSpPr>
        <p:spPr>
          <a:xfrm>
            <a:off x="4191379" y="2467724"/>
            <a:ext cx="2885821" cy="1033616"/>
          </a:xfrm>
          <a:prstGeom prst="rect">
            <a:avLst/>
          </a:prstGeom>
        </p:spPr>
        <p:txBody>
          <a:bodyPr vert="horz" wrap="square" lIns="0" tIns="111760" rIns="0" bIns="0" rtlCol="0">
            <a:spAutoFit/>
          </a:bodyPr>
          <a:lstStyle/>
          <a:p>
            <a:pPr marL="12700">
              <a:lnSpc>
                <a:spcPct val="100000"/>
              </a:lnSpc>
              <a:spcBef>
                <a:spcPts val="880"/>
              </a:spcBef>
            </a:pPr>
            <a:r>
              <a:rPr lang="en-US" sz="1550" dirty="0">
                <a:latin typeface="Times New Roman"/>
                <a:cs typeface="Times New Roman"/>
              </a:rPr>
              <a:t>SHAIK</a:t>
            </a:r>
            <a:r>
              <a:rPr lang="en-US" sz="1550" spc="-30" dirty="0">
                <a:latin typeface="Times New Roman"/>
                <a:cs typeface="Times New Roman"/>
              </a:rPr>
              <a:t> </a:t>
            </a:r>
            <a:r>
              <a:rPr lang="en-US" sz="1550" dirty="0">
                <a:latin typeface="Times New Roman"/>
                <a:cs typeface="Times New Roman"/>
              </a:rPr>
              <a:t>SHAKEER</a:t>
            </a:r>
            <a:r>
              <a:rPr lang="en-US" sz="1550" spc="-30" dirty="0">
                <a:latin typeface="Times New Roman"/>
                <a:cs typeface="Times New Roman"/>
              </a:rPr>
              <a:t> </a:t>
            </a:r>
            <a:r>
              <a:rPr lang="en-US" sz="1550" spc="-10" dirty="0">
                <a:latin typeface="Times New Roman"/>
                <a:cs typeface="Times New Roman"/>
              </a:rPr>
              <a:t>AHAMAD</a:t>
            </a:r>
            <a:endParaRPr lang="en-US" sz="1550" dirty="0">
              <a:latin typeface="Times New Roman"/>
              <a:cs typeface="Times New Roman"/>
            </a:endParaRPr>
          </a:p>
          <a:p>
            <a:pPr marL="12700">
              <a:lnSpc>
                <a:spcPct val="100000"/>
              </a:lnSpc>
              <a:spcBef>
                <a:spcPts val="785"/>
              </a:spcBef>
            </a:pPr>
            <a:r>
              <a:rPr lang="en-US" sz="1550" dirty="0">
                <a:latin typeface="Times New Roman"/>
                <a:cs typeface="Times New Roman"/>
              </a:rPr>
              <a:t>SHAIK</a:t>
            </a:r>
            <a:r>
              <a:rPr lang="en-US" sz="1550" spc="-30" dirty="0">
                <a:latin typeface="Times New Roman"/>
                <a:cs typeface="Times New Roman"/>
              </a:rPr>
              <a:t> </a:t>
            </a:r>
            <a:r>
              <a:rPr lang="en-US" sz="1550" spc="-10" dirty="0">
                <a:latin typeface="Times New Roman"/>
                <a:cs typeface="Times New Roman"/>
              </a:rPr>
              <a:t>MASTANVALI</a:t>
            </a:r>
            <a:endParaRPr lang="en-US" sz="1550" dirty="0">
              <a:latin typeface="Times New Roman"/>
              <a:cs typeface="Times New Roman"/>
            </a:endParaRPr>
          </a:p>
          <a:p>
            <a:pPr marL="12700">
              <a:lnSpc>
                <a:spcPct val="100000"/>
              </a:lnSpc>
              <a:spcBef>
                <a:spcPts val="780"/>
              </a:spcBef>
            </a:pPr>
            <a:r>
              <a:rPr lang="en-US" sz="1550" dirty="0">
                <a:latin typeface="Times New Roman"/>
                <a:cs typeface="Times New Roman"/>
              </a:rPr>
              <a:t>M</a:t>
            </a:r>
            <a:r>
              <a:rPr lang="en-US" sz="1550" spc="-10" dirty="0">
                <a:latin typeface="Times New Roman"/>
                <a:cs typeface="Times New Roman"/>
              </a:rPr>
              <a:t> </a:t>
            </a:r>
            <a:r>
              <a:rPr lang="en-US" sz="1550" dirty="0">
                <a:latin typeface="Times New Roman"/>
                <a:cs typeface="Times New Roman"/>
              </a:rPr>
              <a:t>PHANI</a:t>
            </a:r>
            <a:r>
              <a:rPr lang="en-US" sz="1550" spc="-35" dirty="0">
                <a:latin typeface="Times New Roman"/>
                <a:cs typeface="Times New Roman"/>
              </a:rPr>
              <a:t> </a:t>
            </a:r>
            <a:r>
              <a:rPr lang="en-US" sz="1550" spc="-20" dirty="0">
                <a:latin typeface="Times New Roman"/>
                <a:cs typeface="Times New Roman"/>
              </a:rPr>
              <a:t>KUMAR</a:t>
            </a:r>
            <a:endParaRPr lang="en-US" sz="1550" dirty="0">
              <a:latin typeface="Times New Roman"/>
              <a:cs typeface="Times New Roman"/>
            </a:endParaRPr>
          </a:p>
        </p:txBody>
      </p:sp>
      <p:sp>
        <p:nvSpPr>
          <p:cNvPr id="10" name="object 10"/>
          <p:cNvSpPr txBox="1"/>
          <p:nvPr/>
        </p:nvSpPr>
        <p:spPr>
          <a:xfrm>
            <a:off x="6972045" y="2467724"/>
            <a:ext cx="1241425" cy="1032510"/>
          </a:xfrm>
          <a:prstGeom prst="rect">
            <a:avLst/>
          </a:prstGeom>
        </p:spPr>
        <p:txBody>
          <a:bodyPr vert="horz" wrap="square" lIns="0" tIns="12700" rIns="0" bIns="0" rtlCol="0">
            <a:spAutoFit/>
          </a:bodyPr>
          <a:lstStyle/>
          <a:p>
            <a:pPr marL="12700" marR="5080" algn="just">
              <a:lnSpc>
                <a:spcPct val="142000"/>
              </a:lnSpc>
              <a:spcBef>
                <a:spcPts val="100"/>
              </a:spcBef>
            </a:pPr>
            <a:r>
              <a:rPr sz="1550" spc="-10" dirty="0">
                <a:latin typeface="Times New Roman"/>
                <a:cs typeface="Times New Roman"/>
              </a:rPr>
              <a:t>(22471A05O1) (22471A05P0) (22471A05P3)</a:t>
            </a:r>
            <a:endParaRPr sz="1550">
              <a:latin typeface="Times New Roman"/>
              <a:cs typeface="Times New Roman"/>
            </a:endParaRPr>
          </a:p>
        </p:txBody>
      </p:sp>
      <p:sp>
        <p:nvSpPr>
          <p:cNvPr id="11" name="object 11"/>
          <p:cNvSpPr txBox="1"/>
          <p:nvPr/>
        </p:nvSpPr>
        <p:spPr>
          <a:xfrm>
            <a:off x="4277359" y="3669233"/>
            <a:ext cx="4132579" cy="2209165"/>
          </a:xfrm>
          <a:prstGeom prst="rect">
            <a:avLst/>
          </a:prstGeom>
        </p:spPr>
        <p:txBody>
          <a:bodyPr vert="horz" wrap="square" lIns="0" tIns="12700" rIns="0" bIns="0" rtlCol="0">
            <a:spAutoFit/>
          </a:bodyPr>
          <a:lstStyle/>
          <a:p>
            <a:pPr marL="2540" algn="ctr">
              <a:lnSpc>
                <a:spcPct val="100000"/>
              </a:lnSpc>
              <a:spcBef>
                <a:spcPts val="100"/>
              </a:spcBef>
            </a:pPr>
            <a:r>
              <a:rPr sz="1800" dirty="0">
                <a:solidFill>
                  <a:srgbClr val="006600"/>
                </a:solidFill>
                <a:latin typeface="Times New Roman"/>
                <a:cs typeface="Times New Roman"/>
              </a:rPr>
              <a:t>Under</a:t>
            </a:r>
            <a:r>
              <a:rPr sz="1800" spc="-15" dirty="0">
                <a:solidFill>
                  <a:srgbClr val="006600"/>
                </a:solidFill>
                <a:latin typeface="Times New Roman"/>
                <a:cs typeface="Times New Roman"/>
              </a:rPr>
              <a:t> </a:t>
            </a:r>
            <a:r>
              <a:rPr sz="1800" dirty="0">
                <a:solidFill>
                  <a:srgbClr val="006600"/>
                </a:solidFill>
                <a:latin typeface="Times New Roman"/>
                <a:cs typeface="Times New Roman"/>
              </a:rPr>
              <a:t>the</a:t>
            </a:r>
            <a:r>
              <a:rPr sz="1800" spc="-7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45" dirty="0">
                <a:solidFill>
                  <a:srgbClr val="006600"/>
                </a:solidFill>
                <a:latin typeface="Times New Roman"/>
                <a:cs typeface="Times New Roman"/>
              </a:rPr>
              <a:t> </a:t>
            </a:r>
            <a:r>
              <a:rPr sz="1800" spc="-25" dirty="0">
                <a:solidFill>
                  <a:srgbClr val="006600"/>
                </a:solidFill>
                <a:latin typeface="Times New Roman"/>
                <a:cs typeface="Times New Roman"/>
              </a:rPr>
              <a:t>of,</a:t>
            </a:r>
            <a:endParaRPr sz="1800">
              <a:latin typeface="Times New Roman"/>
              <a:cs typeface="Times New Roman"/>
            </a:endParaRPr>
          </a:p>
          <a:p>
            <a:pPr marL="635" algn="ctr">
              <a:lnSpc>
                <a:spcPct val="100000"/>
              </a:lnSpc>
              <a:spcBef>
                <a:spcPts val="1814"/>
              </a:spcBef>
            </a:pPr>
            <a:r>
              <a:rPr sz="1550" b="1" dirty="0">
                <a:latin typeface="Times New Roman"/>
                <a:cs typeface="Times New Roman"/>
              </a:rPr>
              <a:t>Shaik</a:t>
            </a:r>
            <a:r>
              <a:rPr sz="1550" b="1" spc="-15" dirty="0">
                <a:latin typeface="Times New Roman"/>
                <a:cs typeface="Times New Roman"/>
              </a:rPr>
              <a:t> </a:t>
            </a:r>
            <a:r>
              <a:rPr sz="1550" b="1" dirty="0">
                <a:latin typeface="Times New Roman"/>
                <a:cs typeface="Times New Roman"/>
              </a:rPr>
              <a:t>Khaja</a:t>
            </a:r>
            <a:r>
              <a:rPr sz="1550" b="1" spc="-40" dirty="0">
                <a:latin typeface="Times New Roman"/>
                <a:cs typeface="Times New Roman"/>
              </a:rPr>
              <a:t> </a:t>
            </a:r>
            <a:r>
              <a:rPr sz="1550" b="1" dirty="0">
                <a:latin typeface="Times New Roman"/>
                <a:cs typeface="Times New Roman"/>
              </a:rPr>
              <a:t>Mohiddin</a:t>
            </a:r>
            <a:r>
              <a:rPr sz="1550" b="1" spc="-40" dirty="0">
                <a:latin typeface="Times New Roman"/>
                <a:cs typeface="Times New Roman"/>
              </a:rPr>
              <a:t> </a:t>
            </a:r>
            <a:r>
              <a:rPr sz="1550" b="1" dirty="0">
                <a:latin typeface="Times New Roman"/>
                <a:cs typeface="Times New Roman"/>
              </a:rPr>
              <a:t>Basha</a:t>
            </a:r>
            <a:r>
              <a:rPr sz="1550" b="1" spc="-30" dirty="0">
                <a:latin typeface="Times New Roman"/>
                <a:cs typeface="Times New Roman"/>
              </a:rPr>
              <a:t> </a:t>
            </a:r>
            <a:r>
              <a:rPr sz="1200" b="1" spc="-10" dirty="0">
                <a:latin typeface="Times New Roman"/>
                <a:cs typeface="Times New Roman"/>
              </a:rPr>
              <a:t>M.Tech</a:t>
            </a:r>
            <a:r>
              <a:rPr sz="1550" b="1" spc="-10" dirty="0">
                <a:latin typeface="Times New Roman"/>
                <a:cs typeface="Times New Roman"/>
              </a:rPr>
              <a:t>,</a:t>
            </a:r>
            <a:endParaRPr sz="1550">
              <a:latin typeface="Times New Roman"/>
              <a:cs typeface="Times New Roman"/>
            </a:endParaRPr>
          </a:p>
          <a:p>
            <a:pPr marL="3175" algn="ctr">
              <a:lnSpc>
                <a:spcPct val="100000"/>
              </a:lnSpc>
              <a:spcBef>
                <a:spcPts val="515"/>
              </a:spcBef>
            </a:pPr>
            <a:r>
              <a:rPr sz="1550" spc="-10" dirty="0">
                <a:solidFill>
                  <a:srgbClr val="878787"/>
                </a:solidFill>
                <a:latin typeface="Times New Roman"/>
                <a:cs typeface="Times New Roman"/>
              </a:rPr>
              <a:t>Assistant</a:t>
            </a:r>
            <a:r>
              <a:rPr sz="1550" spc="-60" dirty="0">
                <a:solidFill>
                  <a:srgbClr val="878787"/>
                </a:solidFill>
                <a:latin typeface="Times New Roman"/>
                <a:cs typeface="Times New Roman"/>
              </a:rPr>
              <a:t> </a:t>
            </a:r>
            <a:r>
              <a:rPr sz="1550" spc="-10" dirty="0">
                <a:solidFill>
                  <a:srgbClr val="878787"/>
                </a:solidFill>
                <a:latin typeface="Times New Roman"/>
                <a:cs typeface="Times New Roman"/>
              </a:rPr>
              <a:t>Professor,</a:t>
            </a:r>
            <a:endParaRPr sz="1550">
              <a:latin typeface="Times New Roman"/>
              <a:cs typeface="Times New Roman"/>
            </a:endParaRPr>
          </a:p>
          <a:p>
            <a:pPr marL="12700" marR="5080" indent="2540" algn="ctr">
              <a:lnSpc>
                <a:spcPts val="2880"/>
              </a:lnSpc>
              <a:spcBef>
                <a:spcPts val="245"/>
              </a:spcBef>
            </a:pPr>
            <a:r>
              <a:rPr sz="1550" dirty="0">
                <a:solidFill>
                  <a:srgbClr val="878787"/>
                </a:solidFill>
                <a:latin typeface="Times New Roman"/>
                <a:cs typeface="Times New Roman"/>
              </a:rPr>
              <a:t>Department</a:t>
            </a:r>
            <a:r>
              <a:rPr sz="1550" spc="40" dirty="0">
                <a:solidFill>
                  <a:srgbClr val="878787"/>
                </a:solidFill>
                <a:latin typeface="Times New Roman"/>
                <a:cs typeface="Times New Roman"/>
              </a:rPr>
              <a:t> </a:t>
            </a:r>
            <a:r>
              <a:rPr sz="1550" dirty="0">
                <a:solidFill>
                  <a:srgbClr val="878787"/>
                </a:solidFill>
                <a:latin typeface="Times New Roman"/>
                <a:cs typeface="Times New Roman"/>
              </a:rPr>
              <a:t>of</a:t>
            </a:r>
            <a:r>
              <a:rPr sz="1550" spc="155" dirty="0">
                <a:solidFill>
                  <a:srgbClr val="878787"/>
                </a:solidFill>
                <a:latin typeface="Times New Roman"/>
                <a:cs typeface="Times New Roman"/>
              </a:rPr>
              <a:t> </a:t>
            </a:r>
            <a:r>
              <a:rPr sz="1550" dirty="0">
                <a:solidFill>
                  <a:srgbClr val="878787"/>
                </a:solidFill>
                <a:latin typeface="Times New Roman"/>
                <a:cs typeface="Times New Roman"/>
              </a:rPr>
              <a:t>Computer</a:t>
            </a:r>
            <a:r>
              <a:rPr sz="1550" spc="95" dirty="0">
                <a:solidFill>
                  <a:srgbClr val="878787"/>
                </a:solidFill>
                <a:latin typeface="Times New Roman"/>
                <a:cs typeface="Times New Roman"/>
              </a:rPr>
              <a:t> </a:t>
            </a:r>
            <a:r>
              <a:rPr sz="1550" dirty="0">
                <a:solidFill>
                  <a:srgbClr val="878787"/>
                </a:solidFill>
                <a:latin typeface="Times New Roman"/>
                <a:cs typeface="Times New Roman"/>
              </a:rPr>
              <a:t>Science</a:t>
            </a:r>
            <a:r>
              <a:rPr sz="1550" spc="65" dirty="0">
                <a:solidFill>
                  <a:srgbClr val="878787"/>
                </a:solidFill>
                <a:latin typeface="Times New Roman"/>
                <a:cs typeface="Times New Roman"/>
              </a:rPr>
              <a:t> </a:t>
            </a:r>
            <a:r>
              <a:rPr sz="1550" dirty="0">
                <a:solidFill>
                  <a:srgbClr val="878787"/>
                </a:solidFill>
                <a:latin typeface="Times New Roman"/>
                <a:cs typeface="Times New Roman"/>
              </a:rPr>
              <a:t>and</a:t>
            </a:r>
            <a:r>
              <a:rPr sz="1550" spc="95" dirty="0">
                <a:solidFill>
                  <a:srgbClr val="878787"/>
                </a:solidFill>
                <a:latin typeface="Times New Roman"/>
                <a:cs typeface="Times New Roman"/>
              </a:rPr>
              <a:t> </a:t>
            </a:r>
            <a:r>
              <a:rPr sz="1550" spc="-10" dirty="0">
                <a:solidFill>
                  <a:srgbClr val="878787"/>
                </a:solidFill>
                <a:latin typeface="Times New Roman"/>
                <a:cs typeface="Times New Roman"/>
              </a:rPr>
              <a:t>Engineering, </a:t>
            </a:r>
            <a:r>
              <a:rPr sz="1550" dirty="0">
                <a:solidFill>
                  <a:srgbClr val="878787"/>
                </a:solidFill>
                <a:latin typeface="Times New Roman"/>
                <a:cs typeface="Times New Roman"/>
              </a:rPr>
              <a:t>Narasaraopeta</a:t>
            </a:r>
            <a:r>
              <a:rPr sz="1550" spc="110" dirty="0">
                <a:solidFill>
                  <a:srgbClr val="878787"/>
                </a:solidFill>
                <a:latin typeface="Times New Roman"/>
                <a:cs typeface="Times New Roman"/>
              </a:rPr>
              <a:t> </a:t>
            </a:r>
            <a:r>
              <a:rPr sz="1550" dirty="0">
                <a:solidFill>
                  <a:srgbClr val="878787"/>
                </a:solidFill>
                <a:latin typeface="Times New Roman"/>
                <a:cs typeface="Times New Roman"/>
              </a:rPr>
              <a:t>Engineering</a:t>
            </a:r>
            <a:r>
              <a:rPr sz="1550" spc="100" dirty="0">
                <a:solidFill>
                  <a:srgbClr val="878787"/>
                </a:solidFill>
                <a:latin typeface="Times New Roman"/>
                <a:cs typeface="Times New Roman"/>
              </a:rPr>
              <a:t> </a:t>
            </a:r>
            <a:r>
              <a:rPr sz="1550" dirty="0">
                <a:solidFill>
                  <a:srgbClr val="878787"/>
                </a:solidFill>
                <a:latin typeface="Times New Roman"/>
                <a:cs typeface="Times New Roman"/>
              </a:rPr>
              <a:t>College</a:t>
            </a:r>
            <a:r>
              <a:rPr sz="1550" spc="220" dirty="0">
                <a:solidFill>
                  <a:srgbClr val="878787"/>
                </a:solidFill>
                <a:latin typeface="Times New Roman"/>
                <a:cs typeface="Times New Roman"/>
              </a:rPr>
              <a:t> </a:t>
            </a:r>
            <a:r>
              <a:rPr sz="1550" spc="-10" dirty="0">
                <a:solidFill>
                  <a:srgbClr val="878787"/>
                </a:solidFill>
                <a:latin typeface="Times New Roman"/>
                <a:cs typeface="Times New Roman"/>
              </a:rPr>
              <a:t>(Autonomous),</a:t>
            </a:r>
            <a:endParaRPr sz="1550">
              <a:latin typeface="Times New Roman"/>
              <a:cs typeface="Times New Roman"/>
            </a:endParaRPr>
          </a:p>
          <a:p>
            <a:pPr algn="ctr">
              <a:lnSpc>
                <a:spcPct val="100000"/>
              </a:lnSpc>
              <a:spcBef>
                <a:spcPts val="1115"/>
              </a:spcBef>
            </a:pPr>
            <a:r>
              <a:rPr sz="1550" dirty="0">
                <a:solidFill>
                  <a:srgbClr val="878787"/>
                </a:solidFill>
                <a:latin typeface="Times New Roman"/>
                <a:cs typeface="Times New Roman"/>
              </a:rPr>
              <a:t>Narasaraopet-</a:t>
            </a:r>
            <a:r>
              <a:rPr sz="1550" spc="90" dirty="0">
                <a:solidFill>
                  <a:srgbClr val="878787"/>
                </a:solidFill>
                <a:latin typeface="Times New Roman"/>
                <a:cs typeface="Times New Roman"/>
              </a:rPr>
              <a:t> </a:t>
            </a:r>
            <a:r>
              <a:rPr sz="1550" dirty="0">
                <a:solidFill>
                  <a:srgbClr val="878787"/>
                </a:solidFill>
                <a:latin typeface="Times New Roman"/>
                <a:cs typeface="Times New Roman"/>
              </a:rPr>
              <a:t>522</a:t>
            </a:r>
            <a:r>
              <a:rPr sz="1550" spc="120" dirty="0">
                <a:solidFill>
                  <a:srgbClr val="878787"/>
                </a:solidFill>
                <a:latin typeface="Times New Roman"/>
                <a:cs typeface="Times New Roman"/>
              </a:rPr>
              <a:t> </a:t>
            </a:r>
            <a:r>
              <a:rPr sz="1550" spc="-20" dirty="0">
                <a:solidFill>
                  <a:srgbClr val="878787"/>
                </a:solidFill>
                <a:latin typeface="Times New Roman"/>
                <a:cs typeface="Times New Roman"/>
              </a:rPr>
              <a:t>601.</a:t>
            </a:r>
            <a:endParaRPr sz="1550">
              <a:latin typeface="Times New Roman"/>
              <a:cs typeface="Times New Roman"/>
            </a:endParaRPr>
          </a:p>
        </p:txBody>
      </p:sp>
      <p:pic>
        <p:nvPicPr>
          <p:cNvPr id="12" name="object 12"/>
          <p:cNvPicPr/>
          <p:nvPr/>
        </p:nvPicPr>
        <p:blipFill>
          <a:blip r:embed="rId4" cstate="print"/>
          <a:stretch>
            <a:fillRect/>
          </a:stretch>
        </p:blipFill>
        <p:spPr>
          <a:xfrm>
            <a:off x="228600" y="143255"/>
            <a:ext cx="3648455" cy="505968"/>
          </a:xfrm>
          <a:prstGeom prst="rect">
            <a:avLst/>
          </a:prstGeom>
        </p:spPr>
      </p:pic>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24765">
              <a:lnSpc>
                <a:spcPts val="1410"/>
              </a:lnSpc>
            </a:pPr>
            <a:r>
              <a:rPr spc="-25" dirty="0"/>
              <a:t>11/11/2025</a:t>
            </a: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15" name="object 15"/>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890" y="515569"/>
            <a:ext cx="2598420" cy="695325"/>
          </a:xfrm>
          <a:prstGeom prst="rect">
            <a:avLst/>
          </a:prstGeom>
        </p:spPr>
        <p:txBody>
          <a:bodyPr vert="horz" wrap="square" lIns="0" tIns="12065" rIns="0" bIns="0" rtlCol="0">
            <a:spAutoFit/>
          </a:bodyPr>
          <a:lstStyle/>
          <a:p>
            <a:pPr marL="12700">
              <a:lnSpc>
                <a:spcPct val="100000"/>
              </a:lnSpc>
              <a:spcBef>
                <a:spcPts val="95"/>
              </a:spcBef>
            </a:pPr>
            <a:r>
              <a:rPr spc="-10" dirty="0"/>
              <a:t>OUTLINE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4765">
              <a:lnSpc>
                <a:spcPts val="1410"/>
              </a:lnSpc>
            </a:pPr>
            <a:r>
              <a:rPr spc="-25"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50" dirty="0"/>
              <a:t>2</a:t>
            </a:fld>
            <a:endParaRPr spc="-50" dirty="0"/>
          </a:p>
        </p:txBody>
      </p:sp>
      <p:sp>
        <p:nvSpPr>
          <p:cNvPr id="3" name="object 3"/>
          <p:cNvSpPr txBox="1"/>
          <p:nvPr/>
        </p:nvSpPr>
        <p:spPr>
          <a:xfrm>
            <a:off x="917244" y="1163566"/>
            <a:ext cx="3434715" cy="4492625"/>
          </a:xfrm>
          <a:prstGeom prst="rect">
            <a:avLst/>
          </a:prstGeom>
        </p:spPr>
        <p:txBody>
          <a:bodyPr vert="horz" wrap="square" lIns="0" tIns="64135" rIns="0" bIns="0" rtlCol="0">
            <a:spAutoFit/>
          </a:bodyPr>
          <a:lstStyle/>
          <a:p>
            <a:pPr marL="527685" indent="-514984">
              <a:lnSpc>
                <a:spcPct val="100000"/>
              </a:lnSpc>
              <a:spcBef>
                <a:spcPts val="505"/>
              </a:spcBef>
              <a:buAutoNum type="arabicPeriod"/>
              <a:tabLst>
                <a:tab pos="527685" algn="l"/>
              </a:tabLst>
            </a:pPr>
            <a:r>
              <a:rPr sz="1800" spc="-10" dirty="0">
                <a:latin typeface="Times New Roman"/>
                <a:cs typeface="Times New Roman"/>
              </a:rPr>
              <a:t>Abstract</a:t>
            </a:r>
            <a:endParaRPr sz="1800">
              <a:latin typeface="Times New Roman"/>
              <a:cs typeface="Times New Roman"/>
            </a:endParaRPr>
          </a:p>
          <a:p>
            <a:pPr marL="527685" indent="-514984">
              <a:lnSpc>
                <a:spcPct val="100000"/>
              </a:lnSpc>
              <a:spcBef>
                <a:spcPts val="405"/>
              </a:spcBef>
              <a:buAutoNum type="arabicPeriod"/>
              <a:tabLst>
                <a:tab pos="527685" algn="l"/>
              </a:tabLst>
            </a:pPr>
            <a:r>
              <a:rPr sz="1800" spc="-10" dirty="0">
                <a:latin typeface="Times New Roman"/>
                <a:cs typeface="Times New Roman"/>
              </a:rPr>
              <a:t>Introduction</a:t>
            </a:r>
            <a:endParaRPr sz="1800">
              <a:latin typeface="Times New Roman"/>
              <a:cs typeface="Times New Roman"/>
            </a:endParaRPr>
          </a:p>
          <a:p>
            <a:pPr marL="527685" indent="-514984">
              <a:lnSpc>
                <a:spcPct val="100000"/>
              </a:lnSpc>
              <a:spcBef>
                <a:spcPts val="315"/>
              </a:spcBef>
              <a:buAutoNum type="arabicPeriod"/>
              <a:tabLst>
                <a:tab pos="527685" algn="l"/>
              </a:tabLst>
            </a:pPr>
            <a:r>
              <a:rPr sz="1800" dirty="0">
                <a:latin typeface="Times New Roman"/>
                <a:cs typeface="Times New Roman"/>
              </a:rPr>
              <a:t>Literature</a:t>
            </a:r>
            <a:r>
              <a:rPr sz="1800" spc="-70" dirty="0">
                <a:latin typeface="Times New Roman"/>
                <a:cs typeface="Times New Roman"/>
              </a:rPr>
              <a:t> </a:t>
            </a:r>
            <a:r>
              <a:rPr sz="1800" spc="-10" dirty="0">
                <a:latin typeface="Times New Roman"/>
                <a:cs typeface="Times New Roman"/>
              </a:rPr>
              <a:t>Survey</a:t>
            </a:r>
            <a:endParaRPr sz="1800">
              <a:latin typeface="Times New Roman"/>
              <a:cs typeface="Times New Roman"/>
            </a:endParaRPr>
          </a:p>
          <a:p>
            <a:pPr marL="527685" indent="-514984">
              <a:lnSpc>
                <a:spcPct val="100000"/>
              </a:lnSpc>
              <a:spcBef>
                <a:spcPts val="385"/>
              </a:spcBef>
              <a:buAutoNum type="arabicPeriod"/>
              <a:tabLst>
                <a:tab pos="527685" algn="l"/>
              </a:tabLst>
            </a:pPr>
            <a:r>
              <a:rPr sz="1800" dirty="0">
                <a:latin typeface="Times New Roman"/>
                <a:cs typeface="Times New Roman"/>
              </a:rPr>
              <a:t>Research</a:t>
            </a:r>
            <a:r>
              <a:rPr sz="1800" spc="-70" dirty="0">
                <a:latin typeface="Times New Roman"/>
                <a:cs typeface="Times New Roman"/>
              </a:rPr>
              <a:t> </a:t>
            </a:r>
            <a:r>
              <a:rPr sz="1800" spc="-20" dirty="0">
                <a:latin typeface="Times New Roman"/>
                <a:cs typeface="Times New Roman"/>
              </a:rPr>
              <a:t>Gaps</a:t>
            </a:r>
            <a:endParaRPr sz="1800">
              <a:latin typeface="Times New Roman"/>
              <a:cs typeface="Times New Roman"/>
            </a:endParaRPr>
          </a:p>
          <a:p>
            <a:pPr marL="527685" indent="-514984">
              <a:lnSpc>
                <a:spcPct val="100000"/>
              </a:lnSpc>
              <a:spcBef>
                <a:spcPts val="315"/>
              </a:spcBef>
              <a:buAutoNum type="arabicPeriod"/>
              <a:tabLst>
                <a:tab pos="527685" algn="l"/>
              </a:tabLst>
            </a:pPr>
            <a:r>
              <a:rPr sz="1800" dirty="0">
                <a:latin typeface="Times New Roman"/>
                <a:cs typeface="Times New Roman"/>
              </a:rPr>
              <a:t>Problem</a:t>
            </a:r>
            <a:r>
              <a:rPr sz="1800" spc="-100" dirty="0">
                <a:latin typeface="Times New Roman"/>
                <a:cs typeface="Times New Roman"/>
              </a:rPr>
              <a:t> </a:t>
            </a:r>
            <a:r>
              <a:rPr sz="1800" spc="-10" dirty="0">
                <a:latin typeface="Times New Roman"/>
                <a:cs typeface="Times New Roman"/>
              </a:rPr>
              <a:t>Statement</a:t>
            </a:r>
            <a:endParaRPr sz="1800">
              <a:latin typeface="Times New Roman"/>
              <a:cs typeface="Times New Roman"/>
            </a:endParaRPr>
          </a:p>
          <a:p>
            <a:pPr marL="527685" indent="-514984">
              <a:lnSpc>
                <a:spcPct val="100000"/>
              </a:lnSpc>
              <a:spcBef>
                <a:spcPts val="385"/>
              </a:spcBef>
              <a:buAutoNum type="arabicPeriod"/>
              <a:tabLst>
                <a:tab pos="527685" algn="l"/>
              </a:tabLst>
            </a:pPr>
            <a:r>
              <a:rPr sz="1800" spc="-10" dirty="0">
                <a:latin typeface="Times New Roman"/>
                <a:cs typeface="Times New Roman"/>
              </a:rPr>
              <a:t>Objectives</a:t>
            </a:r>
            <a:endParaRPr sz="1800">
              <a:latin typeface="Times New Roman"/>
              <a:cs typeface="Times New Roman"/>
            </a:endParaRPr>
          </a:p>
          <a:p>
            <a:pPr marL="527685" indent="-514984">
              <a:lnSpc>
                <a:spcPct val="100000"/>
              </a:lnSpc>
              <a:spcBef>
                <a:spcPts val="315"/>
              </a:spcBef>
              <a:buAutoNum type="arabicPeriod"/>
              <a:tabLst>
                <a:tab pos="527685" algn="l"/>
              </a:tabLst>
            </a:pPr>
            <a:r>
              <a:rPr sz="1800" dirty="0">
                <a:latin typeface="Times New Roman"/>
                <a:cs typeface="Times New Roman"/>
              </a:rPr>
              <a:t>Block</a:t>
            </a:r>
            <a:r>
              <a:rPr sz="1800" spc="-10" dirty="0">
                <a:latin typeface="Times New Roman"/>
                <a:cs typeface="Times New Roman"/>
              </a:rPr>
              <a:t> Diagram</a:t>
            </a:r>
            <a:r>
              <a:rPr sz="1800" spc="-5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Flow</a:t>
            </a:r>
            <a:r>
              <a:rPr sz="1800" spc="-55" dirty="0">
                <a:latin typeface="Times New Roman"/>
                <a:cs typeface="Times New Roman"/>
              </a:rPr>
              <a:t> </a:t>
            </a:r>
            <a:r>
              <a:rPr sz="1800" spc="-10" dirty="0">
                <a:latin typeface="Times New Roman"/>
                <a:cs typeface="Times New Roman"/>
              </a:rPr>
              <a:t>Diagram</a:t>
            </a:r>
            <a:endParaRPr sz="1800">
              <a:latin typeface="Times New Roman"/>
              <a:cs typeface="Times New Roman"/>
            </a:endParaRPr>
          </a:p>
          <a:p>
            <a:pPr marL="527685" indent="-514984">
              <a:lnSpc>
                <a:spcPct val="100000"/>
              </a:lnSpc>
              <a:spcBef>
                <a:spcPts val="405"/>
              </a:spcBef>
              <a:buAutoNum type="arabicPeriod"/>
              <a:tabLst>
                <a:tab pos="527685" algn="l"/>
              </a:tabLst>
            </a:pPr>
            <a:r>
              <a:rPr sz="1800" spc="-10" dirty="0">
                <a:latin typeface="Times New Roman"/>
                <a:cs typeface="Times New Roman"/>
              </a:rPr>
              <a:t>Methodology</a:t>
            </a:r>
            <a:endParaRPr sz="1800">
              <a:latin typeface="Times New Roman"/>
              <a:cs typeface="Times New Roman"/>
            </a:endParaRPr>
          </a:p>
          <a:p>
            <a:pPr marL="527685" indent="-514984">
              <a:lnSpc>
                <a:spcPct val="100000"/>
              </a:lnSpc>
              <a:spcBef>
                <a:spcPts val="290"/>
              </a:spcBef>
              <a:buAutoNum type="arabicPeriod"/>
              <a:tabLst>
                <a:tab pos="527685" algn="l"/>
              </a:tabLst>
            </a:pPr>
            <a:r>
              <a:rPr sz="1800" spc="-10" dirty="0">
                <a:latin typeface="Times New Roman"/>
                <a:cs typeface="Times New Roman"/>
              </a:rPr>
              <a:t>Implementation</a:t>
            </a:r>
            <a:endParaRPr sz="1800">
              <a:latin typeface="Times New Roman"/>
              <a:cs typeface="Times New Roman"/>
            </a:endParaRPr>
          </a:p>
          <a:p>
            <a:pPr marL="527685" indent="-514984">
              <a:lnSpc>
                <a:spcPct val="100000"/>
              </a:lnSpc>
              <a:spcBef>
                <a:spcPts val="409"/>
              </a:spcBef>
              <a:buAutoNum type="arabicPeriod"/>
              <a:tabLst>
                <a:tab pos="527685" algn="l"/>
              </a:tabLst>
            </a:pPr>
            <a:r>
              <a:rPr sz="1800" dirty="0">
                <a:latin typeface="Times New Roman"/>
                <a:cs typeface="Times New Roman"/>
              </a:rPr>
              <a:t>Results </a:t>
            </a:r>
            <a:r>
              <a:rPr sz="1800" spc="-20" dirty="0">
                <a:latin typeface="Times New Roman"/>
                <a:cs typeface="Times New Roman"/>
              </a:rPr>
              <a:t>and</a:t>
            </a:r>
            <a:r>
              <a:rPr sz="1800" spc="-105" dirty="0">
                <a:latin typeface="Times New Roman"/>
                <a:cs typeface="Times New Roman"/>
              </a:rPr>
              <a:t> </a:t>
            </a:r>
            <a:r>
              <a:rPr sz="1800" spc="-10" dirty="0">
                <a:latin typeface="Times New Roman"/>
                <a:cs typeface="Times New Roman"/>
              </a:rPr>
              <a:t>Analysis</a:t>
            </a:r>
            <a:endParaRPr sz="1800">
              <a:latin typeface="Times New Roman"/>
              <a:cs typeface="Times New Roman"/>
            </a:endParaRPr>
          </a:p>
          <a:p>
            <a:pPr marL="527685" indent="-514984">
              <a:lnSpc>
                <a:spcPct val="100000"/>
              </a:lnSpc>
              <a:spcBef>
                <a:spcPts val="290"/>
              </a:spcBef>
              <a:buAutoNum type="arabicPeriod"/>
              <a:tabLst>
                <a:tab pos="527685" algn="l"/>
              </a:tabLst>
            </a:pPr>
            <a:r>
              <a:rPr sz="1800" dirty="0">
                <a:latin typeface="Times New Roman"/>
                <a:cs typeface="Times New Roman"/>
              </a:rPr>
              <a:t>Conclusion</a:t>
            </a:r>
            <a:r>
              <a:rPr sz="1800" spc="-40" dirty="0">
                <a:latin typeface="Times New Roman"/>
                <a:cs typeface="Times New Roman"/>
              </a:rPr>
              <a:t> </a:t>
            </a:r>
            <a:r>
              <a:rPr sz="1800" dirty="0">
                <a:latin typeface="Times New Roman"/>
                <a:cs typeface="Times New Roman"/>
              </a:rPr>
              <a:t>&amp;</a:t>
            </a:r>
            <a:r>
              <a:rPr sz="1800" spc="-20" dirty="0">
                <a:latin typeface="Times New Roman"/>
                <a:cs typeface="Times New Roman"/>
              </a:rPr>
              <a:t> </a:t>
            </a:r>
            <a:r>
              <a:rPr sz="1800" dirty="0">
                <a:latin typeface="Times New Roman"/>
                <a:cs typeface="Times New Roman"/>
              </a:rPr>
              <a:t>Future</a:t>
            </a:r>
            <a:r>
              <a:rPr sz="1800" spc="-20" dirty="0">
                <a:latin typeface="Times New Roman"/>
                <a:cs typeface="Times New Roman"/>
              </a:rPr>
              <a:t> Scope</a:t>
            </a:r>
            <a:endParaRPr sz="1800">
              <a:latin typeface="Times New Roman"/>
              <a:cs typeface="Times New Roman"/>
            </a:endParaRPr>
          </a:p>
          <a:p>
            <a:pPr marL="527685" indent="-514984">
              <a:lnSpc>
                <a:spcPct val="100000"/>
              </a:lnSpc>
              <a:spcBef>
                <a:spcPts val="409"/>
              </a:spcBef>
              <a:buAutoNum type="arabicPeriod"/>
              <a:tabLst>
                <a:tab pos="527685" algn="l"/>
              </a:tabLst>
            </a:pPr>
            <a:r>
              <a:rPr sz="1800" spc="-10" dirty="0">
                <a:latin typeface="Times New Roman"/>
                <a:cs typeface="Times New Roman"/>
              </a:rPr>
              <a:t>References</a:t>
            </a:r>
            <a:endParaRPr sz="1800">
              <a:latin typeface="Times New Roman"/>
              <a:cs typeface="Times New Roman"/>
            </a:endParaRPr>
          </a:p>
          <a:p>
            <a:pPr marL="527685" indent="-514984">
              <a:lnSpc>
                <a:spcPct val="100000"/>
              </a:lnSpc>
              <a:spcBef>
                <a:spcPts val="290"/>
              </a:spcBef>
              <a:buAutoNum type="arabicPeriod"/>
              <a:tabLst>
                <a:tab pos="527685" algn="l"/>
              </a:tabLst>
            </a:pPr>
            <a:r>
              <a:rPr sz="1800" spc="-10" dirty="0">
                <a:latin typeface="Times New Roman"/>
                <a:cs typeface="Times New Roman"/>
              </a:rPr>
              <a:t>Acknowledgements</a:t>
            </a:r>
            <a:endParaRPr sz="1800">
              <a:latin typeface="Times New Roman"/>
              <a:cs typeface="Times New Roman"/>
            </a:endParaRPr>
          </a:p>
          <a:p>
            <a:pPr marL="527685" indent="-514984">
              <a:lnSpc>
                <a:spcPct val="100000"/>
              </a:lnSpc>
              <a:spcBef>
                <a:spcPts val="310"/>
              </a:spcBef>
              <a:buAutoNum type="arabicPeriod"/>
              <a:tabLst>
                <a:tab pos="527685" algn="l"/>
              </a:tabLst>
            </a:pPr>
            <a:r>
              <a:rPr sz="1800" dirty="0">
                <a:latin typeface="Times New Roman"/>
                <a:cs typeface="Times New Roman"/>
              </a:rPr>
              <a:t>Question </a:t>
            </a:r>
            <a:r>
              <a:rPr sz="1800" spc="-25" dirty="0">
                <a:latin typeface="Times New Roman"/>
                <a:cs typeface="Times New Roman"/>
              </a:rPr>
              <a:t>and</a:t>
            </a:r>
            <a:r>
              <a:rPr sz="1800" spc="-95" dirty="0">
                <a:latin typeface="Times New Roman"/>
                <a:cs typeface="Times New Roman"/>
              </a:rPr>
              <a:t> </a:t>
            </a:r>
            <a:r>
              <a:rPr sz="1800" spc="-10" dirty="0">
                <a:latin typeface="Times New Roman"/>
                <a:cs typeface="Times New Roman"/>
              </a:rPr>
              <a:t>Answers</a:t>
            </a:r>
            <a:endParaRPr sz="1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3357245">
              <a:lnSpc>
                <a:spcPct val="100000"/>
              </a:lnSpc>
              <a:spcBef>
                <a:spcPts val="95"/>
              </a:spcBef>
            </a:pPr>
            <a:r>
              <a:rPr spc="-10" dirty="0"/>
              <a:t>ABSTRACT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4765">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885825" cy="194310"/>
          </a:xfrm>
          <a:prstGeom prst="rect">
            <a:avLst/>
          </a:prstGeom>
        </p:spPr>
        <p:txBody>
          <a:bodyPr vert="horz" wrap="square" lIns="0" tIns="0" rIns="0" bIns="0" rtlCol="0">
            <a:spAutoFit/>
          </a:bodyPr>
          <a:lstStyle/>
          <a:p>
            <a:pPr marL="12700">
              <a:lnSpc>
                <a:spcPts val="1410"/>
              </a:lnSpc>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endParaRPr sz="1200">
              <a:latin typeface="Times New Roman"/>
              <a:cs typeface="Times New Roman"/>
            </a:endParaRPr>
          </a:p>
        </p:txBody>
      </p:sp>
      <p:sp>
        <p:nvSpPr>
          <p:cNvPr id="7" name="object 7"/>
          <p:cNvSpPr txBox="1"/>
          <p:nvPr/>
        </p:nvSpPr>
        <p:spPr>
          <a:xfrm>
            <a:off x="6544182" y="6448890"/>
            <a:ext cx="1212850" cy="194310"/>
          </a:xfrm>
          <a:prstGeom prst="rect">
            <a:avLst/>
          </a:prstGeom>
        </p:spPr>
        <p:txBody>
          <a:bodyPr vert="horz" wrap="square" lIns="0" tIns="0" rIns="0" bIns="0" rtlCol="0">
            <a:spAutoFit/>
          </a:bodyPr>
          <a:lstStyle/>
          <a:p>
            <a:pPr marL="12700">
              <a:lnSpc>
                <a:spcPts val="1410"/>
              </a:lnSpc>
            </a:pP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50" dirty="0"/>
              <a:t>3</a:t>
            </a:fld>
            <a:endParaRPr spc="-50" dirty="0"/>
          </a:p>
        </p:txBody>
      </p:sp>
      <p:sp>
        <p:nvSpPr>
          <p:cNvPr id="3" name="object 3"/>
          <p:cNvSpPr txBox="1"/>
          <p:nvPr/>
        </p:nvSpPr>
        <p:spPr>
          <a:xfrm>
            <a:off x="1066800" y="1371600"/>
            <a:ext cx="10470515" cy="4445448"/>
          </a:xfrm>
          <a:prstGeom prst="rect">
            <a:avLst/>
          </a:prstGeom>
        </p:spPr>
        <p:txBody>
          <a:bodyPr vert="horz" wrap="square" lIns="0" tIns="13335" rIns="0" bIns="0" rtlCol="0">
            <a:spAutoFit/>
          </a:bodyPr>
          <a:lstStyle/>
          <a:p>
            <a:pPr marL="12700" algn="just">
              <a:lnSpc>
                <a:spcPct val="100000"/>
              </a:lnSpc>
              <a:spcBef>
                <a:spcPts val="105"/>
              </a:spcBef>
              <a:tabLst>
                <a:tab pos="356870" algn="l"/>
              </a:tabLst>
            </a:pPr>
            <a:r>
              <a:rPr lang="en-US" sz="2400" dirty="0">
                <a:latin typeface="Times New Roman" panose="02020603050405020304" pitchFamily="18" charset="0"/>
                <a:cs typeface="Times New Roman" panose="02020603050405020304" pitchFamily="18" charset="0"/>
              </a:rPr>
              <a:t>Social media platforms like Twitter are widely used for communication and information sharing; however, the rise of automated bot accounts causes issues like misinformation and spam. This project introduces a Hybrid BERT and Metadata Deep Learning Model to detect Twitter bots, where BERT extracts textual features from tweets while an MLP analyzes metadata such as user activity, followers, and profile details. The model is trained on the TwiBot-20 dataset for robust and diverse user representation, and experimental results show improved accuracy, precision, recall, and F1-score compared to traditional models. The hybrid architecture effectively combines contextual language understanding with behavioral patterns, enabling more accurate discrimination between human and automated accounts. Overall, the proposed system enhances security and reliability on social media platforms by reducing the impact of malicious bot networks on public discourse.</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3740" y="444830"/>
            <a:ext cx="4485640" cy="695325"/>
          </a:xfrm>
          <a:prstGeom prst="rect">
            <a:avLst/>
          </a:prstGeom>
        </p:spPr>
        <p:txBody>
          <a:bodyPr vert="horz" wrap="square" lIns="0" tIns="12065" rIns="0" bIns="0" rtlCol="0">
            <a:spAutoFit/>
          </a:bodyPr>
          <a:lstStyle/>
          <a:p>
            <a:pPr marL="12700">
              <a:lnSpc>
                <a:spcPct val="100000"/>
              </a:lnSpc>
              <a:spcBef>
                <a:spcPts val="95"/>
              </a:spcBef>
            </a:pPr>
            <a:r>
              <a:rPr spc="-10" dirty="0"/>
              <a:t>INTRODUCTION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4</a:t>
            </a:fld>
            <a:endParaRPr spc="-25" dirty="0"/>
          </a:p>
        </p:txBody>
      </p:sp>
      <p:sp>
        <p:nvSpPr>
          <p:cNvPr id="3" name="object 3"/>
          <p:cNvSpPr txBox="1"/>
          <p:nvPr/>
        </p:nvSpPr>
        <p:spPr>
          <a:xfrm>
            <a:off x="650849" y="1220546"/>
            <a:ext cx="11003915" cy="5058410"/>
          </a:xfrm>
          <a:prstGeom prst="rect">
            <a:avLst/>
          </a:prstGeom>
        </p:spPr>
        <p:txBody>
          <a:bodyPr vert="horz" wrap="square" lIns="0" tIns="13970" rIns="0" bIns="0" rtlCol="0">
            <a:spAutoFit/>
          </a:bodyPr>
          <a:lstStyle/>
          <a:p>
            <a:pPr marL="12700">
              <a:lnSpc>
                <a:spcPct val="100000"/>
              </a:lnSpc>
              <a:spcBef>
                <a:spcPts val="110"/>
              </a:spcBef>
            </a:pPr>
            <a:r>
              <a:rPr sz="2200" b="1" dirty="0">
                <a:latin typeface="Times New Roman"/>
                <a:cs typeface="Times New Roman"/>
              </a:rPr>
              <a:t>Brief</a:t>
            </a:r>
            <a:r>
              <a:rPr sz="2200" b="1" spc="-50" dirty="0">
                <a:latin typeface="Times New Roman"/>
                <a:cs typeface="Times New Roman"/>
              </a:rPr>
              <a:t> </a:t>
            </a:r>
            <a:r>
              <a:rPr sz="2200" b="1" dirty="0">
                <a:latin typeface="Times New Roman"/>
                <a:cs typeface="Times New Roman"/>
              </a:rPr>
              <a:t>Introduction</a:t>
            </a:r>
            <a:r>
              <a:rPr sz="2200" b="1" spc="-40" dirty="0">
                <a:latin typeface="Times New Roman"/>
                <a:cs typeface="Times New Roman"/>
              </a:rPr>
              <a:t> </a:t>
            </a:r>
            <a:r>
              <a:rPr sz="2200" b="1" dirty="0">
                <a:latin typeface="Times New Roman"/>
                <a:cs typeface="Times New Roman"/>
              </a:rPr>
              <a:t>to</a:t>
            </a:r>
            <a:r>
              <a:rPr sz="2200" b="1" spc="-20" dirty="0">
                <a:latin typeface="Times New Roman"/>
                <a:cs typeface="Times New Roman"/>
              </a:rPr>
              <a:t> </a:t>
            </a:r>
            <a:r>
              <a:rPr sz="2200" b="1" dirty="0">
                <a:latin typeface="Times New Roman"/>
                <a:cs typeface="Times New Roman"/>
              </a:rPr>
              <a:t>the</a:t>
            </a:r>
            <a:r>
              <a:rPr sz="2200" b="1" spc="5" dirty="0">
                <a:latin typeface="Times New Roman"/>
                <a:cs typeface="Times New Roman"/>
              </a:rPr>
              <a:t> </a:t>
            </a:r>
            <a:r>
              <a:rPr sz="2200" b="1" spc="-10" dirty="0">
                <a:latin typeface="Times New Roman"/>
                <a:cs typeface="Times New Roman"/>
              </a:rPr>
              <a:t>Project</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Twitter</a:t>
            </a:r>
            <a:r>
              <a:rPr sz="2200" spc="-50" dirty="0">
                <a:latin typeface="Times New Roman"/>
                <a:cs typeface="Times New Roman"/>
              </a:rPr>
              <a:t> </a:t>
            </a:r>
            <a:r>
              <a:rPr sz="2200" dirty="0">
                <a:latin typeface="Times New Roman"/>
                <a:cs typeface="Times New Roman"/>
              </a:rPr>
              <a:t>has</a:t>
            </a:r>
            <a:r>
              <a:rPr sz="2200" spc="-15" dirty="0">
                <a:latin typeface="Times New Roman"/>
                <a:cs typeface="Times New Roman"/>
              </a:rPr>
              <a:t> </a:t>
            </a:r>
            <a:r>
              <a:rPr sz="2200" dirty="0">
                <a:latin typeface="Times New Roman"/>
                <a:cs typeface="Times New Roman"/>
              </a:rPr>
              <a:t>become</a:t>
            </a:r>
            <a:r>
              <a:rPr sz="2200" spc="10" dirty="0">
                <a:latin typeface="Times New Roman"/>
                <a:cs typeface="Times New Roman"/>
              </a:rPr>
              <a:t> </a:t>
            </a:r>
            <a:r>
              <a:rPr sz="2200" dirty="0">
                <a:latin typeface="Times New Roman"/>
                <a:cs typeface="Times New Roman"/>
              </a:rPr>
              <a:t>a</a:t>
            </a:r>
            <a:r>
              <a:rPr sz="2200" spc="-20" dirty="0">
                <a:latin typeface="Times New Roman"/>
                <a:cs typeface="Times New Roman"/>
              </a:rPr>
              <a:t> </a:t>
            </a:r>
            <a:r>
              <a:rPr sz="2200" dirty="0">
                <a:latin typeface="Times New Roman"/>
                <a:cs typeface="Times New Roman"/>
              </a:rPr>
              <a:t>major</a:t>
            </a:r>
            <a:r>
              <a:rPr sz="2200" spc="-10" dirty="0">
                <a:latin typeface="Times New Roman"/>
                <a:cs typeface="Times New Roman"/>
              </a:rPr>
              <a:t> </a:t>
            </a:r>
            <a:r>
              <a:rPr sz="2200" dirty="0">
                <a:latin typeface="Times New Roman"/>
                <a:cs typeface="Times New Roman"/>
              </a:rPr>
              <a:t>platform</a:t>
            </a:r>
            <a:r>
              <a:rPr sz="2200" spc="-50" dirty="0">
                <a:latin typeface="Times New Roman"/>
                <a:cs typeface="Times New Roman"/>
              </a:rPr>
              <a:t> </a:t>
            </a:r>
            <a:r>
              <a:rPr sz="2200" dirty="0">
                <a:latin typeface="Times New Roman"/>
                <a:cs typeface="Times New Roman"/>
              </a:rPr>
              <a:t>for</a:t>
            </a:r>
            <a:r>
              <a:rPr sz="2200" spc="10" dirty="0">
                <a:latin typeface="Times New Roman"/>
                <a:cs typeface="Times New Roman"/>
              </a:rPr>
              <a:t> </a:t>
            </a:r>
            <a:r>
              <a:rPr sz="2200" dirty="0">
                <a:latin typeface="Times New Roman"/>
                <a:cs typeface="Times New Roman"/>
              </a:rPr>
              <a:t>sharing</a:t>
            </a:r>
            <a:r>
              <a:rPr sz="2200" spc="-65" dirty="0">
                <a:latin typeface="Times New Roman"/>
                <a:cs typeface="Times New Roman"/>
              </a:rPr>
              <a:t> </a:t>
            </a:r>
            <a:r>
              <a:rPr sz="2200" dirty="0">
                <a:latin typeface="Times New Roman"/>
                <a:cs typeface="Times New Roman"/>
              </a:rPr>
              <a:t>opinions,</a:t>
            </a:r>
            <a:r>
              <a:rPr sz="2200" spc="-60" dirty="0">
                <a:latin typeface="Times New Roman"/>
                <a:cs typeface="Times New Roman"/>
              </a:rPr>
              <a:t> </a:t>
            </a:r>
            <a:r>
              <a:rPr sz="2200" dirty="0">
                <a:latin typeface="Times New Roman"/>
                <a:cs typeface="Times New Roman"/>
              </a:rPr>
              <a:t>news,</a:t>
            </a:r>
            <a:r>
              <a:rPr sz="2200" spc="-20" dirty="0">
                <a:latin typeface="Times New Roman"/>
                <a:cs typeface="Times New Roman"/>
              </a:rPr>
              <a:t> </a:t>
            </a:r>
            <a:r>
              <a:rPr sz="2200" dirty="0">
                <a:latin typeface="Times New Roman"/>
                <a:cs typeface="Times New Roman"/>
              </a:rPr>
              <a:t>and</a:t>
            </a:r>
            <a:r>
              <a:rPr sz="2200" spc="-20" dirty="0">
                <a:latin typeface="Times New Roman"/>
                <a:cs typeface="Times New Roman"/>
              </a:rPr>
              <a:t> </a:t>
            </a:r>
            <a:r>
              <a:rPr sz="2200" spc="-10" dirty="0">
                <a:latin typeface="Times New Roman"/>
                <a:cs typeface="Times New Roman"/>
              </a:rPr>
              <a:t>information.</a:t>
            </a:r>
            <a:endParaRPr sz="2200" dirty="0">
              <a:latin typeface="Times New Roman"/>
              <a:cs typeface="Times New Roman"/>
            </a:endParaRPr>
          </a:p>
          <a:p>
            <a:pPr marL="469265" indent="-456565">
              <a:lnSpc>
                <a:spcPct val="100000"/>
              </a:lnSpc>
              <a:buFont typeface="Arial MT"/>
              <a:buChar char="•"/>
              <a:tabLst>
                <a:tab pos="469265" algn="l"/>
                <a:tab pos="1728470" algn="l"/>
                <a:tab pos="2237740" algn="l"/>
                <a:tab pos="3380740" algn="l"/>
                <a:tab pos="3777615" algn="l"/>
                <a:tab pos="5219700" algn="l"/>
                <a:tab pos="5774055" algn="l"/>
                <a:tab pos="6978650" algn="l"/>
                <a:tab pos="7515225" algn="l"/>
                <a:tab pos="8488045" algn="l"/>
                <a:tab pos="9316720" algn="l"/>
                <a:tab pos="9902190" algn="l"/>
              </a:tabLst>
            </a:pPr>
            <a:r>
              <a:rPr sz="2200" spc="-10" dirty="0">
                <a:latin typeface="Times New Roman"/>
                <a:cs typeface="Times New Roman"/>
              </a:rPr>
              <a:t>However,</a:t>
            </a:r>
            <a:r>
              <a:rPr sz="2200" dirty="0">
                <a:latin typeface="Times New Roman"/>
                <a:cs typeface="Times New Roman"/>
              </a:rPr>
              <a:t>	</a:t>
            </a:r>
            <a:r>
              <a:rPr sz="2200" spc="-25" dirty="0">
                <a:latin typeface="Times New Roman"/>
                <a:cs typeface="Times New Roman"/>
              </a:rPr>
              <a:t>the</a:t>
            </a:r>
            <a:r>
              <a:rPr sz="2200" dirty="0">
                <a:latin typeface="Times New Roman"/>
                <a:cs typeface="Times New Roman"/>
              </a:rPr>
              <a:t>	</a:t>
            </a:r>
            <a:r>
              <a:rPr sz="2200" spc="-10" dirty="0">
                <a:latin typeface="Times New Roman"/>
                <a:cs typeface="Times New Roman"/>
              </a:rPr>
              <a:t>presence</a:t>
            </a:r>
            <a:r>
              <a:rPr sz="2200" dirty="0">
                <a:latin typeface="Times New Roman"/>
                <a:cs typeface="Times New Roman"/>
              </a:rPr>
              <a:t>	</a:t>
            </a:r>
            <a:r>
              <a:rPr sz="2200" spc="-25" dirty="0">
                <a:latin typeface="Times New Roman"/>
                <a:cs typeface="Times New Roman"/>
              </a:rPr>
              <a:t>of</a:t>
            </a:r>
            <a:r>
              <a:rPr sz="2200" dirty="0">
                <a:latin typeface="Times New Roman"/>
                <a:cs typeface="Times New Roman"/>
              </a:rPr>
              <a:t>	</a:t>
            </a:r>
            <a:r>
              <a:rPr sz="2200" b="1" spc="-10" dirty="0">
                <a:latin typeface="Times New Roman"/>
                <a:cs typeface="Times New Roman"/>
              </a:rPr>
              <a:t>automated</a:t>
            </a:r>
            <a:r>
              <a:rPr sz="2200" b="1" dirty="0">
                <a:latin typeface="Times New Roman"/>
                <a:cs typeface="Times New Roman"/>
              </a:rPr>
              <a:t>	</a:t>
            </a:r>
            <a:r>
              <a:rPr sz="2200" b="1" spc="-25" dirty="0">
                <a:latin typeface="Times New Roman"/>
                <a:cs typeface="Times New Roman"/>
              </a:rPr>
              <a:t>bot</a:t>
            </a:r>
            <a:r>
              <a:rPr sz="2200" b="1" dirty="0">
                <a:latin typeface="Times New Roman"/>
                <a:cs typeface="Times New Roman"/>
              </a:rPr>
              <a:t>	</a:t>
            </a:r>
            <a:r>
              <a:rPr sz="2200" b="1" spc="-10" dirty="0">
                <a:latin typeface="Times New Roman"/>
                <a:cs typeface="Times New Roman"/>
              </a:rPr>
              <a:t>accounts</a:t>
            </a:r>
            <a:r>
              <a:rPr sz="2200" b="1" dirty="0">
                <a:latin typeface="Times New Roman"/>
                <a:cs typeface="Times New Roman"/>
              </a:rPr>
              <a:t>	</a:t>
            </a:r>
            <a:r>
              <a:rPr sz="2200" spc="-25" dirty="0">
                <a:latin typeface="Times New Roman"/>
                <a:cs typeface="Times New Roman"/>
              </a:rPr>
              <a:t>has</a:t>
            </a:r>
            <a:r>
              <a:rPr sz="2200" dirty="0">
                <a:latin typeface="Times New Roman"/>
                <a:cs typeface="Times New Roman"/>
              </a:rPr>
              <a:t>	</a:t>
            </a:r>
            <a:r>
              <a:rPr sz="2200" spc="-10" dirty="0">
                <a:latin typeface="Times New Roman"/>
                <a:cs typeface="Times New Roman"/>
              </a:rPr>
              <a:t>created</a:t>
            </a:r>
            <a:r>
              <a:rPr sz="2200" dirty="0">
                <a:latin typeface="Times New Roman"/>
                <a:cs typeface="Times New Roman"/>
              </a:rPr>
              <a:t>	</a:t>
            </a:r>
            <a:r>
              <a:rPr sz="2200" spc="-10" dirty="0">
                <a:latin typeface="Times New Roman"/>
                <a:cs typeface="Times New Roman"/>
              </a:rPr>
              <a:t>issues</a:t>
            </a:r>
            <a:r>
              <a:rPr sz="2200" dirty="0">
                <a:latin typeface="Times New Roman"/>
                <a:cs typeface="Times New Roman"/>
              </a:rPr>
              <a:t>	</a:t>
            </a:r>
            <a:r>
              <a:rPr sz="2200" spc="-20" dirty="0">
                <a:latin typeface="Times New Roman"/>
                <a:cs typeface="Times New Roman"/>
              </a:rPr>
              <a:t>like</a:t>
            </a:r>
            <a:r>
              <a:rPr sz="2200" dirty="0">
                <a:latin typeface="Times New Roman"/>
                <a:cs typeface="Times New Roman"/>
              </a:rPr>
              <a:t>	</a:t>
            </a:r>
            <a:r>
              <a:rPr sz="2200" spc="-10" dirty="0">
                <a:latin typeface="Times New Roman"/>
                <a:cs typeface="Times New Roman"/>
              </a:rPr>
              <a:t>spreading</a:t>
            </a:r>
            <a:endParaRPr sz="2200" dirty="0">
              <a:latin typeface="Times New Roman"/>
              <a:cs typeface="Times New Roman"/>
            </a:endParaRPr>
          </a:p>
          <a:p>
            <a:pPr marL="469900">
              <a:lnSpc>
                <a:spcPct val="100000"/>
              </a:lnSpc>
              <a:spcBef>
                <a:spcPts val="5"/>
              </a:spcBef>
            </a:pPr>
            <a:r>
              <a:rPr sz="2200" dirty="0">
                <a:latin typeface="Times New Roman"/>
                <a:cs typeface="Times New Roman"/>
              </a:rPr>
              <a:t>misinformation</a:t>
            </a:r>
            <a:r>
              <a:rPr sz="2200" spc="-30" dirty="0">
                <a:latin typeface="Times New Roman"/>
                <a:cs typeface="Times New Roman"/>
              </a:rPr>
              <a:t> </a:t>
            </a:r>
            <a:r>
              <a:rPr sz="2200" dirty="0">
                <a:latin typeface="Times New Roman"/>
                <a:cs typeface="Times New Roman"/>
              </a:rPr>
              <a:t>and</a:t>
            </a:r>
            <a:r>
              <a:rPr sz="2200" spc="-45" dirty="0">
                <a:latin typeface="Times New Roman"/>
                <a:cs typeface="Times New Roman"/>
              </a:rPr>
              <a:t> </a:t>
            </a:r>
            <a:r>
              <a:rPr sz="2200" dirty="0">
                <a:latin typeface="Times New Roman"/>
                <a:cs typeface="Times New Roman"/>
              </a:rPr>
              <a:t>fake</a:t>
            </a:r>
            <a:r>
              <a:rPr sz="2200" spc="-40" dirty="0">
                <a:latin typeface="Times New Roman"/>
                <a:cs typeface="Times New Roman"/>
              </a:rPr>
              <a:t> </a:t>
            </a:r>
            <a:r>
              <a:rPr sz="2200" spc="-10" dirty="0">
                <a:latin typeface="Times New Roman"/>
                <a:cs typeface="Times New Roman"/>
              </a:rPr>
              <a:t>engagement.</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Detecting</a:t>
            </a:r>
            <a:r>
              <a:rPr sz="2200" spc="385" dirty="0">
                <a:latin typeface="Times New Roman"/>
                <a:cs typeface="Times New Roman"/>
              </a:rPr>
              <a:t> </a:t>
            </a:r>
            <a:r>
              <a:rPr sz="2200" dirty="0">
                <a:latin typeface="Times New Roman"/>
                <a:cs typeface="Times New Roman"/>
              </a:rPr>
              <a:t>these</a:t>
            </a:r>
            <a:r>
              <a:rPr sz="2200" spc="395" dirty="0">
                <a:latin typeface="Times New Roman"/>
                <a:cs typeface="Times New Roman"/>
              </a:rPr>
              <a:t> </a:t>
            </a:r>
            <a:r>
              <a:rPr sz="2200" dirty="0">
                <a:latin typeface="Times New Roman"/>
                <a:cs typeface="Times New Roman"/>
              </a:rPr>
              <a:t>bots</a:t>
            </a:r>
            <a:r>
              <a:rPr sz="2200" spc="385" dirty="0">
                <a:latin typeface="Times New Roman"/>
                <a:cs typeface="Times New Roman"/>
              </a:rPr>
              <a:t> </a:t>
            </a:r>
            <a:r>
              <a:rPr sz="2200" dirty="0">
                <a:latin typeface="Times New Roman"/>
                <a:cs typeface="Times New Roman"/>
              </a:rPr>
              <a:t>accurately</a:t>
            </a:r>
            <a:r>
              <a:rPr sz="2200" spc="390" dirty="0">
                <a:latin typeface="Times New Roman"/>
                <a:cs typeface="Times New Roman"/>
              </a:rPr>
              <a:t> </a:t>
            </a:r>
            <a:r>
              <a:rPr sz="2200" dirty="0">
                <a:latin typeface="Times New Roman"/>
                <a:cs typeface="Times New Roman"/>
              </a:rPr>
              <a:t>is</a:t>
            </a:r>
            <a:r>
              <a:rPr sz="2200" spc="385" dirty="0">
                <a:latin typeface="Times New Roman"/>
                <a:cs typeface="Times New Roman"/>
              </a:rPr>
              <a:t> </a:t>
            </a:r>
            <a:r>
              <a:rPr sz="2200" dirty="0">
                <a:latin typeface="Times New Roman"/>
                <a:cs typeface="Times New Roman"/>
              </a:rPr>
              <a:t>crucial</a:t>
            </a:r>
            <a:r>
              <a:rPr sz="2200" spc="395" dirty="0">
                <a:latin typeface="Times New Roman"/>
                <a:cs typeface="Times New Roman"/>
              </a:rPr>
              <a:t> </a:t>
            </a:r>
            <a:r>
              <a:rPr sz="2200" dirty="0">
                <a:latin typeface="Times New Roman"/>
                <a:cs typeface="Times New Roman"/>
              </a:rPr>
              <a:t>for</a:t>
            </a:r>
            <a:r>
              <a:rPr sz="2200" spc="390" dirty="0">
                <a:latin typeface="Times New Roman"/>
                <a:cs typeface="Times New Roman"/>
              </a:rPr>
              <a:t> </a:t>
            </a:r>
            <a:r>
              <a:rPr sz="2200" dirty="0">
                <a:latin typeface="Times New Roman"/>
                <a:cs typeface="Times New Roman"/>
              </a:rPr>
              <a:t>maintaining</a:t>
            </a:r>
            <a:r>
              <a:rPr sz="2200" spc="385" dirty="0">
                <a:latin typeface="Times New Roman"/>
                <a:cs typeface="Times New Roman"/>
              </a:rPr>
              <a:t> </a:t>
            </a:r>
            <a:r>
              <a:rPr sz="2200" dirty="0">
                <a:latin typeface="Times New Roman"/>
                <a:cs typeface="Times New Roman"/>
              </a:rPr>
              <a:t>trust</a:t>
            </a:r>
            <a:r>
              <a:rPr sz="2200" spc="390" dirty="0">
                <a:latin typeface="Times New Roman"/>
                <a:cs typeface="Times New Roman"/>
              </a:rPr>
              <a:t> </a:t>
            </a:r>
            <a:r>
              <a:rPr sz="2200" dirty="0">
                <a:latin typeface="Times New Roman"/>
                <a:cs typeface="Times New Roman"/>
              </a:rPr>
              <a:t>and</a:t>
            </a:r>
            <a:r>
              <a:rPr sz="2200" spc="385" dirty="0">
                <a:latin typeface="Times New Roman"/>
                <a:cs typeface="Times New Roman"/>
              </a:rPr>
              <a:t> </a:t>
            </a:r>
            <a:r>
              <a:rPr sz="2200" dirty="0">
                <a:latin typeface="Times New Roman"/>
                <a:cs typeface="Times New Roman"/>
              </a:rPr>
              <a:t>authenticity</a:t>
            </a:r>
            <a:r>
              <a:rPr sz="2200" spc="395" dirty="0">
                <a:latin typeface="Times New Roman"/>
                <a:cs typeface="Times New Roman"/>
              </a:rPr>
              <a:t> </a:t>
            </a:r>
            <a:r>
              <a:rPr sz="2200" dirty="0">
                <a:latin typeface="Times New Roman"/>
                <a:cs typeface="Times New Roman"/>
              </a:rPr>
              <a:t>on</a:t>
            </a:r>
            <a:r>
              <a:rPr sz="2200" spc="400" dirty="0">
                <a:latin typeface="Times New Roman"/>
                <a:cs typeface="Times New Roman"/>
              </a:rPr>
              <a:t> </a:t>
            </a:r>
            <a:r>
              <a:rPr sz="2200" spc="-10" dirty="0">
                <a:latin typeface="Times New Roman"/>
                <a:cs typeface="Times New Roman"/>
              </a:rPr>
              <a:t>social</a:t>
            </a:r>
            <a:endParaRPr sz="2200" dirty="0">
              <a:latin typeface="Times New Roman"/>
              <a:cs typeface="Times New Roman"/>
            </a:endParaRPr>
          </a:p>
          <a:p>
            <a:pPr marL="469900">
              <a:lnSpc>
                <a:spcPct val="100000"/>
              </a:lnSpc>
            </a:pPr>
            <a:r>
              <a:rPr sz="2200" spc="-10" dirty="0">
                <a:latin typeface="Times New Roman"/>
                <a:cs typeface="Times New Roman"/>
              </a:rPr>
              <a:t>platforms.</a:t>
            </a:r>
            <a:endParaRPr sz="2200" dirty="0">
              <a:latin typeface="Times New Roman"/>
              <a:cs typeface="Times New Roman"/>
            </a:endParaRPr>
          </a:p>
          <a:p>
            <a:pPr marL="12700">
              <a:lnSpc>
                <a:spcPct val="100000"/>
              </a:lnSpc>
            </a:pPr>
            <a:r>
              <a:rPr sz="2200" b="1" dirty="0">
                <a:latin typeface="Times New Roman"/>
                <a:cs typeface="Times New Roman"/>
              </a:rPr>
              <a:t>Motivation</a:t>
            </a:r>
            <a:r>
              <a:rPr sz="2200" b="1" spc="-65" dirty="0">
                <a:latin typeface="Times New Roman"/>
                <a:cs typeface="Times New Roman"/>
              </a:rPr>
              <a:t> </a:t>
            </a:r>
            <a:r>
              <a:rPr sz="2200" b="1" dirty="0">
                <a:latin typeface="Times New Roman"/>
                <a:cs typeface="Times New Roman"/>
              </a:rPr>
              <a:t>Behind</a:t>
            </a:r>
            <a:r>
              <a:rPr sz="2200" b="1" spc="-40" dirty="0">
                <a:latin typeface="Times New Roman"/>
                <a:cs typeface="Times New Roman"/>
              </a:rPr>
              <a:t> </a:t>
            </a:r>
            <a:r>
              <a:rPr sz="2200" b="1" dirty="0">
                <a:latin typeface="Times New Roman"/>
                <a:cs typeface="Times New Roman"/>
              </a:rPr>
              <a:t>the</a:t>
            </a:r>
            <a:r>
              <a:rPr sz="2200" b="1" spc="10" dirty="0">
                <a:latin typeface="Times New Roman"/>
                <a:cs typeface="Times New Roman"/>
              </a:rPr>
              <a:t> </a:t>
            </a:r>
            <a:r>
              <a:rPr sz="2200" b="1" spc="-10" dirty="0">
                <a:latin typeface="Times New Roman"/>
                <a:cs typeface="Times New Roman"/>
              </a:rPr>
              <a:t>Project</a:t>
            </a:r>
            <a:endParaRPr sz="2200" dirty="0">
              <a:latin typeface="Times New Roman"/>
              <a:cs typeface="Times New Roman"/>
            </a:endParaRPr>
          </a:p>
          <a:p>
            <a:pPr marL="469265" indent="-456565">
              <a:lnSpc>
                <a:spcPct val="100000"/>
              </a:lnSpc>
              <a:spcBef>
                <a:spcPts val="5"/>
              </a:spcBef>
              <a:buFont typeface="Arial MT"/>
              <a:buChar char="•"/>
              <a:tabLst>
                <a:tab pos="469265" algn="l"/>
              </a:tabLst>
            </a:pPr>
            <a:r>
              <a:rPr sz="2200" dirty="0">
                <a:latin typeface="Times New Roman"/>
                <a:cs typeface="Times New Roman"/>
              </a:rPr>
              <a:t>Traditional</a:t>
            </a:r>
            <a:r>
              <a:rPr sz="2200" spc="-60" dirty="0">
                <a:latin typeface="Times New Roman"/>
                <a:cs typeface="Times New Roman"/>
              </a:rPr>
              <a:t> </a:t>
            </a:r>
            <a:r>
              <a:rPr sz="2200" dirty="0">
                <a:latin typeface="Times New Roman"/>
                <a:cs typeface="Times New Roman"/>
              </a:rPr>
              <a:t>machine</a:t>
            </a:r>
            <a:r>
              <a:rPr sz="2200" spc="-15" dirty="0">
                <a:latin typeface="Times New Roman"/>
                <a:cs typeface="Times New Roman"/>
              </a:rPr>
              <a:t> </a:t>
            </a:r>
            <a:r>
              <a:rPr sz="2200" dirty="0">
                <a:latin typeface="Times New Roman"/>
                <a:cs typeface="Times New Roman"/>
              </a:rPr>
              <a:t>learning</a:t>
            </a:r>
            <a:r>
              <a:rPr sz="2200" spc="-40" dirty="0">
                <a:latin typeface="Times New Roman"/>
                <a:cs typeface="Times New Roman"/>
              </a:rPr>
              <a:t> </a:t>
            </a:r>
            <a:r>
              <a:rPr sz="2200" dirty="0">
                <a:latin typeface="Times New Roman"/>
                <a:cs typeface="Times New Roman"/>
              </a:rPr>
              <a:t>methods</a:t>
            </a:r>
            <a:r>
              <a:rPr sz="2200" spc="-20" dirty="0">
                <a:latin typeface="Times New Roman"/>
                <a:cs typeface="Times New Roman"/>
              </a:rPr>
              <a:t> </a:t>
            </a:r>
            <a:r>
              <a:rPr sz="2200" dirty="0">
                <a:latin typeface="Times New Roman"/>
                <a:cs typeface="Times New Roman"/>
              </a:rPr>
              <a:t>rely</a:t>
            </a:r>
            <a:r>
              <a:rPr sz="2200" spc="-50" dirty="0">
                <a:latin typeface="Times New Roman"/>
                <a:cs typeface="Times New Roman"/>
              </a:rPr>
              <a:t> </a:t>
            </a:r>
            <a:r>
              <a:rPr sz="2200" dirty="0">
                <a:latin typeface="Times New Roman"/>
                <a:cs typeface="Times New Roman"/>
              </a:rPr>
              <a:t>on</a:t>
            </a:r>
            <a:r>
              <a:rPr sz="2200" spc="-5" dirty="0">
                <a:latin typeface="Times New Roman"/>
                <a:cs typeface="Times New Roman"/>
              </a:rPr>
              <a:t> </a:t>
            </a:r>
            <a:r>
              <a:rPr sz="2200" dirty="0">
                <a:latin typeface="Times New Roman"/>
                <a:cs typeface="Times New Roman"/>
              </a:rPr>
              <a:t>limited</a:t>
            </a:r>
            <a:r>
              <a:rPr sz="2200" spc="-20" dirty="0">
                <a:latin typeface="Times New Roman"/>
                <a:cs typeface="Times New Roman"/>
              </a:rPr>
              <a:t> </a:t>
            </a:r>
            <a:r>
              <a:rPr sz="2200" dirty="0">
                <a:latin typeface="Times New Roman"/>
                <a:cs typeface="Times New Roman"/>
              </a:rPr>
              <a:t>textual</a:t>
            </a:r>
            <a:r>
              <a:rPr sz="2200" spc="-55" dirty="0">
                <a:latin typeface="Times New Roman"/>
                <a:cs typeface="Times New Roman"/>
              </a:rPr>
              <a:t> </a:t>
            </a:r>
            <a:r>
              <a:rPr sz="2200" dirty="0">
                <a:latin typeface="Times New Roman"/>
                <a:cs typeface="Times New Roman"/>
              </a:rPr>
              <a:t>or</a:t>
            </a:r>
            <a:r>
              <a:rPr sz="2200" spc="5" dirty="0">
                <a:latin typeface="Times New Roman"/>
                <a:cs typeface="Times New Roman"/>
              </a:rPr>
              <a:t> </a:t>
            </a:r>
            <a:r>
              <a:rPr sz="2200" dirty="0">
                <a:latin typeface="Times New Roman"/>
                <a:cs typeface="Times New Roman"/>
              </a:rPr>
              <a:t>user</a:t>
            </a:r>
            <a:r>
              <a:rPr sz="2200" spc="-45" dirty="0">
                <a:latin typeface="Times New Roman"/>
                <a:cs typeface="Times New Roman"/>
              </a:rPr>
              <a:t> </a:t>
            </a:r>
            <a:r>
              <a:rPr sz="2200" spc="-10" dirty="0">
                <a:latin typeface="Times New Roman"/>
                <a:cs typeface="Times New Roman"/>
              </a:rPr>
              <a:t>features.</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They</a:t>
            </a:r>
            <a:r>
              <a:rPr sz="2200" spc="-45" dirty="0">
                <a:latin typeface="Times New Roman"/>
                <a:cs typeface="Times New Roman"/>
              </a:rPr>
              <a:t> </a:t>
            </a:r>
            <a:r>
              <a:rPr sz="2200" dirty="0">
                <a:latin typeface="Times New Roman"/>
                <a:cs typeface="Times New Roman"/>
              </a:rPr>
              <a:t>fail</a:t>
            </a:r>
            <a:r>
              <a:rPr sz="2200" spc="-5" dirty="0">
                <a:latin typeface="Times New Roman"/>
                <a:cs typeface="Times New Roman"/>
              </a:rPr>
              <a:t> </a:t>
            </a:r>
            <a:r>
              <a:rPr sz="2200" dirty="0">
                <a:latin typeface="Times New Roman"/>
                <a:cs typeface="Times New Roman"/>
              </a:rPr>
              <a:t>to</a:t>
            </a:r>
            <a:r>
              <a:rPr sz="2200" spc="-20" dirty="0">
                <a:latin typeface="Times New Roman"/>
                <a:cs typeface="Times New Roman"/>
              </a:rPr>
              <a:t> </a:t>
            </a:r>
            <a:r>
              <a:rPr sz="2200" dirty="0">
                <a:latin typeface="Times New Roman"/>
                <a:cs typeface="Times New Roman"/>
              </a:rPr>
              <a:t>capture</a:t>
            </a:r>
            <a:r>
              <a:rPr sz="2200" spc="-30" dirty="0">
                <a:latin typeface="Times New Roman"/>
                <a:cs typeface="Times New Roman"/>
              </a:rPr>
              <a:t> </a:t>
            </a:r>
            <a:r>
              <a:rPr sz="2200" dirty="0">
                <a:latin typeface="Times New Roman"/>
                <a:cs typeface="Times New Roman"/>
              </a:rPr>
              <a:t>the</a:t>
            </a:r>
            <a:r>
              <a:rPr sz="2200" spc="-15" dirty="0">
                <a:latin typeface="Times New Roman"/>
                <a:cs typeface="Times New Roman"/>
              </a:rPr>
              <a:t> </a:t>
            </a:r>
            <a:r>
              <a:rPr sz="2200" b="1" dirty="0">
                <a:latin typeface="Times New Roman"/>
                <a:cs typeface="Times New Roman"/>
              </a:rPr>
              <a:t>contextual</a:t>
            </a:r>
            <a:r>
              <a:rPr sz="2200" b="1" spc="-35" dirty="0">
                <a:latin typeface="Times New Roman"/>
                <a:cs typeface="Times New Roman"/>
              </a:rPr>
              <a:t> </a:t>
            </a:r>
            <a:r>
              <a:rPr sz="2200" b="1" dirty="0">
                <a:latin typeface="Times New Roman"/>
                <a:cs typeface="Times New Roman"/>
              </a:rPr>
              <a:t>meaning</a:t>
            </a:r>
            <a:r>
              <a:rPr sz="2200" b="1" spc="-15" dirty="0">
                <a:latin typeface="Times New Roman"/>
                <a:cs typeface="Times New Roman"/>
              </a:rPr>
              <a:t> </a:t>
            </a:r>
            <a:r>
              <a:rPr sz="2200" b="1" dirty="0">
                <a:latin typeface="Times New Roman"/>
                <a:cs typeface="Times New Roman"/>
              </a:rPr>
              <a:t>of</a:t>
            </a:r>
            <a:r>
              <a:rPr sz="2200" b="1" spc="-10" dirty="0">
                <a:latin typeface="Times New Roman"/>
                <a:cs typeface="Times New Roman"/>
              </a:rPr>
              <a:t> </a:t>
            </a:r>
            <a:r>
              <a:rPr sz="2200" b="1" dirty="0">
                <a:latin typeface="Times New Roman"/>
                <a:cs typeface="Times New Roman"/>
              </a:rPr>
              <a:t>tweets</a:t>
            </a:r>
            <a:r>
              <a:rPr sz="2200" b="1" spc="-85"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b="1" dirty="0">
                <a:latin typeface="Times New Roman"/>
                <a:cs typeface="Times New Roman"/>
              </a:rPr>
              <a:t>behavioral</a:t>
            </a:r>
            <a:r>
              <a:rPr sz="2200" b="1" spc="-70" dirty="0">
                <a:latin typeface="Times New Roman"/>
                <a:cs typeface="Times New Roman"/>
              </a:rPr>
              <a:t> </a:t>
            </a:r>
            <a:r>
              <a:rPr sz="2200" b="1" dirty="0">
                <a:latin typeface="Times New Roman"/>
                <a:cs typeface="Times New Roman"/>
              </a:rPr>
              <a:t>patterns</a:t>
            </a:r>
            <a:r>
              <a:rPr sz="2200" b="1" spc="-35" dirty="0">
                <a:latin typeface="Times New Roman"/>
                <a:cs typeface="Times New Roman"/>
              </a:rPr>
              <a:t> </a:t>
            </a:r>
            <a:r>
              <a:rPr sz="2200" dirty="0">
                <a:latin typeface="Times New Roman"/>
                <a:cs typeface="Times New Roman"/>
              </a:rPr>
              <a:t>of</a:t>
            </a:r>
            <a:r>
              <a:rPr sz="2200" spc="10" dirty="0">
                <a:latin typeface="Times New Roman"/>
                <a:cs typeface="Times New Roman"/>
              </a:rPr>
              <a:t> </a:t>
            </a:r>
            <a:r>
              <a:rPr sz="2200" spc="-10" dirty="0">
                <a:latin typeface="Times New Roman"/>
                <a:cs typeface="Times New Roman"/>
              </a:rPr>
              <a:t>users.</a:t>
            </a:r>
            <a:endParaRPr sz="2200" dirty="0">
              <a:latin typeface="Times New Roman"/>
              <a:cs typeface="Times New Roman"/>
            </a:endParaRPr>
          </a:p>
          <a:p>
            <a:pPr marL="469265" indent="-456565">
              <a:lnSpc>
                <a:spcPct val="100000"/>
              </a:lnSpc>
              <a:buFont typeface="Arial MT"/>
              <a:buChar char="•"/>
              <a:tabLst>
                <a:tab pos="469265" algn="l"/>
                <a:tab pos="1374775" algn="l"/>
                <a:tab pos="3085465" algn="l"/>
                <a:tab pos="4164329" algn="l"/>
                <a:tab pos="5396230" algn="l"/>
                <a:tab pos="7289800" algn="l"/>
                <a:tab pos="8395970" algn="l"/>
                <a:tab pos="8649335" algn="l"/>
                <a:tab pos="10661650" algn="l"/>
              </a:tabLst>
            </a:pPr>
            <a:r>
              <a:rPr sz="2200" spc="-10" dirty="0">
                <a:latin typeface="Times New Roman"/>
                <a:cs typeface="Times New Roman"/>
              </a:rPr>
              <a:t>Recent</a:t>
            </a:r>
            <a:r>
              <a:rPr sz="2200" dirty="0">
                <a:latin typeface="Times New Roman"/>
                <a:cs typeface="Times New Roman"/>
              </a:rPr>
              <a:t>	</a:t>
            </a:r>
            <a:r>
              <a:rPr sz="2200" spc="-10" dirty="0">
                <a:latin typeface="Times New Roman"/>
                <a:cs typeface="Times New Roman"/>
              </a:rPr>
              <a:t>advancements</a:t>
            </a:r>
            <a:r>
              <a:rPr sz="2200" dirty="0">
                <a:latin typeface="Times New Roman"/>
                <a:cs typeface="Times New Roman"/>
              </a:rPr>
              <a:t>	in</a:t>
            </a:r>
            <a:r>
              <a:rPr sz="2200" spc="440" dirty="0">
                <a:latin typeface="Times New Roman"/>
                <a:cs typeface="Times New Roman"/>
              </a:rPr>
              <a:t> </a:t>
            </a:r>
            <a:r>
              <a:rPr sz="2200" b="1" spc="-20" dirty="0">
                <a:latin typeface="Times New Roman"/>
                <a:cs typeface="Times New Roman"/>
              </a:rPr>
              <a:t>Deep</a:t>
            </a:r>
            <a:r>
              <a:rPr sz="2200" b="1" dirty="0">
                <a:latin typeface="Times New Roman"/>
                <a:cs typeface="Times New Roman"/>
              </a:rPr>
              <a:t>	</a:t>
            </a:r>
            <a:r>
              <a:rPr sz="2200" b="1" spc="-10" dirty="0">
                <a:latin typeface="Times New Roman"/>
                <a:cs typeface="Times New Roman"/>
              </a:rPr>
              <a:t>Learning</a:t>
            </a:r>
            <a:r>
              <a:rPr sz="2200" b="1" dirty="0">
                <a:latin typeface="Times New Roman"/>
                <a:cs typeface="Times New Roman"/>
              </a:rPr>
              <a:t>	(BERT,</a:t>
            </a:r>
            <a:r>
              <a:rPr sz="2200" b="1" spc="380" dirty="0">
                <a:latin typeface="Times New Roman"/>
                <a:cs typeface="Times New Roman"/>
              </a:rPr>
              <a:t> </a:t>
            </a:r>
            <a:r>
              <a:rPr sz="2200" b="1" spc="-20" dirty="0">
                <a:latin typeface="Times New Roman"/>
                <a:cs typeface="Times New Roman"/>
              </a:rPr>
              <a:t>MLP)</a:t>
            </a:r>
            <a:r>
              <a:rPr sz="2200" b="1" dirty="0">
                <a:latin typeface="Times New Roman"/>
                <a:cs typeface="Times New Roman"/>
              </a:rPr>
              <a:t>	</a:t>
            </a:r>
            <a:r>
              <a:rPr sz="2200" spc="-10" dirty="0">
                <a:latin typeface="Times New Roman"/>
                <a:cs typeface="Times New Roman"/>
              </a:rPr>
              <a:t>motivate</a:t>
            </a:r>
            <a:r>
              <a:rPr sz="2200" dirty="0">
                <a:latin typeface="Times New Roman"/>
                <a:cs typeface="Times New Roman"/>
              </a:rPr>
              <a:t>	</a:t>
            </a:r>
            <a:r>
              <a:rPr sz="2200" spc="-50" dirty="0">
                <a:latin typeface="Times New Roman"/>
                <a:cs typeface="Times New Roman"/>
              </a:rPr>
              <a:t>a</a:t>
            </a:r>
            <a:r>
              <a:rPr sz="2200" dirty="0">
                <a:latin typeface="Times New Roman"/>
                <a:cs typeface="Times New Roman"/>
              </a:rPr>
              <a:t>	hybrid</a:t>
            </a:r>
            <a:r>
              <a:rPr sz="2200" spc="409" dirty="0">
                <a:latin typeface="Times New Roman"/>
                <a:cs typeface="Times New Roman"/>
              </a:rPr>
              <a:t> </a:t>
            </a:r>
            <a:r>
              <a:rPr sz="2200" spc="-10" dirty="0">
                <a:latin typeface="Times New Roman"/>
                <a:cs typeface="Times New Roman"/>
              </a:rPr>
              <a:t>approach</a:t>
            </a:r>
            <a:r>
              <a:rPr sz="2200" dirty="0">
                <a:latin typeface="Times New Roman"/>
                <a:cs typeface="Times New Roman"/>
              </a:rPr>
              <a:t>	</a:t>
            </a:r>
            <a:r>
              <a:rPr sz="2200" spc="-25" dirty="0">
                <a:latin typeface="Times New Roman"/>
                <a:cs typeface="Times New Roman"/>
              </a:rPr>
              <a:t>for</a:t>
            </a:r>
            <a:endParaRPr sz="2200" dirty="0">
              <a:latin typeface="Times New Roman"/>
              <a:cs typeface="Times New Roman"/>
            </a:endParaRPr>
          </a:p>
          <a:p>
            <a:pPr marL="469900">
              <a:lnSpc>
                <a:spcPct val="100000"/>
              </a:lnSpc>
            </a:pPr>
            <a:r>
              <a:rPr sz="2200" dirty="0">
                <a:latin typeface="Times New Roman"/>
                <a:cs typeface="Times New Roman"/>
              </a:rPr>
              <a:t>improved</a:t>
            </a:r>
            <a:r>
              <a:rPr sz="2200" spc="-15" dirty="0">
                <a:latin typeface="Times New Roman"/>
                <a:cs typeface="Times New Roman"/>
              </a:rPr>
              <a:t> </a:t>
            </a:r>
            <a:r>
              <a:rPr sz="2200" dirty="0">
                <a:latin typeface="Times New Roman"/>
                <a:cs typeface="Times New Roman"/>
              </a:rPr>
              <a:t>detection</a:t>
            </a:r>
            <a:r>
              <a:rPr sz="2200" spc="-85" dirty="0">
                <a:latin typeface="Times New Roman"/>
                <a:cs typeface="Times New Roman"/>
              </a:rPr>
              <a:t> </a:t>
            </a:r>
            <a:r>
              <a:rPr sz="2200" spc="-10" dirty="0">
                <a:latin typeface="Times New Roman"/>
                <a:cs typeface="Times New Roman"/>
              </a:rPr>
              <a:t>accuracy.</a:t>
            </a:r>
            <a:endParaRPr sz="2200" dirty="0">
              <a:latin typeface="Times New Roman"/>
              <a:cs typeface="Times New Roman"/>
            </a:endParaRPr>
          </a:p>
          <a:p>
            <a:pPr marL="12700">
              <a:lnSpc>
                <a:spcPct val="100000"/>
              </a:lnSpc>
              <a:spcBef>
                <a:spcPts val="5"/>
              </a:spcBef>
            </a:pPr>
            <a:r>
              <a:rPr sz="2200" b="1" dirty="0">
                <a:latin typeface="Times New Roman"/>
                <a:cs typeface="Times New Roman"/>
              </a:rPr>
              <a:t>Importance</a:t>
            </a:r>
            <a:r>
              <a:rPr sz="2200" b="1" spc="-55" dirty="0">
                <a:latin typeface="Times New Roman"/>
                <a:cs typeface="Times New Roman"/>
              </a:rPr>
              <a:t> </a:t>
            </a:r>
            <a:r>
              <a:rPr sz="2200" b="1" dirty="0">
                <a:latin typeface="Times New Roman"/>
                <a:cs typeface="Times New Roman"/>
              </a:rPr>
              <a:t>and </a:t>
            </a:r>
            <a:r>
              <a:rPr sz="2200" b="1" spc="-10" dirty="0">
                <a:latin typeface="Times New Roman"/>
                <a:cs typeface="Times New Roman"/>
              </a:rPr>
              <a:t>Relevance</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Helps</a:t>
            </a:r>
            <a:r>
              <a:rPr sz="2200" spc="-40" dirty="0">
                <a:latin typeface="Times New Roman"/>
                <a:cs typeface="Times New Roman"/>
              </a:rPr>
              <a:t> </a:t>
            </a:r>
            <a:r>
              <a:rPr sz="2200" dirty="0">
                <a:latin typeface="Times New Roman"/>
                <a:cs typeface="Times New Roman"/>
              </a:rPr>
              <a:t>in </a:t>
            </a:r>
            <a:r>
              <a:rPr sz="2200" b="1" dirty="0">
                <a:latin typeface="Times New Roman"/>
                <a:cs typeface="Times New Roman"/>
              </a:rPr>
              <a:t>preventing</a:t>
            </a:r>
            <a:r>
              <a:rPr sz="2200" b="1" spc="-50" dirty="0">
                <a:latin typeface="Times New Roman"/>
                <a:cs typeface="Times New Roman"/>
              </a:rPr>
              <a:t> </a:t>
            </a:r>
            <a:r>
              <a:rPr sz="2200" b="1" dirty="0">
                <a:latin typeface="Times New Roman"/>
                <a:cs typeface="Times New Roman"/>
              </a:rPr>
              <a:t>misinformation</a:t>
            </a:r>
            <a:r>
              <a:rPr sz="2200" b="1" spc="-65" dirty="0">
                <a:latin typeface="Times New Roman"/>
                <a:cs typeface="Times New Roman"/>
              </a:rPr>
              <a:t> </a:t>
            </a:r>
            <a:r>
              <a:rPr sz="2200" dirty="0">
                <a:latin typeface="Times New Roman"/>
                <a:cs typeface="Times New Roman"/>
              </a:rPr>
              <a:t>and</a:t>
            </a:r>
            <a:r>
              <a:rPr sz="2200" spc="-20" dirty="0">
                <a:latin typeface="Times New Roman"/>
                <a:cs typeface="Times New Roman"/>
              </a:rPr>
              <a:t> </a:t>
            </a:r>
            <a:r>
              <a:rPr sz="2200" b="1" dirty="0">
                <a:latin typeface="Times New Roman"/>
                <a:cs typeface="Times New Roman"/>
              </a:rPr>
              <a:t>improving</a:t>
            </a:r>
            <a:r>
              <a:rPr sz="2200" b="1" spc="-40" dirty="0">
                <a:latin typeface="Times New Roman"/>
                <a:cs typeface="Times New Roman"/>
              </a:rPr>
              <a:t> </a:t>
            </a:r>
            <a:r>
              <a:rPr sz="2200" b="1" dirty="0">
                <a:latin typeface="Times New Roman"/>
                <a:cs typeface="Times New Roman"/>
              </a:rPr>
              <a:t>cybersecurity</a:t>
            </a:r>
            <a:r>
              <a:rPr sz="2200" b="1" spc="-90" dirty="0">
                <a:latin typeface="Times New Roman"/>
                <a:cs typeface="Times New Roman"/>
              </a:rPr>
              <a:t> </a:t>
            </a:r>
            <a:r>
              <a:rPr sz="2200" dirty="0">
                <a:latin typeface="Times New Roman"/>
                <a:cs typeface="Times New Roman"/>
              </a:rPr>
              <a:t>on social</a:t>
            </a:r>
            <a:r>
              <a:rPr sz="2200" spc="-60" dirty="0">
                <a:latin typeface="Times New Roman"/>
                <a:cs typeface="Times New Roman"/>
              </a:rPr>
              <a:t> </a:t>
            </a:r>
            <a:r>
              <a:rPr sz="2200" spc="-10" dirty="0">
                <a:latin typeface="Times New Roman"/>
                <a:cs typeface="Times New Roman"/>
              </a:rPr>
              <a:t>media.</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Useful</a:t>
            </a:r>
            <a:r>
              <a:rPr sz="2200" spc="-25" dirty="0">
                <a:latin typeface="Times New Roman"/>
                <a:cs typeface="Times New Roman"/>
              </a:rPr>
              <a:t> </a:t>
            </a:r>
            <a:r>
              <a:rPr sz="2200" dirty="0">
                <a:latin typeface="Times New Roman"/>
                <a:cs typeface="Times New Roman"/>
              </a:rPr>
              <a:t>for</a:t>
            </a:r>
            <a:r>
              <a:rPr sz="2200" spc="-5" dirty="0">
                <a:latin typeface="Times New Roman"/>
                <a:cs typeface="Times New Roman"/>
              </a:rPr>
              <a:t> </a:t>
            </a:r>
            <a:r>
              <a:rPr sz="2200" b="1" dirty="0">
                <a:latin typeface="Times New Roman"/>
                <a:cs typeface="Times New Roman"/>
              </a:rPr>
              <a:t>researchers,</a:t>
            </a:r>
            <a:r>
              <a:rPr sz="2200" b="1" spc="-55" dirty="0">
                <a:latin typeface="Times New Roman"/>
                <a:cs typeface="Times New Roman"/>
              </a:rPr>
              <a:t> </a:t>
            </a:r>
            <a:r>
              <a:rPr sz="2200" b="1" dirty="0">
                <a:latin typeface="Times New Roman"/>
                <a:cs typeface="Times New Roman"/>
              </a:rPr>
              <a:t>policymakers,</a:t>
            </a:r>
            <a:r>
              <a:rPr sz="2200" b="1" spc="-60" dirty="0">
                <a:latin typeface="Times New Roman"/>
                <a:cs typeface="Times New Roman"/>
              </a:rPr>
              <a:t> </a:t>
            </a:r>
            <a:r>
              <a:rPr sz="2200" b="1" dirty="0">
                <a:latin typeface="Times New Roman"/>
                <a:cs typeface="Times New Roman"/>
              </a:rPr>
              <a:t>and</a:t>
            </a:r>
            <a:r>
              <a:rPr sz="2200" b="1" spc="-20" dirty="0">
                <a:latin typeface="Times New Roman"/>
                <a:cs typeface="Times New Roman"/>
              </a:rPr>
              <a:t> </a:t>
            </a:r>
            <a:r>
              <a:rPr sz="2200" b="1" dirty="0">
                <a:latin typeface="Times New Roman"/>
                <a:cs typeface="Times New Roman"/>
              </a:rPr>
              <a:t>social</a:t>
            </a:r>
            <a:r>
              <a:rPr sz="2200" b="1" spc="-25" dirty="0">
                <a:latin typeface="Times New Roman"/>
                <a:cs typeface="Times New Roman"/>
              </a:rPr>
              <a:t> </a:t>
            </a:r>
            <a:r>
              <a:rPr sz="2200" b="1" dirty="0">
                <a:latin typeface="Times New Roman"/>
                <a:cs typeface="Times New Roman"/>
              </a:rPr>
              <a:t>platforms</a:t>
            </a:r>
            <a:r>
              <a:rPr sz="2200" b="1" spc="-75" dirty="0">
                <a:latin typeface="Times New Roman"/>
                <a:cs typeface="Times New Roman"/>
              </a:rPr>
              <a:t> </a:t>
            </a:r>
            <a:r>
              <a:rPr sz="2200" dirty="0">
                <a:latin typeface="Times New Roman"/>
                <a:cs typeface="Times New Roman"/>
              </a:rPr>
              <a:t>to</a:t>
            </a:r>
            <a:r>
              <a:rPr sz="2200" spc="5" dirty="0">
                <a:latin typeface="Times New Roman"/>
                <a:cs typeface="Times New Roman"/>
              </a:rPr>
              <a:t> </a:t>
            </a:r>
            <a:r>
              <a:rPr sz="2200" dirty="0">
                <a:latin typeface="Times New Roman"/>
                <a:cs typeface="Times New Roman"/>
              </a:rPr>
              <a:t>identify</a:t>
            </a:r>
            <a:r>
              <a:rPr sz="2200" spc="-50" dirty="0">
                <a:latin typeface="Times New Roman"/>
                <a:cs typeface="Times New Roman"/>
              </a:rPr>
              <a:t> </a:t>
            </a:r>
            <a:r>
              <a:rPr sz="2200" dirty="0">
                <a:latin typeface="Times New Roman"/>
                <a:cs typeface="Times New Roman"/>
              </a:rPr>
              <a:t>malicious</a:t>
            </a:r>
            <a:r>
              <a:rPr sz="2200" spc="-30" dirty="0">
                <a:latin typeface="Times New Roman"/>
                <a:cs typeface="Times New Roman"/>
              </a:rPr>
              <a:t> </a:t>
            </a:r>
            <a:r>
              <a:rPr sz="2200" spc="-10" dirty="0">
                <a:latin typeface="Times New Roman"/>
                <a:cs typeface="Times New Roman"/>
              </a:rPr>
              <a:t>accounts.</a:t>
            </a:r>
            <a:endParaRPr sz="2200" dirty="0">
              <a:latin typeface="Times New Roman"/>
              <a:cs typeface="Times New Roman"/>
            </a:endParaRPr>
          </a:p>
          <a:p>
            <a:pPr marL="469265" indent="-456565">
              <a:lnSpc>
                <a:spcPct val="100000"/>
              </a:lnSpc>
              <a:buFont typeface="Arial MT"/>
              <a:buChar char="•"/>
              <a:tabLst>
                <a:tab pos="469265" algn="l"/>
              </a:tabLst>
            </a:pPr>
            <a:r>
              <a:rPr sz="2200" dirty="0">
                <a:latin typeface="Times New Roman"/>
                <a:cs typeface="Times New Roman"/>
              </a:rPr>
              <a:t>Contributes</a:t>
            </a:r>
            <a:r>
              <a:rPr sz="2200" spc="-50" dirty="0">
                <a:latin typeface="Times New Roman"/>
                <a:cs typeface="Times New Roman"/>
              </a:rPr>
              <a:t> </a:t>
            </a:r>
            <a:r>
              <a:rPr sz="2200" dirty="0">
                <a:latin typeface="Times New Roman"/>
                <a:cs typeface="Times New Roman"/>
              </a:rPr>
              <a:t>toward</a:t>
            </a:r>
            <a:r>
              <a:rPr sz="2200" spc="-40" dirty="0">
                <a:latin typeface="Times New Roman"/>
                <a:cs typeface="Times New Roman"/>
              </a:rPr>
              <a:t> </a:t>
            </a:r>
            <a:r>
              <a:rPr sz="2200" dirty="0">
                <a:latin typeface="Times New Roman"/>
                <a:cs typeface="Times New Roman"/>
              </a:rPr>
              <a:t>building</a:t>
            </a:r>
            <a:r>
              <a:rPr sz="2200" spc="-35" dirty="0">
                <a:latin typeface="Times New Roman"/>
                <a:cs typeface="Times New Roman"/>
              </a:rPr>
              <a:t> </a:t>
            </a:r>
            <a:r>
              <a:rPr sz="2200" dirty="0">
                <a:latin typeface="Times New Roman"/>
                <a:cs typeface="Times New Roman"/>
              </a:rPr>
              <a:t>a</a:t>
            </a:r>
            <a:r>
              <a:rPr sz="2200" spc="-20" dirty="0">
                <a:latin typeface="Times New Roman"/>
                <a:cs typeface="Times New Roman"/>
              </a:rPr>
              <a:t> </a:t>
            </a:r>
            <a:r>
              <a:rPr sz="2200" b="1" dirty="0">
                <a:latin typeface="Times New Roman"/>
                <a:cs typeface="Times New Roman"/>
              </a:rPr>
              <a:t>trustworthy</a:t>
            </a:r>
            <a:r>
              <a:rPr sz="2200" b="1" spc="-70" dirty="0">
                <a:latin typeface="Times New Roman"/>
                <a:cs typeface="Times New Roman"/>
              </a:rPr>
              <a:t> </a:t>
            </a:r>
            <a:r>
              <a:rPr sz="2200" b="1" dirty="0">
                <a:latin typeface="Times New Roman"/>
                <a:cs typeface="Times New Roman"/>
              </a:rPr>
              <a:t>and</a:t>
            </a:r>
            <a:r>
              <a:rPr sz="2200" b="1" spc="-5" dirty="0">
                <a:latin typeface="Times New Roman"/>
                <a:cs typeface="Times New Roman"/>
              </a:rPr>
              <a:t> </a:t>
            </a:r>
            <a:r>
              <a:rPr sz="2200" b="1" dirty="0">
                <a:latin typeface="Times New Roman"/>
                <a:cs typeface="Times New Roman"/>
              </a:rPr>
              <a:t>transparent</a:t>
            </a:r>
            <a:r>
              <a:rPr sz="2200" b="1" spc="-75" dirty="0">
                <a:latin typeface="Times New Roman"/>
                <a:cs typeface="Times New Roman"/>
              </a:rPr>
              <a:t> </a:t>
            </a:r>
            <a:r>
              <a:rPr sz="2200" b="1" dirty="0">
                <a:latin typeface="Times New Roman"/>
                <a:cs typeface="Times New Roman"/>
              </a:rPr>
              <a:t>online</a:t>
            </a:r>
            <a:r>
              <a:rPr sz="2200" b="1" spc="-20" dirty="0">
                <a:latin typeface="Times New Roman"/>
                <a:cs typeface="Times New Roman"/>
              </a:rPr>
              <a:t> </a:t>
            </a:r>
            <a:r>
              <a:rPr sz="2200" b="1" spc="-10" dirty="0">
                <a:latin typeface="Times New Roman"/>
                <a:cs typeface="Times New Roman"/>
              </a:rPr>
              <a:t>environment</a:t>
            </a:r>
            <a:r>
              <a:rPr sz="2200" spc="-10" dirty="0">
                <a:latin typeface="Times New Roman"/>
                <a:cs typeface="Times New Roman"/>
              </a:rPr>
              <a:t>.</a:t>
            </a:r>
            <a:endParaRPr sz="22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80AA4-9EA4-D548-8B90-8E124120DD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605569-5035-AD89-4DB1-CEB52F525E7E}"/>
              </a:ext>
            </a:extLst>
          </p:cNvPr>
          <p:cNvSpPr txBox="1">
            <a:spLocks noGrp="1"/>
          </p:cNvSpPr>
          <p:nvPr>
            <p:ph type="title"/>
          </p:nvPr>
        </p:nvSpPr>
        <p:spPr>
          <a:xfrm>
            <a:off x="2135695" y="692509"/>
            <a:ext cx="8991600" cy="443070"/>
          </a:xfrm>
          <a:prstGeom prst="rect">
            <a:avLst/>
          </a:prstGeom>
        </p:spPr>
        <p:txBody>
          <a:bodyPr vert="horz" wrap="square" lIns="0" tIns="12065" rIns="0" bIns="0" rtlCol="0">
            <a:spAutoFit/>
          </a:bodyPr>
          <a:lstStyle/>
          <a:p>
            <a:pPr marL="12700">
              <a:lnSpc>
                <a:spcPct val="100000"/>
              </a:lnSpc>
              <a:spcBef>
                <a:spcPts val="95"/>
              </a:spcBef>
            </a:pPr>
            <a:r>
              <a:rPr lang="en-US" sz="2800" spc="-10" dirty="0"/>
              <a:t>INTRODUCTION:</a:t>
            </a:r>
            <a:r>
              <a:rPr lang="en-US" sz="2800" dirty="0"/>
              <a:t>WHY BOT DETECTION MATTERS</a:t>
            </a:r>
            <a:endParaRPr lang="en-US" sz="2800" spc="-10" dirty="0"/>
          </a:p>
        </p:txBody>
      </p:sp>
      <p:sp>
        <p:nvSpPr>
          <p:cNvPr id="4" name="object 4">
            <a:extLst>
              <a:ext uri="{FF2B5EF4-FFF2-40B4-BE49-F238E27FC236}">
                <a16:creationId xmlns:a16="http://schemas.microsoft.com/office/drawing/2014/main" id="{1A97DA76-168A-504D-C598-BA23407744E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1F17CA67-07A1-9AD7-1ABA-258C24AE5F30}"/>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B42B7A9E-9AEE-7577-FA65-BC27BF386105}"/>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C77E9C92-9D8D-EC2E-83DB-C268E47295A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5</a:t>
            </a:fld>
            <a:endParaRPr spc="-25" dirty="0"/>
          </a:p>
        </p:txBody>
      </p:sp>
      <p:sp>
        <p:nvSpPr>
          <p:cNvPr id="3" name="object 3">
            <a:extLst>
              <a:ext uri="{FF2B5EF4-FFF2-40B4-BE49-F238E27FC236}">
                <a16:creationId xmlns:a16="http://schemas.microsoft.com/office/drawing/2014/main" id="{B75A39C9-9D2D-908D-394F-8F7C9AE7686B}"/>
              </a:ext>
            </a:extLst>
          </p:cNvPr>
          <p:cNvSpPr txBox="1"/>
          <p:nvPr/>
        </p:nvSpPr>
        <p:spPr>
          <a:xfrm>
            <a:off x="650849" y="1220546"/>
            <a:ext cx="11003915" cy="5184753"/>
          </a:xfrm>
          <a:prstGeom prst="rect">
            <a:avLst/>
          </a:prstGeom>
        </p:spPr>
        <p:txBody>
          <a:bodyPr vert="horz" wrap="square" lIns="0" tIns="13970" rIns="0" bIns="0"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Motivation for the Work</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Earlier bot detection techniques based on traditional machine learning use limited textual data or basic profile features.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Such approaches struggle to understand deep language context and complex user behavior.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With the emergence of advanced deep learning models like BERT for contextual text analysis and MLPs for user metadata, a hybrid framework becomes a powerful solution for accurate bot identification.</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Significance of Bot Detection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the impact of misinformation and manipulated content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Safeguards users from spam, scams, and automated abuse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Preserves genuine engagement and fair discussions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Supports policymakers, researchers, and platforms in analyzing social influence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Strengthens trust and transparency in digital social networks</a:t>
            </a:r>
          </a:p>
        </p:txBody>
      </p:sp>
    </p:spTree>
    <p:extLst>
      <p:ext uri="{BB962C8B-B14F-4D97-AF65-F5344CB8AC3E}">
        <p14:creationId xmlns:p14="http://schemas.microsoft.com/office/powerpoint/2010/main" val="4156001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D66B-C990-6862-DD6A-3C79A84EFA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4AFCCD-6AF9-B8A4-70AA-BCA9B9422926}"/>
              </a:ext>
            </a:extLst>
          </p:cNvPr>
          <p:cNvSpPr txBox="1">
            <a:spLocks noGrp="1"/>
          </p:cNvSpPr>
          <p:nvPr>
            <p:ph type="title"/>
          </p:nvPr>
        </p:nvSpPr>
        <p:spPr>
          <a:xfrm>
            <a:off x="1828800" y="1066800"/>
            <a:ext cx="8991600" cy="443070"/>
          </a:xfrm>
          <a:prstGeom prst="rect">
            <a:avLst/>
          </a:prstGeom>
        </p:spPr>
        <p:txBody>
          <a:bodyPr vert="horz" wrap="square" lIns="0" tIns="12065" rIns="0" bIns="0" rtlCol="0">
            <a:spAutoFit/>
          </a:bodyPr>
          <a:lstStyle/>
          <a:p>
            <a:pPr marL="12700" algn="ctr">
              <a:lnSpc>
                <a:spcPct val="100000"/>
              </a:lnSpc>
              <a:spcBef>
                <a:spcPts val="95"/>
              </a:spcBef>
            </a:pPr>
            <a:r>
              <a:rPr lang="en-US" sz="2800" dirty="0"/>
              <a:t>LIMITATIONS OF EXISTING SYSTEMS</a:t>
            </a:r>
            <a:endParaRPr lang="en-US" sz="2800" spc="-10" dirty="0"/>
          </a:p>
        </p:txBody>
      </p:sp>
      <p:sp>
        <p:nvSpPr>
          <p:cNvPr id="4" name="object 4">
            <a:extLst>
              <a:ext uri="{FF2B5EF4-FFF2-40B4-BE49-F238E27FC236}">
                <a16:creationId xmlns:a16="http://schemas.microsoft.com/office/drawing/2014/main" id="{D02291F8-94BA-C7E8-BED5-57565D3A8FED}"/>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A8D708BB-A100-0C8B-E195-608700548F1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BA69CE95-DBEE-3115-D73B-81BCDCFC2B91}"/>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10986787-41FF-705D-1A8D-4BBBABDDDE8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6</a:t>
            </a:fld>
            <a:endParaRPr spc="-25" dirty="0"/>
          </a:p>
        </p:txBody>
      </p:sp>
      <p:sp>
        <p:nvSpPr>
          <p:cNvPr id="3" name="object 3">
            <a:extLst>
              <a:ext uri="{FF2B5EF4-FFF2-40B4-BE49-F238E27FC236}">
                <a16:creationId xmlns:a16="http://schemas.microsoft.com/office/drawing/2014/main" id="{2BE5C648-4D3E-9FAA-E821-370B5448FA5C}"/>
              </a:ext>
            </a:extLst>
          </p:cNvPr>
          <p:cNvSpPr txBox="1"/>
          <p:nvPr/>
        </p:nvSpPr>
        <p:spPr>
          <a:xfrm>
            <a:off x="594042" y="1944619"/>
            <a:ext cx="11003915" cy="2968761"/>
          </a:xfrm>
          <a:prstGeom prst="rect">
            <a:avLst/>
          </a:prstGeom>
        </p:spPr>
        <p:txBody>
          <a:bodyPr vert="horz" wrap="square" lIns="0" tIns="13970" rIns="0" bIns="0" rtlCol="0">
            <a:spAutoFit/>
          </a:bodyPr>
          <a:lstStyle/>
          <a:p>
            <a:pPr algn="just"/>
            <a:r>
              <a:rPr lang="en-US" sz="2400" dirty="0">
                <a:latin typeface="Times New Roman" panose="02020603050405020304" pitchFamily="18" charset="0"/>
                <a:cs typeface="Times New Roman" panose="02020603050405020304" pitchFamily="18" charset="0"/>
              </a:rPr>
              <a:t>Existing bot detection systems suffer from several important limitations. Approaches that rely only on textual analysis ignore crucial user behavior such as posting frequency, follower relationships, and account activity patterns. On the other hand, models based solely on user metadata fail to understand the linguistic intent, context, and sentiment expressed in tweets. Many current systems also struggle to adapt to continuously evolving bot behaviors, leading to reduced detection accuracy over time. Additionally, these models often show poor generalization performance when applied across different datasets or real-world environments, limiting their practical usability</a:t>
            </a:r>
          </a:p>
        </p:txBody>
      </p:sp>
    </p:spTree>
    <p:extLst>
      <p:ext uri="{BB962C8B-B14F-4D97-AF65-F5344CB8AC3E}">
        <p14:creationId xmlns:p14="http://schemas.microsoft.com/office/powerpoint/2010/main" val="340760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780" y="342087"/>
            <a:ext cx="5514340" cy="629285"/>
          </a:xfrm>
          <a:prstGeom prst="rect">
            <a:avLst/>
          </a:prstGeom>
        </p:spPr>
        <p:txBody>
          <a:bodyPr vert="horz" wrap="square" lIns="0" tIns="13970" rIns="0" bIns="0" rtlCol="0">
            <a:spAutoFit/>
          </a:bodyPr>
          <a:lstStyle/>
          <a:p>
            <a:pPr marL="12700">
              <a:lnSpc>
                <a:spcPct val="100000"/>
              </a:lnSpc>
              <a:spcBef>
                <a:spcPts val="110"/>
              </a:spcBef>
            </a:pPr>
            <a:r>
              <a:rPr sz="3950" spc="-10" dirty="0"/>
              <a:t>LITERATURE</a:t>
            </a:r>
            <a:r>
              <a:rPr sz="3950" spc="-175" dirty="0"/>
              <a:t> </a:t>
            </a:r>
            <a:r>
              <a:rPr sz="3950" spc="-10" dirty="0"/>
              <a:t>SURVEY</a:t>
            </a:r>
            <a:endParaRPr sz="395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7</a:t>
            </a:fld>
            <a:endParaRPr spc="-25" dirty="0"/>
          </a:p>
        </p:txBody>
      </p:sp>
      <p:graphicFrame>
        <p:nvGraphicFramePr>
          <p:cNvPr id="3" name="object 3"/>
          <p:cNvGraphicFramePr>
            <a:graphicFrameLocks noGrp="1"/>
          </p:cNvGraphicFramePr>
          <p:nvPr/>
        </p:nvGraphicFramePr>
        <p:xfrm>
          <a:off x="374650" y="1045844"/>
          <a:ext cx="11431905" cy="5270499"/>
        </p:xfrm>
        <a:graphic>
          <a:graphicData uri="http://schemas.openxmlformats.org/drawingml/2006/table">
            <a:tbl>
              <a:tblPr firstRow="1" bandRow="1">
                <a:tableStyleId>{2D5ABB26-0587-4C30-8999-92F81FD0307C}</a:tableStyleId>
              </a:tblPr>
              <a:tblGrid>
                <a:gridCol w="642620">
                  <a:extLst>
                    <a:ext uri="{9D8B030D-6E8A-4147-A177-3AD203B41FA5}">
                      <a16:colId xmlns:a16="http://schemas.microsoft.com/office/drawing/2014/main" val="20000"/>
                    </a:ext>
                  </a:extLst>
                </a:gridCol>
                <a:gridCol w="2052955">
                  <a:extLst>
                    <a:ext uri="{9D8B030D-6E8A-4147-A177-3AD203B41FA5}">
                      <a16:colId xmlns:a16="http://schemas.microsoft.com/office/drawing/2014/main" val="20001"/>
                    </a:ext>
                  </a:extLst>
                </a:gridCol>
                <a:gridCol w="1711325">
                  <a:extLst>
                    <a:ext uri="{9D8B030D-6E8A-4147-A177-3AD203B41FA5}">
                      <a16:colId xmlns:a16="http://schemas.microsoft.com/office/drawing/2014/main" val="20002"/>
                    </a:ext>
                  </a:extLst>
                </a:gridCol>
                <a:gridCol w="1765300">
                  <a:extLst>
                    <a:ext uri="{9D8B030D-6E8A-4147-A177-3AD203B41FA5}">
                      <a16:colId xmlns:a16="http://schemas.microsoft.com/office/drawing/2014/main" val="20003"/>
                    </a:ext>
                  </a:extLst>
                </a:gridCol>
                <a:gridCol w="1993265">
                  <a:extLst>
                    <a:ext uri="{9D8B030D-6E8A-4147-A177-3AD203B41FA5}">
                      <a16:colId xmlns:a16="http://schemas.microsoft.com/office/drawing/2014/main" val="20004"/>
                    </a:ext>
                  </a:extLst>
                </a:gridCol>
                <a:gridCol w="1633220">
                  <a:extLst>
                    <a:ext uri="{9D8B030D-6E8A-4147-A177-3AD203B41FA5}">
                      <a16:colId xmlns:a16="http://schemas.microsoft.com/office/drawing/2014/main" val="20005"/>
                    </a:ext>
                  </a:extLst>
                </a:gridCol>
                <a:gridCol w="1633220">
                  <a:extLst>
                    <a:ext uri="{9D8B030D-6E8A-4147-A177-3AD203B41FA5}">
                      <a16:colId xmlns:a16="http://schemas.microsoft.com/office/drawing/2014/main" val="20006"/>
                    </a:ext>
                  </a:extLst>
                </a:gridCol>
              </a:tblGrid>
              <a:tr h="678815">
                <a:tc>
                  <a:txBody>
                    <a:bodyPr/>
                    <a:lstStyle/>
                    <a:p>
                      <a:pPr marL="182245">
                        <a:lnSpc>
                          <a:spcPct val="100000"/>
                        </a:lnSpc>
                        <a:spcBef>
                          <a:spcPts val="219"/>
                        </a:spcBef>
                      </a:pPr>
                      <a:r>
                        <a:rPr sz="1550" b="1" spc="-25" dirty="0">
                          <a:latin typeface="Calibri"/>
                          <a:cs typeface="Calibri"/>
                        </a:rPr>
                        <a:t>No</a:t>
                      </a:r>
                      <a:endParaRPr sz="1550">
                        <a:latin typeface="Calibri"/>
                        <a:cs typeface="Calibri"/>
                      </a:endParaRPr>
                    </a:p>
                  </a:txBody>
                  <a:tcPr marL="0" marR="0" marT="279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 algn="ctr">
                        <a:lnSpc>
                          <a:spcPct val="100000"/>
                        </a:lnSpc>
                        <a:spcBef>
                          <a:spcPts val="219"/>
                        </a:spcBef>
                      </a:pPr>
                      <a:r>
                        <a:rPr sz="1550" b="1" spc="-20" dirty="0">
                          <a:latin typeface="Calibri"/>
                          <a:cs typeface="Calibri"/>
                        </a:rPr>
                        <a:t>Title</a:t>
                      </a:r>
                      <a:endParaRPr sz="1550">
                        <a:latin typeface="Calibri"/>
                        <a:cs typeface="Calibri"/>
                      </a:endParaRPr>
                    </a:p>
                  </a:txBody>
                  <a:tcPr marL="0" marR="0" marT="279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5620">
                        <a:lnSpc>
                          <a:spcPct val="100000"/>
                        </a:lnSpc>
                        <a:spcBef>
                          <a:spcPts val="219"/>
                        </a:spcBef>
                      </a:pPr>
                      <a:r>
                        <a:rPr sz="1550" b="1" spc="-10" dirty="0">
                          <a:latin typeface="Calibri"/>
                          <a:cs typeface="Calibri"/>
                        </a:rPr>
                        <a:t>Author</a:t>
                      </a:r>
                      <a:endParaRPr sz="1550">
                        <a:latin typeface="Calibri"/>
                        <a:cs typeface="Calibri"/>
                      </a:endParaRPr>
                    </a:p>
                  </a:txBody>
                  <a:tcPr marL="0" marR="0" marT="279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R="90805" algn="ctr">
                        <a:lnSpc>
                          <a:spcPct val="100000"/>
                        </a:lnSpc>
                        <a:spcBef>
                          <a:spcPts val="145"/>
                        </a:spcBef>
                      </a:pPr>
                      <a:r>
                        <a:rPr sz="1550" b="1" dirty="0">
                          <a:latin typeface="Calibri"/>
                          <a:cs typeface="Calibri"/>
                        </a:rPr>
                        <a:t>Journal</a:t>
                      </a:r>
                      <a:r>
                        <a:rPr sz="1550" b="1" spc="85" dirty="0">
                          <a:latin typeface="Calibri"/>
                          <a:cs typeface="Calibri"/>
                        </a:rPr>
                        <a:t> </a:t>
                      </a:r>
                      <a:r>
                        <a:rPr sz="1550" b="1" dirty="0">
                          <a:latin typeface="Calibri"/>
                          <a:cs typeface="Calibri"/>
                        </a:rPr>
                        <a:t>Name</a:t>
                      </a:r>
                      <a:r>
                        <a:rPr sz="1550" b="1" spc="65" dirty="0">
                          <a:latin typeface="Calibri"/>
                          <a:cs typeface="Calibri"/>
                        </a:rPr>
                        <a:t> </a:t>
                      </a:r>
                      <a:r>
                        <a:rPr sz="1550" b="1" spc="-50" dirty="0">
                          <a:latin typeface="Calibri"/>
                          <a:cs typeface="Calibri"/>
                        </a:rPr>
                        <a:t>&amp;</a:t>
                      </a:r>
                      <a:endParaRPr sz="1550">
                        <a:latin typeface="Calibri"/>
                        <a:cs typeface="Calibri"/>
                      </a:endParaRPr>
                    </a:p>
                    <a:p>
                      <a:pPr marR="74295" algn="ctr">
                        <a:lnSpc>
                          <a:spcPct val="100000"/>
                        </a:lnSpc>
                        <a:spcBef>
                          <a:spcPts val="85"/>
                        </a:spcBef>
                      </a:pPr>
                      <a:r>
                        <a:rPr sz="1550" b="1" spc="-20" dirty="0">
                          <a:latin typeface="Calibri"/>
                          <a:cs typeface="Calibri"/>
                        </a:rPr>
                        <a:t>Year</a:t>
                      </a:r>
                      <a:endParaRPr sz="1550">
                        <a:latin typeface="Calibri"/>
                        <a:cs typeface="Calibri"/>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R="123825" algn="ctr">
                        <a:lnSpc>
                          <a:spcPct val="100000"/>
                        </a:lnSpc>
                        <a:spcBef>
                          <a:spcPts val="145"/>
                        </a:spcBef>
                      </a:pPr>
                      <a:r>
                        <a:rPr sz="1550" b="1" spc="-10" dirty="0">
                          <a:latin typeface="Calibri"/>
                          <a:cs typeface="Calibri"/>
                        </a:rPr>
                        <a:t>Methodology</a:t>
                      </a:r>
                      <a:endParaRPr sz="1550">
                        <a:latin typeface="Calibri"/>
                        <a:cs typeface="Calibri"/>
                      </a:endParaRPr>
                    </a:p>
                    <a:p>
                      <a:pPr marR="102235" algn="ctr">
                        <a:lnSpc>
                          <a:spcPct val="100000"/>
                        </a:lnSpc>
                        <a:spcBef>
                          <a:spcPts val="85"/>
                        </a:spcBef>
                      </a:pPr>
                      <a:r>
                        <a:rPr sz="1550" b="1" spc="-10" dirty="0">
                          <a:latin typeface="Calibri"/>
                          <a:cs typeface="Calibri"/>
                        </a:rPr>
                        <a:t>Adapted</a:t>
                      </a:r>
                      <a:endParaRPr sz="1550">
                        <a:latin typeface="Calibri"/>
                        <a:cs typeface="Calibri"/>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7810">
                        <a:lnSpc>
                          <a:spcPct val="100000"/>
                        </a:lnSpc>
                        <a:spcBef>
                          <a:spcPts val="219"/>
                        </a:spcBef>
                      </a:pPr>
                      <a:r>
                        <a:rPr sz="1550" b="1" dirty="0">
                          <a:latin typeface="Calibri"/>
                          <a:cs typeface="Calibri"/>
                        </a:rPr>
                        <a:t>Key</a:t>
                      </a:r>
                      <a:r>
                        <a:rPr sz="1550" b="1" spc="25" dirty="0">
                          <a:latin typeface="Calibri"/>
                          <a:cs typeface="Calibri"/>
                        </a:rPr>
                        <a:t> </a:t>
                      </a:r>
                      <a:r>
                        <a:rPr sz="1550" b="1" spc="-10" dirty="0">
                          <a:latin typeface="Calibri"/>
                          <a:cs typeface="Calibri"/>
                        </a:rPr>
                        <a:t>Findings</a:t>
                      </a:r>
                      <a:endParaRPr sz="1550">
                        <a:latin typeface="Calibri"/>
                        <a:cs typeface="Calibri"/>
                      </a:endParaRPr>
                    </a:p>
                  </a:txBody>
                  <a:tcPr marL="0" marR="0" marT="279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1590" algn="ctr">
                        <a:lnSpc>
                          <a:spcPct val="100000"/>
                        </a:lnSpc>
                        <a:spcBef>
                          <a:spcPts val="219"/>
                        </a:spcBef>
                      </a:pPr>
                      <a:r>
                        <a:rPr sz="1550" b="1" spc="-20" dirty="0">
                          <a:latin typeface="Calibri"/>
                          <a:cs typeface="Calibri"/>
                        </a:rPr>
                        <a:t>Gaps</a:t>
                      </a:r>
                      <a:endParaRPr sz="1550">
                        <a:latin typeface="Calibri"/>
                        <a:cs typeface="Calibri"/>
                      </a:endParaRPr>
                    </a:p>
                  </a:txBody>
                  <a:tcPr marL="0" marR="0" marT="279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1067435">
                <a:tc>
                  <a:txBody>
                    <a:bodyPr/>
                    <a:lstStyle/>
                    <a:p>
                      <a:pPr marL="91440">
                        <a:lnSpc>
                          <a:spcPct val="100000"/>
                        </a:lnSpc>
                        <a:spcBef>
                          <a:spcPts val="180"/>
                        </a:spcBef>
                      </a:pPr>
                      <a:r>
                        <a:rPr sz="1400" spc="-50" dirty="0">
                          <a:latin typeface="Calibri"/>
                          <a:cs typeface="Calibri"/>
                        </a:rPr>
                        <a:t>1</a:t>
                      </a:r>
                      <a:endParaRPr sz="1400">
                        <a:latin typeface="Calibri"/>
                        <a:cs typeface="Calibri"/>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80"/>
                        </a:spcBef>
                      </a:pPr>
                      <a:endParaRPr sz="1000">
                        <a:latin typeface="Times New Roman"/>
                        <a:cs typeface="Times New Roman"/>
                      </a:endParaRPr>
                    </a:p>
                    <a:p>
                      <a:pPr marL="9525" marR="50165">
                        <a:lnSpc>
                          <a:spcPct val="100000"/>
                        </a:lnSpc>
                        <a:spcBef>
                          <a:spcPts val="5"/>
                        </a:spcBef>
                      </a:pPr>
                      <a:r>
                        <a:rPr sz="1000" dirty="0">
                          <a:latin typeface="Times New Roman"/>
                          <a:cs typeface="Times New Roman"/>
                        </a:rPr>
                        <a:t>A</a:t>
                      </a:r>
                      <a:r>
                        <a:rPr sz="1000" spc="-45" dirty="0">
                          <a:latin typeface="Times New Roman"/>
                          <a:cs typeface="Times New Roman"/>
                        </a:rPr>
                        <a:t> </a:t>
                      </a:r>
                      <a:r>
                        <a:rPr sz="1000" dirty="0">
                          <a:latin typeface="Times New Roman"/>
                          <a:cs typeface="Times New Roman"/>
                        </a:rPr>
                        <a:t>Deep</a:t>
                      </a:r>
                      <a:r>
                        <a:rPr sz="1000" spc="5" dirty="0">
                          <a:latin typeface="Times New Roman"/>
                          <a:cs typeface="Times New Roman"/>
                        </a:rPr>
                        <a:t> </a:t>
                      </a:r>
                      <a:r>
                        <a:rPr sz="1000" dirty="0">
                          <a:latin typeface="Times New Roman"/>
                          <a:cs typeface="Times New Roman"/>
                        </a:rPr>
                        <a:t>Learning</a:t>
                      </a:r>
                      <a:r>
                        <a:rPr sz="1000" spc="-85" dirty="0">
                          <a:latin typeface="Times New Roman"/>
                          <a:cs typeface="Times New Roman"/>
                        </a:rPr>
                        <a:t> </a:t>
                      </a:r>
                      <a:r>
                        <a:rPr sz="1000" dirty="0">
                          <a:latin typeface="Times New Roman"/>
                          <a:cs typeface="Times New Roman"/>
                        </a:rPr>
                        <a:t>Approach</a:t>
                      </a:r>
                      <a:r>
                        <a:rPr sz="1000" spc="-15" dirty="0">
                          <a:latin typeface="Times New Roman"/>
                          <a:cs typeface="Times New Roman"/>
                        </a:rPr>
                        <a:t> </a:t>
                      </a:r>
                      <a:r>
                        <a:rPr sz="1000" dirty="0">
                          <a:latin typeface="Times New Roman"/>
                          <a:cs typeface="Times New Roman"/>
                        </a:rPr>
                        <a:t>for</a:t>
                      </a:r>
                      <a:r>
                        <a:rPr sz="1000" spc="5" dirty="0">
                          <a:latin typeface="Times New Roman"/>
                          <a:cs typeface="Times New Roman"/>
                        </a:rPr>
                        <a:t> </a:t>
                      </a:r>
                      <a:r>
                        <a:rPr sz="1000" spc="-10" dirty="0">
                          <a:latin typeface="Times New Roman"/>
                          <a:cs typeface="Times New Roman"/>
                        </a:rPr>
                        <a:t>Robust </a:t>
                      </a:r>
                      <a:r>
                        <a:rPr sz="1000" dirty="0">
                          <a:latin typeface="Times New Roman"/>
                          <a:cs typeface="Times New Roman"/>
                        </a:rPr>
                        <a:t>Detection</a:t>
                      </a:r>
                      <a:r>
                        <a:rPr sz="1000" spc="-5" dirty="0">
                          <a:latin typeface="Times New Roman"/>
                          <a:cs typeface="Times New Roman"/>
                        </a:rPr>
                        <a:t> </a:t>
                      </a:r>
                      <a:r>
                        <a:rPr sz="1000" dirty="0">
                          <a:latin typeface="Times New Roman"/>
                          <a:cs typeface="Times New Roman"/>
                        </a:rPr>
                        <a:t>of</a:t>
                      </a:r>
                      <a:r>
                        <a:rPr sz="1000" spc="-20" dirty="0">
                          <a:latin typeface="Times New Roman"/>
                          <a:cs typeface="Times New Roman"/>
                        </a:rPr>
                        <a:t> </a:t>
                      </a:r>
                      <a:r>
                        <a:rPr sz="1000" dirty="0">
                          <a:latin typeface="Times New Roman"/>
                          <a:cs typeface="Times New Roman"/>
                        </a:rPr>
                        <a:t>Bots</a:t>
                      </a:r>
                      <a:r>
                        <a:rPr sz="1000" spc="-5" dirty="0">
                          <a:latin typeface="Times New Roman"/>
                          <a:cs typeface="Times New Roman"/>
                        </a:rPr>
                        <a:t> </a:t>
                      </a:r>
                      <a:r>
                        <a:rPr sz="1000" dirty="0">
                          <a:latin typeface="Times New Roman"/>
                          <a:cs typeface="Times New Roman"/>
                        </a:rPr>
                        <a:t>in</a:t>
                      </a:r>
                      <a:r>
                        <a:rPr sz="1000" spc="-65" dirty="0">
                          <a:latin typeface="Times New Roman"/>
                          <a:cs typeface="Times New Roman"/>
                        </a:rPr>
                        <a:t> </a:t>
                      </a:r>
                      <a:r>
                        <a:rPr sz="1000" dirty="0">
                          <a:latin typeface="Times New Roman"/>
                          <a:cs typeface="Times New Roman"/>
                        </a:rPr>
                        <a:t>Twitter</a:t>
                      </a:r>
                      <a:r>
                        <a:rPr sz="1000" spc="-20" dirty="0">
                          <a:latin typeface="Times New Roman"/>
                          <a:cs typeface="Times New Roman"/>
                        </a:rPr>
                        <a:t> Using </a:t>
                      </a:r>
                      <a:r>
                        <a:rPr sz="1000" spc="-10" dirty="0">
                          <a:latin typeface="Times New Roman"/>
                          <a:cs typeface="Times New Roman"/>
                        </a:rPr>
                        <a:t>Transformers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0160">
                        <a:lnSpc>
                          <a:spcPct val="100000"/>
                        </a:lnSpc>
                        <a:spcBef>
                          <a:spcPts val="5"/>
                        </a:spcBef>
                      </a:pPr>
                      <a:r>
                        <a:rPr sz="1000" dirty="0">
                          <a:latin typeface="Times New Roman"/>
                          <a:cs typeface="Times New Roman"/>
                        </a:rPr>
                        <a:t>Md.</a:t>
                      </a:r>
                      <a:r>
                        <a:rPr sz="1000" spc="-10" dirty="0">
                          <a:latin typeface="Times New Roman"/>
                          <a:cs typeface="Times New Roman"/>
                        </a:rPr>
                        <a:t> </a:t>
                      </a:r>
                      <a:r>
                        <a:rPr sz="1000" dirty="0">
                          <a:latin typeface="Times New Roman"/>
                          <a:cs typeface="Times New Roman"/>
                        </a:rPr>
                        <a:t>Mahbubur</a:t>
                      </a:r>
                      <a:r>
                        <a:rPr sz="1000" spc="-20" dirty="0">
                          <a:latin typeface="Times New Roman"/>
                          <a:cs typeface="Times New Roman"/>
                        </a:rPr>
                        <a:t> </a:t>
                      </a:r>
                      <a:r>
                        <a:rPr sz="1000" dirty="0">
                          <a:latin typeface="Times New Roman"/>
                          <a:cs typeface="Times New Roman"/>
                        </a:rPr>
                        <a:t>Rahman,</a:t>
                      </a:r>
                      <a:r>
                        <a:rPr sz="1000" spc="-75" dirty="0">
                          <a:latin typeface="Times New Roman"/>
                          <a:cs typeface="Times New Roman"/>
                        </a:rPr>
                        <a:t> </a:t>
                      </a:r>
                      <a:r>
                        <a:rPr sz="1000" spc="-25" dirty="0">
                          <a:latin typeface="Times New Roman"/>
                          <a:cs typeface="Times New Roman"/>
                        </a:rPr>
                        <a:t>26</a:t>
                      </a:r>
                      <a:endParaRPr sz="1000">
                        <a:latin typeface="Times New Roman"/>
                        <a:cs typeface="Times New Roman"/>
                      </a:endParaRPr>
                    </a:p>
                    <a:p>
                      <a:pPr marL="10160">
                        <a:lnSpc>
                          <a:spcPct val="100000"/>
                        </a:lnSpc>
                      </a:pPr>
                      <a:r>
                        <a:rPr sz="1000" dirty="0">
                          <a:latin typeface="Times New Roman"/>
                          <a:cs typeface="Times New Roman"/>
                        </a:rPr>
                        <a:t>February</a:t>
                      </a:r>
                      <a:r>
                        <a:rPr sz="1000" spc="-40" dirty="0">
                          <a:latin typeface="Times New Roman"/>
                          <a:cs typeface="Times New Roman"/>
                        </a:rPr>
                        <a:t> </a:t>
                      </a:r>
                      <a:r>
                        <a:rPr sz="1000" dirty="0">
                          <a:latin typeface="Times New Roman"/>
                          <a:cs typeface="Times New Roman"/>
                        </a:rPr>
                        <a:t>2024</a:t>
                      </a:r>
                      <a:r>
                        <a:rPr sz="1000" spc="-10" dirty="0">
                          <a:latin typeface="Times New Roman"/>
                          <a:cs typeface="Times New Roman"/>
                        </a:rPr>
                        <a:t> </a:t>
                      </a:r>
                      <a:r>
                        <a:rPr sz="1000" dirty="0">
                          <a:latin typeface="Times New Roman"/>
                          <a:cs typeface="Times New Roman"/>
                        </a:rPr>
                        <a:t>&amp;</a:t>
                      </a:r>
                      <a:r>
                        <a:rPr sz="1000" spc="-5" dirty="0">
                          <a:latin typeface="Times New Roman"/>
                          <a:cs typeface="Times New Roman"/>
                        </a:rPr>
                        <a:t> </a:t>
                      </a:r>
                      <a:r>
                        <a:rPr sz="1000" spc="-20" dirty="0">
                          <a:latin typeface="Times New Roman"/>
                          <a:cs typeface="Times New Roman"/>
                        </a:rPr>
                        <a:t>IEEE</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0160">
                        <a:lnSpc>
                          <a:spcPct val="100000"/>
                        </a:lnSpc>
                        <a:spcBef>
                          <a:spcPts val="5"/>
                        </a:spcBef>
                      </a:pPr>
                      <a:r>
                        <a:rPr sz="1000" u="sng" spc="-10" dirty="0">
                          <a:solidFill>
                            <a:srgbClr val="0000FF"/>
                          </a:solidFill>
                          <a:uFill>
                            <a:solidFill>
                              <a:srgbClr val="0000FF"/>
                            </a:solidFill>
                          </a:uFill>
                          <a:latin typeface="Times New Roman"/>
                          <a:cs typeface="Times New Roman"/>
                          <a:hlinkClick r:id="rId2"/>
                        </a:rPr>
                        <a:t>https://ieeexplore.ieee.org/docum</a:t>
                      </a:r>
                      <a:endParaRPr sz="1000">
                        <a:latin typeface="Times New Roman"/>
                        <a:cs typeface="Times New Roman"/>
                      </a:endParaRPr>
                    </a:p>
                    <a:p>
                      <a:pPr marL="10160">
                        <a:lnSpc>
                          <a:spcPct val="100000"/>
                        </a:lnSpc>
                      </a:pPr>
                      <a:r>
                        <a:rPr sz="1000" u="sng" spc="-10" dirty="0">
                          <a:solidFill>
                            <a:srgbClr val="0000FF"/>
                          </a:solidFill>
                          <a:uFill>
                            <a:solidFill>
                              <a:srgbClr val="0000FF"/>
                            </a:solidFill>
                          </a:uFill>
                          <a:latin typeface="Times New Roman"/>
                          <a:cs typeface="Times New Roman"/>
                          <a:hlinkClick r:id="rId2"/>
                        </a:rPr>
                        <a:t>ent/9361372</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0795">
                        <a:lnSpc>
                          <a:spcPct val="100000"/>
                        </a:lnSpc>
                        <a:spcBef>
                          <a:spcPts val="5"/>
                        </a:spcBef>
                      </a:pPr>
                      <a:r>
                        <a:rPr sz="1000" dirty="0">
                          <a:latin typeface="Times New Roman"/>
                          <a:cs typeface="Times New Roman"/>
                        </a:rPr>
                        <a:t>Metadata</a:t>
                      </a:r>
                      <a:r>
                        <a:rPr sz="1000" spc="-50" dirty="0">
                          <a:latin typeface="Times New Roman"/>
                          <a:cs typeface="Times New Roman"/>
                        </a:rPr>
                        <a:t> </a:t>
                      </a:r>
                      <a:r>
                        <a:rPr sz="1000" dirty="0">
                          <a:latin typeface="Times New Roman"/>
                          <a:cs typeface="Times New Roman"/>
                        </a:rPr>
                        <a:t>+</a:t>
                      </a:r>
                      <a:r>
                        <a:rPr sz="1000" spc="-30" dirty="0">
                          <a:latin typeface="Times New Roman"/>
                          <a:cs typeface="Times New Roman"/>
                        </a:rPr>
                        <a:t> </a:t>
                      </a:r>
                      <a:r>
                        <a:rPr sz="1000" dirty="0">
                          <a:latin typeface="Times New Roman"/>
                          <a:cs typeface="Times New Roman"/>
                        </a:rPr>
                        <a:t>text-based</a:t>
                      </a:r>
                      <a:r>
                        <a:rPr sz="1000" spc="-10" dirty="0">
                          <a:latin typeface="Times New Roman"/>
                          <a:cs typeface="Times New Roman"/>
                        </a:rPr>
                        <a:t> features,</a:t>
                      </a:r>
                      <a:endParaRPr sz="1000">
                        <a:latin typeface="Times New Roman"/>
                        <a:cs typeface="Times New Roman"/>
                      </a:endParaRPr>
                    </a:p>
                    <a:p>
                      <a:pPr marL="10795">
                        <a:lnSpc>
                          <a:spcPct val="100000"/>
                        </a:lnSpc>
                      </a:pPr>
                      <a:r>
                        <a:rPr sz="1000" dirty="0">
                          <a:latin typeface="Times New Roman"/>
                          <a:cs typeface="Times New Roman"/>
                        </a:rPr>
                        <a:t>multilingual</a:t>
                      </a:r>
                      <a:r>
                        <a:rPr sz="1000" spc="-25" dirty="0">
                          <a:latin typeface="Times New Roman"/>
                          <a:cs typeface="Times New Roman"/>
                        </a:rPr>
                        <a:t> </a:t>
                      </a:r>
                      <a:r>
                        <a:rPr sz="1000" spc="-10" dirty="0">
                          <a:latin typeface="Times New Roman"/>
                          <a:cs typeface="Times New Roman"/>
                        </a:rPr>
                        <a:t>embeddings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1430">
                        <a:lnSpc>
                          <a:spcPct val="100000"/>
                        </a:lnSpc>
                        <a:spcBef>
                          <a:spcPts val="5"/>
                        </a:spcBef>
                      </a:pPr>
                      <a:r>
                        <a:rPr sz="1000" dirty="0">
                          <a:latin typeface="Times New Roman"/>
                          <a:cs typeface="Times New Roman"/>
                        </a:rPr>
                        <a:t>High</a:t>
                      </a:r>
                      <a:r>
                        <a:rPr sz="1000" spc="-30" dirty="0">
                          <a:latin typeface="Times New Roman"/>
                          <a:cs typeface="Times New Roman"/>
                        </a:rPr>
                        <a:t> </a:t>
                      </a:r>
                      <a:r>
                        <a:rPr sz="1000" dirty="0">
                          <a:latin typeface="Times New Roman"/>
                          <a:cs typeface="Times New Roman"/>
                        </a:rPr>
                        <a:t>accuracy</a:t>
                      </a:r>
                      <a:r>
                        <a:rPr sz="1000" spc="-30" dirty="0">
                          <a:latin typeface="Times New Roman"/>
                          <a:cs typeface="Times New Roman"/>
                        </a:rPr>
                        <a:t> </a:t>
                      </a:r>
                      <a:r>
                        <a:rPr sz="1000" spc="-20" dirty="0">
                          <a:latin typeface="Times New Roman"/>
                          <a:cs typeface="Times New Roman"/>
                        </a:rPr>
                        <a:t>using</a:t>
                      </a:r>
                      <a:endParaRPr sz="1000">
                        <a:latin typeface="Times New Roman"/>
                        <a:cs typeface="Times New Roman"/>
                      </a:endParaRPr>
                    </a:p>
                    <a:p>
                      <a:pPr marL="11430">
                        <a:lnSpc>
                          <a:spcPct val="100000"/>
                        </a:lnSpc>
                      </a:pPr>
                      <a:r>
                        <a:rPr sz="1000" dirty="0">
                          <a:latin typeface="Times New Roman"/>
                          <a:cs typeface="Times New Roman"/>
                        </a:rPr>
                        <a:t>multilingual</a:t>
                      </a:r>
                      <a:r>
                        <a:rPr sz="1000" spc="-25" dirty="0">
                          <a:latin typeface="Times New Roman"/>
                          <a:cs typeface="Times New Roman"/>
                        </a:rPr>
                        <a:t> </a:t>
                      </a:r>
                      <a:r>
                        <a:rPr sz="1000" spc="-10" dirty="0">
                          <a:latin typeface="Times New Roman"/>
                          <a:cs typeface="Times New Roman"/>
                        </a:rPr>
                        <a:t>features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2065">
                        <a:lnSpc>
                          <a:spcPct val="100000"/>
                        </a:lnSpc>
                        <a:spcBef>
                          <a:spcPts val="5"/>
                        </a:spcBef>
                      </a:pPr>
                      <a:r>
                        <a:rPr sz="1000" dirty="0">
                          <a:latin typeface="Times New Roman"/>
                          <a:cs typeface="Times New Roman"/>
                        </a:rPr>
                        <a:t>Needs</a:t>
                      </a:r>
                      <a:r>
                        <a:rPr sz="1000" spc="-20" dirty="0">
                          <a:latin typeface="Times New Roman"/>
                          <a:cs typeface="Times New Roman"/>
                        </a:rPr>
                        <a:t> </a:t>
                      </a:r>
                      <a:r>
                        <a:rPr sz="1000" dirty="0">
                          <a:latin typeface="Times New Roman"/>
                          <a:cs typeface="Times New Roman"/>
                        </a:rPr>
                        <a:t>validation</a:t>
                      </a:r>
                      <a:r>
                        <a:rPr sz="1000" spc="-60" dirty="0">
                          <a:latin typeface="Times New Roman"/>
                          <a:cs typeface="Times New Roman"/>
                        </a:rPr>
                        <a:t> </a:t>
                      </a:r>
                      <a:r>
                        <a:rPr sz="1000" dirty="0">
                          <a:latin typeface="Times New Roman"/>
                          <a:cs typeface="Times New Roman"/>
                        </a:rPr>
                        <a:t>on</a:t>
                      </a:r>
                      <a:r>
                        <a:rPr sz="1000" spc="-25" dirty="0">
                          <a:latin typeface="Times New Roman"/>
                          <a:cs typeface="Times New Roman"/>
                        </a:rPr>
                        <a:t> </a:t>
                      </a:r>
                      <a:r>
                        <a:rPr sz="1000" spc="-20" dirty="0">
                          <a:latin typeface="Times New Roman"/>
                          <a:cs typeface="Times New Roman"/>
                        </a:rPr>
                        <a:t>newer</a:t>
                      </a:r>
                      <a:endParaRPr sz="1000">
                        <a:latin typeface="Times New Roman"/>
                        <a:cs typeface="Times New Roman"/>
                      </a:endParaRPr>
                    </a:p>
                    <a:p>
                      <a:pPr marL="12065">
                        <a:lnSpc>
                          <a:spcPct val="100000"/>
                        </a:lnSpc>
                      </a:pPr>
                      <a:r>
                        <a:rPr sz="1000" dirty="0">
                          <a:latin typeface="Times New Roman"/>
                          <a:cs typeface="Times New Roman"/>
                        </a:rPr>
                        <a:t>transformer</a:t>
                      </a:r>
                      <a:r>
                        <a:rPr sz="1000" spc="-50" dirty="0">
                          <a:latin typeface="Times New Roman"/>
                          <a:cs typeface="Times New Roman"/>
                        </a:rPr>
                        <a:t> </a:t>
                      </a:r>
                      <a:r>
                        <a:rPr sz="1000" spc="-10" dirty="0">
                          <a:latin typeface="Times New Roman"/>
                          <a:cs typeface="Times New Roman"/>
                        </a:rPr>
                        <a:t>models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35025">
                <a:tc>
                  <a:txBody>
                    <a:bodyPr/>
                    <a:lstStyle/>
                    <a:p>
                      <a:pPr marL="91440">
                        <a:lnSpc>
                          <a:spcPct val="100000"/>
                        </a:lnSpc>
                        <a:spcBef>
                          <a:spcPts val="195"/>
                        </a:spcBef>
                      </a:pPr>
                      <a:r>
                        <a:rPr sz="1400" spc="-50" dirty="0">
                          <a:latin typeface="Calibri"/>
                          <a:cs typeface="Calibri"/>
                        </a:rPr>
                        <a:t>2</a:t>
                      </a:r>
                      <a:endParaRPr sz="1400">
                        <a:latin typeface="Calibri"/>
                        <a:cs typeface="Calibri"/>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9525" marR="344805">
                        <a:lnSpc>
                          <a:spcPct val="100000"/>
                        </a:lnSpc>
                      </a:pPr>
                      <a:r>
                        <a:rPr sz="1000" dirty="0">
                          <a:latin typeface="Times New Roman"/>
                          <a:cs typeface="Times New Roman"/>
                        </a:rPr>
                        <a:t>Social</a:t>
                      </a:r>
                      <a:r>
                        <a:rPr sz="1000" spc="-30" dirty="0">
                          <a:latin typeface="Times New Roman"/>
                          <a:cs typeface="Times New Roman"/>
                        </a:rPr>
                        <a:t> </a:t>
                      </a:r>
                      <a:r>
                        <a:rPr sz="1000" dirty="0">
                          <a:latin typeface="Times New Roman"/>
                          <a:cs typeface="Times New Roman"/>
                        </a:rPr>
                        <a:t>Bot</a:t>
                      </a:r>
                      <a:r>
                        <a:rPr sz="1000" spc="-25" dirty="0">
                          <a:latin typeface="Times New Roman"/>
                          <a:cs typeface="Times New Roman"/>
                        </a:rPr>
                        <a:t> </a:t>
                      </a:r>
                      <a:r>
                        <a:rPr sz="1000" dirty="0">
                          <a:latin typeface="Times New Roman"/>
                          <a:cs typeface="Times New Roman"/>
                        </a:rPr>
                        <a:t>Detection</a:t>
                      </a:r>
                      <a:r>
                        <a:rPr sz="1000" spc="-15" dirty="0">
                          <a:latin typeface="Times New Roman"/>
                          <a:cs typeface="Times New Roman"/>
                        </a:rPr>
                        <a:t> </a:t>
                      </a:r>
                      <a:r>
                        <a:rPr sz="1000" dirty="0">
                          <a:latin typeface="Times New Roman"/>
                          <a:cs typeface="Times New Roman"/>
                        </a:rPr>
                        <a:t>Using</a:t>
                      </a:r>
                      <a:r>
                        <a:rPr sz="1000" spc="-55" dirty="0">
                          <a:latin typeface="Times New Roman"/>
                          <a:cs typeface="Times New Roman"/>
                        </a:rPr>
                        <a:t> </a:t>
                      </a:r>
                      <a:r>
                        <a:rPr sz="1000" spc="-20" dirty="0">
                          <a:latin typeface="Times New Roman"/>
                          <a:cs typeface="Times New Roman"/>
                        </a:rPr>
                        <a:t>Deep </a:t>
                      </a:r>
                      <a:r>
                        <a:rPr sz="1000" spc="-10" dirty="0">
                          <a:latin typeface="Times New Roman"/>
                          <a:cs typeface="Times New Roman"/>
                        </a:rPr>
                        <a:t>Learning</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375"/>
                        </a:spcBef>
                      </a:pPr>
                      <a:endParaRPr sz="1000">
                        <a:latin typeface="Times New Roman"/>
                        <a:cs typeface="Times New Roman"/>
                      </a:endParaRPr>
                    </a:p>
                    <a:p>
                      <a:pPr marL="10160">
                        <a:lnSpc>
                          <a:spcPct val="100000"/>
                        </a:lnSpc>
                      </a:pPr>
                      <a:r>
                        <a:rPr sz="1000" dirty="0">
                          <a:latin typeface="Times New Roman"/>
                          <a:cs typeface="Times New Roman"/>
                        </a:rPr>
                        <a:t>Chu</a:t>
                      </a:r>
                      <a:r>
                        <a:rPr sz="1000" spc="-30" dirty="0">
                          <a:latin typeface="Times New Roman"/>
                          <a:cs typeface="Times New Roman"/>
                        </a:rPr>
                        <a:t> </a:t>
                      </a:r>
                      <a:r>
                        <a:rPr sz="1000" dirty="0">
                          <a:latin typeface="Times New Roman"/>
                          <a:cs typeface="Times New Roman"/>
                        </a:rPr>
                        <a:t>et</a:t>
                      </a:r>
                      <a:r>
                        <a:rPr sz="1000" spc="5" dirty="0">
                          <a:latin typeface="Times New Roman"/>
                          <a:cs typeface="Times New Roman"/>
                        </a:rPr>
                        <a:t> </a:t>
                      </a:r>
                      <a:r>
                        <a:rPr sz="1000" dirty="0">
                          <a:latin typeface="Times New Roman"/>
                          <a:cs typeface="Times New Roman"/>
                        </a:rPr>
                        <a:t>al.,</a:t>
                      </a:r>
                      <a:r>
                        <a:rPr sz="1000" spc="-20" dirty="0">
                          <a:latin typeface="Times New Roman"/>
                          <a:cs typeface="Times New Roman"/>
                        </a:rPr>
                        <a:t> </a:t>
                      </a:r>
                      <a:r>
                        <a:rPr sz="1000" dirty="0">
                          <a:latin typeface="Times New Roman"/>
                          <a:cs typeface="Times New Roman"/>
                        </a:rPr>
                        <a:t>2012,</a:t>
                      </a:r>
                      <a:r>
                        <a:rPr sz="1000" spc="-15" dirty="0">
                          <a:latin typeface="Times New Roman"/>
                          <a:cs typeface="Times New Roman"/>
                        </a:rPr>
                        <a:t> </a:t>
                      </a:r>
                      <a:r>
                        <a:rPr sz="1000" dirty="0">
                          <a:latin typeface="Times New Roman"/>
                          <a:cs typeface="Times New Roman"/>
                        </a:rPr>
                        <a:t>IEEE</a:t>
                      </a:r>
                      <a:r>
                        <a:rPr sz="1000" spc="-25" dirty="0">
                          <a:latin typeface="Times New Roman"/>
                          <a:cs typeface="Times New Roman"/>
                        </a:rPr>
                        <a:t> </a:t>
                      </a:r>
                      <a:r>
                        <a:rPr sz="1000" spc="-20" dirty="0">
                          <a:latin typeface="Times New Roman"/>
                          <a:cs typeface="Times New Roman"/>
                        </a:rPr>
                        <a:t>TDSC</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0160" marR="41910">
                        <a:lnSpc>
                          <a:spcPct val="100000"/>
                        </a:lnSpc>
                      </a:pPr>
                      <a:r>
                        <a:rPr sz="1000" u="sng" spc="-10" dirty="0">
                          <a:solidFill>
                            <a:srgbClr val="0000FF"/>
                          </a:solidFill>
                          <a:uFill>
                            <a:solidFill>
                              <a:srgbClr val="0000FF"/>
                            </a:solidFill>
                          </a:uFill>
                          <a:latin typeface="Times New Roman"/>
                          <a:cs typeface="Times New Roman"/>
                          <a:hlinkClick r:id="rId3"/>
                        </a:rPr>
                        <a:t>https://ieeexplore.ieee.org/docum</a:t>
                      </a:r>
                      <a:r>
                        <a:rPr sz="1000" spc="-10" dirty="0">
                          <a:solidFill>
                            <a:srgbClr val="0000FF"/>
                          </a:solidFill>
                          <a:latin typeface="Times New Roman"/>
                          <a:cs typeface="Times New Roman"/>
                          <a:hlinkClick r:id="rId3"/>
                        </a:rPr>
                        <a:t> </a:t>
                      </a:r>
                      <a:r>
                        <a:rPr sz="1000" u="sng" spc="-10" dirty="0">
                          <a:solidFill>
                            <a:srgbClr val="0000FF"/>
                          </a:solidFill>
                          <a:uFill>
                            <a:solidFill>
                              <a:srgbClr val="0000FF"/>
                            </a:solidFill>
                          </a:uFill>
                          <a:latin typeface="Times New Roman"/>
                          <a:cs typeface="Times New Roman"/>
                          <a:hlinkClick r:id="rId3"/>
                        </a:rPr>
                        <a:t>ent/6280553</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0795" marR="144780">
                        <a:lnSpc>
                          <a:spcPct val="100000"/>
                        </a:lnSpc>
                      </a:pPr>
                      <a:r>
                        <a:rPr sz="1000" dirty="0">
                          <a:latin typeface="Times New Roman"/>
                          <a:cs typeface="Times New Roman"/>
                        </a:rPr>
                        <a:t>Behavioral</a:t>
                      </a:r>
                      <a:r>
                        <a:rPr sz="1000" spc="-45" dirty="0">
                          <a:latin typeface="Times New Roman"/>
                          <a:cs typeface="Times New Roman"/>
                        </a:rPr>
                        <a:t> </a:t>
                      </a:r>
                      <a:r>
                        <a:rPr sz="1000" dirty="0">
                          <a:latin typeface="Times New Roman"/>
                          <a:cs typeface="Times New Roman"/>
                        </a:rPr>
                        <a:t>features,</a:t>
                      </a:r>
                      <a:r>
                        <a:rPr sz="1000" spc="-40" dirty="0">
                          <a:latin typeface="Times New Roman"/>
                          <a:cs typeface="Times New Roman"/>
                        </a:rPr>
                        <a:t> </a:t>
                      </a:r>
                      <a:r>
                        <a:rPr sz="1000" dirty="0">
                          <a:latin typeface="Times New Roman"/>
                          <a:cs typeface="Times New Roman"/>
                        </a:rPr>
                        <a:t>activity</a:t>
                      </a:r>
                      <a:r>
                        <a:rPr sz="1000" spc="-55" dirty="0">
                          <a:latin typeface="Times New Roman"/>
                          <a:cs typeface="Times New Roman"/>
                        </a:rPr>
                        <a:t> </a:t>
                      </a:r>
                      <a:r>
                        <a:rPr sz="1000" spc="-10" dirty="0">
                          <a:latin typeface="Times New Roman"/>
                          <a:cs typeface="Times New Roman"/>
                        </a:rPr>
                        <a:t>pattern mining</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1430" marR="347980">
                        <a:lnSpc>
                          <a:spcPct val="100000"/>
                        </a:lnSpc>
                      </a:pPr>
                      <a:r>
                        <a:rPr sz="1000" spc="-10" dirty="0">
                          <a:latin typeface="Times New Roman"/>
                          <a:cs typeface="Times New Roman"/>
                        </a:rPr>
                        <a:t>Pioneering</a:t>
                      </a:r>
                      <a:r>
                        <a:rPr sz="1000" spc="-45" dirty="0">
                          <a:latin typeface="Times New Roman"/>
                          <a:cs typeface="Times New Roman"/>
                        </a:rPr>
                        <a:t> </a:t>
                      </a:r>
                      <a:r>
                        <a:rPr sz="1000" dirty="0">
                          <a:latin typeface="Times New Roman"/>
                          <a:cs typeface="Times New Roman"/>
                        </a:rPr>
                        <a:t>study</a:t>
                      </a:r>
                      <a:r>
                        <a:rPr sz="1000" spc="10" dirty="0">
                          <a:latin typeface="Times New Roman"/>
                          <a:cs typeface="Times New Roman"/>
                        </a:rPr>
                        <a:t> </a:t>
                      </a:r>
                      <a:r>
                        <a:rPr sz="1000" dirty="0">
                          <a:latin typeface="Times New Roman"/>
                          <a:cs typeface="Times New Roman"/>
                        </a:rPr>
                        <a:t>of</a:t>
                      </a:r>
                      <a:r>
                        <a:rPr sz="1000" spc="35" dirty="0">
                          <a:latin typeface="Times New Roman"/>
                          <a:cs typeface="Times New Roman"/>
                        </a:rPr>
                        <a:t> </a:t>
                      </a:r>
                      <a:r>
                        <a:rPr sz="1000" spc="-20" dirty="0">
                          <a:latin typeface="Times New Roman"/>
                          <a:cs typeface="Times New Roman"/>
                        </a:rPr>
                        <a:t>bots, </a:t>
                      </a:r>
                      <a:r>
                        <a:rPr sz="1000" spc="-10" dirty="0">
                          <a:latin typeface="Times New Roman"/>
                          <a:cs typeface="Times New Roman"/>
                        </a:rPr>
                        <a:t>cyborgs,</a:t>
                      </a:r>
                      <a:r>
                        <a:rPr sz="1000" spc="5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humans</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375"/>
                        </a:spcBef>
                      </a:pPr>
                      <a:endParaRPr sz="1000">
                        <a:latin typeface="Times New Roman"/>
                        <a:cs typeface="Times New Roman"/>
                      </a:endParaRPr>
                    </a:p>
                    <a:p>
                      <a:pPr marL="12065">
                        <a:lnSpc>
                          <a:spcPct val="100000"/>
                        </a:lnSpc>
                      </a:pPr>
                      <a:r>
                        <a:rPr sz="1000" dirty="0">
                          <a:latin typeface="Times New Roman"/>
                          <a:cs typeface="Times New Roman"/>
                        </a:rPr>
                        <a:t>Outdated</a:t>
                      </a:r>
                      <a:r>
                        <a:rPr sz="1000" spc="-20" dirty="0">
                          <a:latin typeface="Times New Roman"/>
                          <a:cs typeface="Times New Roman"/>
                        </a:rPr>
                        <a:t> </a:t>
                      </a:r>
                      <a:r>
                        <a:rPr sz="1000" dirty="0">
                          <a:latin typeface="Times New Roman"/>
                          <a:cs typeface="Times New Roman"/>
                        </a:rPr>
                        <a:t>dataset</a:t>
                      </a:r>
                      <a:r>
                        <a:rPr sz="1000" spc="-3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spc="-10" dirty="0">
                          <a:latin typeface="Times New Roman"/>
                          <a:cs typeface="Times New Roman"/>
                        </a:rPr>
                        <a:t>models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064895">
                <a:tc>
                  <a:txBody>
                    <a:bodyPr/>
                    <a:lstStyle/>
                    <a:p>
                      <a:pPr marL="91440">
                        <a:lnSpc>
                          <a:spcPct val="100000"/>
                        </a:lnSpc>
                        <a:spcBef>
                          <a:spcPts val="204"/>
                        </a:spcBef>
                      </a:pPr>
                      <a:r>
                        <a:rPr sz="1400" spc="-50" dirty="0">
                          <a:latin typeface="Calibri"/>
                          <a:cs typeface="Calibri"/>
                        </a:rPr>
                        <a:t>3</a:t>
                      </a:r>
                      <a:endParaRPr sz="1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9525" marR="582930">
                        <a:lnSpc>
                          <a:spcPct val="100000"/>
                        </a:lnSpc>
                      </a:pPr>
                      <a:r>
                        <a:rPr sz="1000" dirty="0">
                          <a:latin typeface="Times New Roman"/>
                          <a:cs typeface="Times New Roman"/>
                        </a:rPr>
                        <a:t>Twitter</a:t>
                      </a:r>
                      <a:r>
                        <a:rPr sz="1000" spc="-65" dirty="0">
                          <a:latin typeface="Times New Roman"/>
                          <a:cs typeface="Times New Roman"/>
                        </a:rPr>
                        <a:t> </a:t>
                      </a:r>
                      <a:r>
                        <a:rPr sz="1000" dirty="0">
                          <a:latin typeface="Times New Roman"/>
                          <a:cs typeface="Times New Roman"/>
                        </a:rPr>
                        <a:t>Bot</a:t>
                      </a:r>
                      <a:r>
                        <a:rPr sz="1000" spc="-15" dirty="0">
                          <a:latin typeface="Times New Roman"/>
                          <a:cs typeface="Times New Roman"/>
                        </a:rPr>
                        <a:t> </a:t>
                      </a:r>
                      <a:r>
                        <a:rPr sz="1000" dirty="0">
                          <a:latin typeface="Times New Roman"/>
                          <a:cs typeface="Times New Roman"/>
                        </a:rPr>
                        <a:t>Detection</a:t>
                      </a:r>
                      <a:r>
                        <a:rPr sz="1000" spc="-25" dirty="0">
                          <a:latin typeface="Times New Roman"/>
                          <a:cs typeface="Times New Roman"/>
                        </a:rPr>
                        <a:t> </a:t>
                      </a:r>
                      <a:r>
                        <a:rPr sz="1000" spc="-20" dirty="0">
                          <a:latin typeface="Times New Roman"/>
                          <a:cs typeface="Times New Roman"/>
                        </a:rPr>
                        <a:t>Using </a:t>
                      </a:r>
                      <a:r>
                        <a:rPr sz="1000" dirty="0">
                          <a:latin typeface="Times New Roman"/>
                          <a:cs typeface="Times New Roman"/>
                        </a:rPr>
                        <a:t>Transformer-</a:t>
                      </a:r>
                      <a:r>
                        <a:rPr sz="1000" spc="-10" dirty="0">
                          <a:latin typeface="Times New Roman"/>
                          <a:cs typeface="Times New Roman"/>
                        </a:rPr>
                        <a:t>based</a:t>
                      </a:r>
                      <a:r>
                        <a:rPr sz="1000" spc="-20" dirty="0">
                          <a:latin typeface="Times New Roman"/>
                          <a:cs typeface="Times New Roman"/>
                        </a:rPr>
                        <a:t> </a:t>
                      </a:r>
                      <a:r>
                        <a:rPr sz="1000" spc="-10" dirty="0">
                          <a:latin typeface="Times New Roman"/>
                          <a:cs typeface="Times New Roman"/>
                        </a:rPr>
                        <a:t>Models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130"/>
                        </a:spcBef>
                      </a:pPr>
                      <a:endParaRPr sz="1000">
                        <a:latin typeface="Times New Roman"/>
                        <a:cs typeface="Times New Roman"/>
                      </a:endParaRPr>
                    </a:p>
                    <a:p>
                      <a:pPr marL="10160">
                        <a:lnSpc>
                          <a:spcPct val="100000"/>
                        </a:lnSpc>
                      </a:pPr>
                      <a:r>
                        <a:rPr sz="1000" dirty="0">
                          <a:latin typeface="Times New Roman"/>
                          <a:cs typeface="Times New Roman"/>
                        </a:rPr>
                        <a:t>Satya R.</a:t>
                      </a:r>
                      <a:r>
                        <a:rPr sz="1000" spc="5" dirty="0">
                          <a:latin typeface="Times New Roman"/>
                          <a:cs typeface="Times New Roman"/>
                        </a:rPr>
                        <a:t> </a:t>
                      </a:r>
                      <a:r>
                        <a:rPr sz="1000" dirty="0">
                          <a:latin typeface="Times New Roman"/>
                          <a:cs typeface="Times New Roman"/>
                        </a:rPr>
                        <a:t>et</a:t>
                      </a:r>
                      <a:r>
                        <a:rPr sz="1000" spc="-20" dirty="0">
                          <a:latin typeface="Times New Roman"/>
                          <a:cs typeface="Times New Roman"/>
                        </a:rPr>
                        <a:t> </a:t>
                      </a:r>
                      <a:r>
                        <a:rPr sz="1000" dirty="0">
                          <a:latin typeface="Times New Roman"/>
                          <a:cs typeface="Times New Roman"/>
                        </a:rPr>
                        <a:t>al.,</a:t>
                      </a:r>
                      <a:r>
                        <a:rPr sz="1000" spc="-35" dirty="0">
                          <a:latin typeface="Times New Roman"/>
                          <a:cs typeface="Times New Roman"/>
                        </a:rPr>
                        <a:t> </a:t>
                      </a:r>
                      <a:r>
                        <a:rPr sz="1000" dirty="0">
                          <a:latin typeface="Times New Roman"/>
                          <a:cs typeface="Times New Roman"/>
                        </a:rPr>
                        <a:t>2023,</a:t>
                      </a:r>
                      <a:r>
                        <a:rPr sz="1000" spc="-40" dirty="0">
                          <a:latin typeface="Times New Roman"/>
                          <a:cs typeface="Times New Roman"/>
                        </a:rPr>
                        <a:t> </a:t>
                      </a:r>
                      <a:r>
                        <a:rPr sz="1000" spc="-20" dirty="0">
                          <a:latin typeface="Times New Roman"/>
                          <a:cs typeface="Times New Roman"/>
                        </a:rPr>
                        <a:t>IEEE</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0160" marR="41910">
                        <a:lnSpc>
                          <a:spcPct val="100000"/>
                        </a:lnSpc>
                      </a:pPr>
                      <a:r>
                        <a:rPr sz="1000" u="sng" spc="-10" dirty="0">
                          <a:solidFill>
                            <a:srgbClr val="0000FF"/>
                          </a:solidFill>
                          <a:uFill>
                            <a:solidFill>
                              <a:srgbClr val="0000FF"/>
                            </a:solidFill>
                          </a:uFill>
                          <a:latin typeface="Times New Roman"/>
                          <a:cs typeface="Times New Roman"/>
                          <a:hlinkClick r:id="rId4"/>
                        </a:rPr>
                        <a:t>https://ieeexplore.ieee.org/docum</a:t>
                      </a:r>
                      <a:r>
                        <a:rPr sz="1000" spc="-10" dirty="0">
                          <a:solidFill>
                            <a:srgbClr val="0000FF"/>
                          </a:solidFill>
                          <a:latin typeface="Times New Roman"/>
                          <a:cs typeface="Times New Roman"/>
                          <a:hlinkClick r:id="rId4"/>
                        </a:rPr>
                        <a:t> </a:t>
                      </a:r>
                      <a:r>
                        <a:rPr sz="1000" u="sng" spc="-10" dirty="0">
                          <a:solidFill>
                            <a:srgbClr val="0000FF"/>
                          </a:solidFill>
                          <a:uFill>
                            <a:solidFill>
                              <a:srgbClr val="0000FF"/>
                            </a:solidFill>
                          </a:uFill>
                          <a:latin typeface="Times New Roman"/>
                          <a:cs typeface="Times New Roman"/>
                          <a:hlinkClick r:id="rId4"/>
                        </a:rPr>
                        <a:t>ent/10064110</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130"/>
                        </a:spcBef>
                      </a:pPr>
                      <a:endParaRPr sz="1000">
                        <a:latin typeface="Times New Roman"/>
                        <a:cs typeface="Times New Roman"/>
                      </a:endParaRPr>
                    </a:p>
                    <a:p>
                      <a:pPr marL="10795">
                        <a:lnSpc>
                          <a:spcPct val="100000"/>
                        </a:lnSpc>
                      </a:pPr>
                      <a:r>
                        <a:rPr sz="1000" dirty="0">
                          <a:latin typeface="Times New Roman"/>
                          <a:cs typeface="Times New Roman"/>
                        </a:rPr>
                        <a:t>Tweet</a:t>
                      </a:r>
                      <a:r>
                        <a:rPr sz="1000" spc="10" dirty="0">
                          <a:latin typeface="Times New Roman"/>
                          <a:cs typeface="Times New Roman"/>
                        </a:rPr>
                        <a:t> </a:t>
                      </a:r>
                      <a:r>
                        <a:rPr sz="1000" dirty="0">
                          <a:latin typeface="Times New Roman"/>
                          <a:cs typeface="Times New Roman"/>
                        </a:rPr>
                        <a:t>and</a:t>
                      </a:r>
                      <a:r>
                        <a:rPr sz="1000" spc="-50" dirty="0">
                          <a:latin typeface="Times New Roman"/>
                          <a:cs typeface="Times New Roman"/>
                        </a:rPr>
                        <a:t> </a:t>
                      </a:r>
                      <a:r>
                        <a:rPr sz="1000" dirty="0">
                          <a:latin typeface="Times New Roman"/>
                          <a:cs typeface="Times New Roman"/>
                        </a:rPr>
                        <a:t>metadata</a:t>
                      </a:r>
                      <a:r>
                        <a:rPr sz="1000" spc="-65" dirty="0">
                          <a:latin typeface="Times New Roman"/>
                          <a:cs typeface="Times New Roman"/>
                        </a:rPr>
                        <a:t> </a:t>
                      </a:r>
                      <a:r>
                        <a:rPr sz="1000" spc="-10" dirty="0">
                          <a:latin typeface="Times New Roman"/>
                          <a:cs typeface="Times New Roman"/>
                        </a:rPr>
                        <a:t>preprocessing</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1430" marR="259079">
                        <a:lnSpc>
                          <a:spcPct val="100000"/>
                        </a:lnSpc>
                      </a:pPr>
                      <a:r>
                        <a:rPr sz="1000" dirty="0">
                          <a:latin typeface="Times New Roman"/>
                          <a:cs typeface="Times New Roman"/>
                        </a:rPr>
                        <a:t>RoBERTa</a:t>
                      </a:r>
                      <a:r>
                        <a:rPr sz="1000" spc="-35" dirty="0">
                          <a:latin typeface="Times New Roman"/>
                          <a:cs typeface="Times New Roman"/>
                        </a:rPr>
                        <a:t> </a:t>
                      </a:r>
                      <a:r>
                        <a:rPr sz="1000" dirty="0">
                          <a:latin typeface="Times New Roman"/>
                          <a:cs typeface="Times New Roman"/>
                        </a:rPr>
                        <a:t>showed</a:t>
                      </a:r>
                      <a:r>
                        <a:rPr sz="1000" spc="-40" dirty="0">
                          <a:latin typeface="Times New Roman"/>
                          <a:cs typeface="Times New Roman"/>
                        </a:rPr>
                        <a:t> </a:t>
                      </a:r>
                      <a:r>
                        <a:rPr sz="1000" spc="-10" dirty="0">
                          <a:latin typeface="Times New Roman"/>
                          <a:cs typeface="Times New Roman"/>
                        </a:rPr>
                        <a:t>highest performance</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680"/>
                        </a:spcBef>
                      </a:pPr>
                      <a:endParaRPr sz="1000">
                        <a:latin typeface="Times New Roman"/>
                        <a:cs typeface="Times New Roman"/>
                      </a:endParaRPr>
                    </a:p>
                    <a:p>
                      <a:pPr marL="12065" marR="61594">
                        <a:lnSpc>
                          <a:spcPct val="100000"/>
                        </a:lnSpc>
                      </a:pPr>
                      <a:r>
                        <a:rPr sz="1000" dirty="0">
                          <a:latin typeface="Times New Roman"/>
                          <a:cs typeface="Times New Roman"/>
                        </a:rPr>
                        <a:t>Not</a:t>
                      </a:r>
                      <a:r>
                        <a:rPr sz="1000" spc="-30" dirty="0">
                          <a:latin typeface="Times New Roman"/>
                          <a:cs typeface="Times New Roman"/>
                        </a:rPr>
                        <a:t> </a:t>
                      </a:r>
                      <a:r>
                        <a:rPr sz="1000" dirty="0">
                          <a:latin typeface="Times New Roman"/>
                          <a:cs typeface="Times New Roman"/>
                        </a:rPr>
                        <a:t>evaluated</a:t>
                      </a:r>
                      <a:r>
                        <a:rPr sz="1000" spc="-35" dirty="0">
                          <a:latin typeface="Times New Roman"/>
                          <a:cs typeface="Times New Roman"/>
                        </a:rPr>
                        <a:t> </a:t>
                      </a:r>
                      <a:r>
                        <a:rPr sz="1000" dirty="0">
                          <a:latin typeface="Times New Roman"/>
                          <a:cs typeface="Times New Roman"/>
                        </a:rPr>
                        <a:t>for</a:t>
                      </a:r>
                      <a:r>
                        <a:rPr sz="1000" spc="-15" dirty="0">
                          <a:latin typeface="Times New Roman"/>
                          <a:cs typeface="Times New Roman"/>
                        </a:rPr>
                        <a:t> </a:t>
                      </a:r>
                      <a:r>
                        <a:rPr sz="1000" spc="-10" dirty="0">
                          <a:latin typeface="Times New Roman"/>
                          <a:cs typeface="Times New Roman"/>
                        </a:rPr>
                        <a:t>multilingual </a:t>
                      </a:r>
                      <a:r>
                        <a:rPr sz="1000" spc="-20" dirty="0">
                          <a:latin typeface="Times New Roman"/>
                          <a:cs typeface="Times New Roman"/>
                        </a:rPr>
                        <a:t>bots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44244">
                <a:tc>
                  <a:txBody>
                    <a:bodyPr/>
                    <a:lstStyle/>
                    <a:p>
                      <a:pPr marL="91440">
                        <a:lnSpc>
                          <a:spcPct val="100000"/>
                        </a:lnSpc>
                        <a:spcBef>
                          <a:spcPts val="220"/>
                        </a:spcBef>
                      </a:pPr>
                      <a:r>
                        <a:rPr sz="1400" spc="-50" dirty="0">
                          <a:latin typeface="Calibri"/>
                          <a:cs typeface="Calibri"/>
                        </a:rPr>
                        <a:t>4</a:t>
                      </a:r>
                      <a:endParaRPr sz="1400">
                        <a:latin typeface="Calibri"/>
                        <a:cs typeface="Calibri"/>
                      </a:endParaRPr>
                    </a:p>
                  </a:txBody>
                  <a:tcPr marL="0" marR="0" marT="279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204"/>
                        </a:spcBef>
                      </a:pPr>
                      <a:endParaRPr sz="1000">
                        <a:latin typeface="Times New Roman"/>
                        <a:cs typeface="Times New Roman"/>
                      </a:endParaRPr>
                    </a:p>
                    <a:p>
                      <a:pPr marL="9525">
                        <a:lnSpc>
                          <a:spcPct val="100000"/>
                        </a:lnSpc>
                        <a:spcBef>
                          <a:spcPts val="5"/>
                        </a:spcBef>
                      </a:pPr>
                      <a:r>
                        <a:rPr sz="1000" dirty="0">
                          <a:latin typeface="Times New Roman"/>
                          <a:cs typeface="Times New Roman"/>
                        </a:rPr>
                        <a:t>Graph</a:t>
                      </a:r>
                      <a:r>
                        <a:rPr sz="1000" spc="-65" dirty="0">
                          <a:latin typeface="Times New Roman"/>
                          <a:cs typeface="Times New Roman"/>
                        </a:rPr>
                        <a:t> </a:t>
                      </a:r>
                      <a:r>
                        <a:rPr sz="1000" dirty="0">
                          <a:latin typeface="Times New Roman"/>
                          <a:cs typeface="Times New Roman"/>
                        </a:rPr>
                        <a:t>Neural</a:t>
                      </a:r>
                      <a:r>
                        <a:rPr sz="1000" spc="-45" dirty="0">
                          <a:latin typeface="Times New Roman"/>
                          <a:cs typeface="Times New Roman"/>
                        </a:rPr>
                        <a:t> </a:t>
                      </a:r>
                      <a:r>
                        <a:rPr sz="1000" dirty="0">
                          <a:latin typeface="Times New Roman"/>
                          <a:cs typeface="Times New Roman"/>
                        </a:rPr>
                        <a:t>Networks</a:t>
                      </a:r>
                      <a:r>
                        <a:rPr sz="1000" spc="-15" dirty="0">
                          <a:latin typeface="Times New Roman"/>
                          <a:cs typeface="Times New Roman"/>
                        </a:rPr>
                        <a:t> </a:t>
                      </a:r>
                      <a:r>
                        <a:rPr sz="1000" dirty="0">
                          <a:latin typeface="Times New Roman"/>
                          <a:cs typeface="Times New Roman"/>
                        </a:rPr>
                        <a:t>for</a:t>
                      </a:r>
                      <a:r>
                        <a:rPr sz="1000" spc="-5" dirty="0">
                          <a:latin typeface="Times New Roman"/>
                          <a:cs typeface="Times New Roman"/>
                        </a:rPr>
                        <a:t> </a:t>
                      </a:r>
                      <a:r>
                        <a:rPr sz="1000" dirty="0">
                          <a:latin typeface="Times New Roman"/>
                          <a:cs typeface="Times New Roman"/>
                        </a:rPr>
                        <a:t>Social</a:t>
                      </a:r>
                      <a:r>
                        <a:rPr sz="1000" spc="-35" dirty="0">
                          <a:latin typeface="Times New Roman"/>
                          <a:cs typeface="Times New Roman"/>
                        </a:rPr>
                        <a:t> </a:t>
                      </a:r>
                      <a:r>
                        <a:rPr sz="1000" spc="-25" dirty="0">
                          <a:latin typeface="Times New Roman"/>
                          <a:cs typeface="Times New Roman"/>
                        </a:rPr>
                        <a:t>Bot</a:t>
                      </a:r>
                      <a:endParaRPr sz="1000">
                        <a:latin typeface="Times New Roman"/>
                        <a:cs typeface="Times New Roman"/>
                      </a:endParaRPr>
                    </a:p>
                    <a:p>
                      <a:pPr marL="9525">
                        <a:lnSpc>
                          <a:spcPct val="100000"/>
                        </a:lnSpc>
                      </a:pPr>
                      <a:r>
                        <a:rPr sz="1000" spc="-10" dirty="0">
                          <a:latin typeface="Times New Roman"/>
                          <a:cs typeface="Times New Roman"/>
                        </a:rPr>
                        <a:t>Detection</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805"/>
                        </a:spcBef>
                      </a:pPr>
                      <a:endParaRPr sz="1000">
                        <a:latin typeface="Times New Roman"/>
                        <a:cs typeface="Times New Roman"/>
                      </a:endParaRPr>
                    </a:p>
                    <a:p>
                      <a:pPr marL="10160">
                        <a:lnSpc>
                          <a:spcPct val="100000"/>
                        </a:lnSpc>
                        <a:spcBef>
                          <a:spcPts val="5"/>
                        </a:spcBef>
                      </a:pPr>
                      <a:r>
                        <a:rPr sz="1000" dirty="0">
                          <a:latin typeface="Times New Roman"/>
                          <a:cs typeface="Times New Roman"/>
                        </a:rPr>
                        <a:t>Tanvi</a:t>
                      </a:r>
                      <a:r>
                        <a:rPr sz="1000" spc="-25" dirty="0">
                          <a:latin typeface="Times New Roman"/>
                          <a:cs typeface="Times New Roman"/>
                        </a:rPr>
                        <a:t> </a:t>
                      </a:r>
                      <a:r>
                        <a:rPr sz="1000" dirty="0">
                          <a:latin typeface="Times New Roman"/>
                          <a:cs typeface="Times New Roman"/>
                        </a:rPr>
                        <a:t>Jain</a:t>
                      </a:r>
                      <a:r>
                        <a:rPr sz="1000" spc="-30" dirty="0">
                          <a:latin typeface="Times New Roman"/>
                          <a:cs typeface="Times New Roman"/>
                        </a:rPr>
                        <a:t> </a:t>
                      </a:r>
                      <a:r>
                        <a:rPr sz="1000" dirty="0">
                          <a:latin typeface="Times New Roman"/>
                          <a:cs typeface="Times New Roman"/>
                        </a:rPr>
                        <a:t>et</a:t>
                      </a:r>
                      <a:r>
                        <a:rPr sz="1000" spc="25" dirty="0">
                          <a:latin typeface="Times New Roman"/>
                          <a:cs typeface="Times New Roman"/>
                        </a:rPr>
                        <a:t> </a:t>
                      </a:r>
                      <a:r>
                        <a:rPr sz="1000" dirty="0">
                          <a:latin typeface="Times New Roman"/>
                          <a:cs typeface="Times New Roman"/>
                        </a:rPr>
                        <a:t>al.,</a:t>
                      </a:r>
                      <a:r>
                        <a:rPr sz="1000" spc="-15" dirty="0">
                          <a:latin typeface="Times New Roman"/>
                          <a:cs typeface="Times New Roman"/>
                        </a:rPr>
                        <a:t> </a:t>
                      </a:r>
                      <a:r>
                        <a:rPr sz="1000" dirty="0">
                          <a:latin typeface="Times New Roman"/>
                          <a:cs typeface="Times New Roman"/>
                        </a:rPr>
                        <a:t>2024,</a:t>
                      </a:r>
                      <a:r>
                        <a:rPr sz="1000" spc="-15" dirty="0">
                          <a:latin typeface="Times New Roman"/>
                          <a:cs typeface="Times New Roman"/>
                        </a:rPr>
                        <a:t> </a:t>
                      </a:r>
                      <a:r>
                        <a:rPr sz="1000" spc="-20" dirty="0">
                          <a:latin typeface="Times New Roman"/>
                          <a:cs typeface="Times New Roman"/>
                        </a:rPr>
                        <a:t>IEEE</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204"/>
                        </a:spcBef>
                      </a:pPr>
                      <a:endParaRPr sz="1000">
                        <a:latin typeface="Times New Roman"/>
                        <a:cs typeface="Times New Roman"/>
                      </a:endParaRPr>
                    </a:p>
                    <a:p>
                      <a:pPr marL="10160">
                        <a:lnSpc>
                          <a:spcPct val="100000"/>
                        </a:lnSpc>
                        <a:spcBef>
                          <a:spcPts val="5"/>
                        </a:spcBef>
                      </a:pPr>
                      <a:r>
                        <a:rPr sz="1000" u="sng" spc="-10" dirty="0">
                          <a:solidFill>
                            <a:srgbClr val="0000FF"/>
                          </a:solidFill>
                          <a:uFill>
                            <a:solidFill>
                              <a:srgbClr val="0000FF"/>
                            </a:solidFill>
                          </a:uFill>
                          <a:latin typeface="Times New Roman"/>
                          <a:cs typeface="Times New Roman"/>
                          <a:hlinkClick r:id="rId5"/>
                        </a:rPr>
                        <a:t>https://ieeexplore.ieee.org/docum</a:t>
                      </a:r>
                      <a:endParaRPr sz="1000">
                        <a:latin typeface="Times New Roman"/>
                        <a:cs typeface="Times New Roman"/>
                      </a:endParaRPr>
                    </a:p>
                    <a:p>
                      <a:pPr marL="10160">
                        <a:lnSpc>
                          <a:spcPct val="100000"/>
                        </a:lnSpc>
                      </a:pPr>
                      <a:r>
                        <a:rPr sz="1000" u="sng" spc="-10" dirty="0">
                          <a:solidFill>
                            <a:srgbClr val="0000FF"/>
                          </a:solidFill>
                          <a:uFill>
                            <a:solidFill>
                              <a:srgbClr val="0000FF"/>
                            </a:solidFill>
                          </a:uFill>
                          <a:latin typeface="Times New Roman"/>
                          <a:cs typeface="Times New Roman"/>
                          <a:hlinkClick r:id="rId5"/>
                        </a:rPr>
                        <a:t>ent/10630818</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805"/>
                        </a:spcBef>
                      </a:pPr>
                      <a:endParaRPr sz="1000">
                        <a:latin typeface="Times New Roman"/>
                        <a:cs typeface="Times New Roman"/>
                      </a:endParaRPr>
                    </a:p>
                    <a:p>
                      <a:pPr marL="10795">
                        <a:lnSpc>
                          <a:spcPct val="100000"/>
                        </a:lnSpc>
                        <a:spcBef>
                          <a:spcPts val="5"/>
                        </a:spcBef>
                      </a:pPr>
                      <a:r>
                        <a:rPr sz="1000" dirty="0">
                          <a:latin typeface="Times New Roman"/>
                          <a:cs typeface="Times New Roman"/>
                        </a:rPr>
                        <a:t>Twitter</a:t>
                      </a:r>
                      <a:r>
                        <a:rPr sz="1000" spc="-25" dirty="0">
                          <a:latin typeface="Times New Roman"/>
                          <a:cs typeface="Times New Roman"/>
                        </a:rPr>
                        <a:t> </a:t>
                      </a:r>
                      <a:r>
                        <a:rPr sz="1000" dirty="0">
                          <a:latin typeface="Times New Roman"/>
                          <a:cs typeface="Times New Roman"/>
                        </a:rPr>
                        <a:t>user</a:t>
                      </a:r>
                      <a:r>
                        <a:rPr sz="1000" spc="25" dirty="0">
                          <a:latin typeface="Times New Roman"/>
                          <a:cs typeface="Times New Roman"/>
                        </a:rPr>
                        <a:t> </a:t>
                      </a:r>
                      <a:r>
                        <a:rPr sz="1000" dirty="0">
                          <a:latin typeface="Times New Roman"/>
                          <a:cs typeface="Times New Roman"/>
                        </a:rPr>
                        <a:t>interaction</a:t>
                      </a:r>
                      <a:r>
                        <a:rPr sz="1000" spc="-60" dirty="0">
                          <a:latin typeface="Times New Roman"/>
                          <a:cs typeface="Times New Roman"/>
                        </a:rPr>
                        <a:t> </a:t>
                      </a:r>
                      <a:r>
                        <a:rPr sz="1000" dirty="0">
                          <a:latin typeface="Times New Roman"/>
                          <a:cs typeface="Times New Roman"/>
                        </a:rPr>
                        <a:t>graph</a:t>
                      </a:r>
                      <a:r>
                        <a:rPr sz="1000" spc="-65" dirty="0">
                          <a:latin typeface="Times New Roman"/>
                          <a:cs typeface="Times New Roman"/>
                        </a:rPr>
                        <a:t> </a:t>
                      </a:r>
                      <a:r>
                        <a:rPr sz="1000" spc="-10" dirty="0">
                          <a:latin typeface="Times New Roman"/>
                          <a:cs typeface="Times New Roman"/>
                        </a:rPr>
                        <a:t>building</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204"/>
                        </a:spcBef>
                      </a:pPr>
                      <a:endParaRPr sz="1000">
                        <a:latin typeface="Times New Roman"/>
                        <a:cs typeface="Times New Roman"/>
                      </a:endParaRPr>
                    </a:p>
                    <a:p>
                      <a:pPr marL="11430">
                        <a:lnSpc>
                          <a:spcPct val="100000"/>
                        </a:lnSpc>
                        <a:spcBef>
                          <a:spcPts val="5"/>
                        </a:spcBef>
                      </a:pPr>
                      <a:r>
                        <a:rPr sz="1000" spc="-10" dirty="0">
                          <a:latin typeface="Times New Roman"/>
                          <a:cs typeface="Times New Roman"/>
                        </a:rPr>
                        <a:t>Outperformed</a:t>
                      </a:r>
                      <a:r>
                        <a:rPr sz="1000" spc="55" dirty="0">
                          <a:latin typeface="Times New Roman"/>
                          <a:cs typeface="Times New Roman"/>
                        </a:rPr>
                        <a:t> </a:t>
                      </a:r>
                      <a:r>
                        <a:rPr sz="1000" spc="-10" dirty="0">
                          <a:latin typeface="Times New Roman"/>
                          <a:cs typeface="Times New Roman"/>
                        </a:rPr>
                        <a:t>traditional</a:t>
                      </a:r>
                      <a:endParaRPr sz="1000">
                        <a:latin typeface="Times New Roman"/>
                        <a:cs typeface="Times New Roman"/>
                      </a:endParaRPr>
                    </a:p>
                    <a:p>
                      <a:pPr marL="11430">
                        <a:lnSpc>
                          <a:spcPct val="100000"/>
                        </a:lnSpc>
                      </a:pPr>
                      <a:r>
                        <a:rPr sz="1000" dirty="0">
                          <a:latin typeface="Times New Roman"/>
                          <a:cs typeface="Times New Roman"/>
                        </a:rPr>
                        <a:t>models</a:t>
                      </a:r>
                      <a:r>
                        <a:rPr sz="1000" spc="10" dirty="0">
                          <a:latin typeface="Times New Roman"/>
                          <a:cs typeface="Times New Roman"/>
                        </a:rPr>
                        <a:t> </a:t>
                      </a:r>
                      <a:r>
                        <a:rPr sz="1000" dirty="0">
                          <a:latin typeface="Times New Roman"/>
                          <a:cs typeface="Times New Roman"/>
                        </a:rPr>
                        <a:t>in</a:t>
                      </a:r>
                      <a:r>
                        <a:rPr sz="1000" spc="-35" dirty="0">
                          <a:latin typeface="Times New Roman"/>
                          <a:cs typeface="Times New Roman"/>
                        </a:rPr>
                        <a:t> </a:t>
                      </a:r>
                      <a:r>
                        <a:rPr sz="1000" dirty="0">
                          <a:latin typeface="Times New Roman"/>
                          <a:cs typeface="Times New Roman"/>
                        </a:rPr>
                        <a:t>graph</a:t>
                      </a:r>
                      <a:r>
                        <a:rPr sz="1000" spc="-30" dirty="0">
                          <a:latin typeface="Times New Roman"/>
                          <a:cs typeface="Times New Roman"/>
                        </a:rPr>
                        <a:t> </a:t>
                      </a:r>
                      <a:r>
                        <a:rPr sz="1000" spc="-10" dirty="0">
                          <a:latin typeface="Times New Roman"/>
                          <a:cs typeface="Times New Roman"/>
                        </a:rPr>
                        <a:t>learning</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p>
                      <a:pPr>
                        <a:lnSpc>
                          <a:spcPct val="100000"/>
                        </a:lnSpc>
                        <a:spcBef>
                          <a:spcPts val="805"/>
                        </a:spcBef>
                      </a:pPr>
                      <a:endParaRPr sz="1000">
                        <a:latin typeface="Times New Roman"/>
                        <a:cs typeface="Times New Roman"/>
                      </a:endParaRPr>
                    </a:p>
                    <a:p>
                      <a:pPr marL="12065">
                        <a:lnSpc>
                          <a:spcPct val="100000"/>
                        </a:lnSpc>
                        <a:spcBef>
                          <a:spcPts val="5"/>
                        </a:spcBef>
                      </a:pPr>
                      <a:r>
                        <a:rPr sz="1000" dirty="0">
                          <a:latin typeface="Times New Roman"/>
                          <a:cs typeface="Times New Roman"/>
                        </a:rPr>
                        <a:t>Not</a:t>
                      </a:r>
                      <a:r>
                        <a:rPr sz="1000" spc="5" dirty="0">
                          <a:latin typeface="Times New Roman"/>
                          <a:cs typeface="Times New Roman"/>
                        </a:rPr>
                        <a:t> </a:t>
                      </a:r>
                      <a:r>
                        <a:rPr sz="1000" dirty="0">
                          <a:latin typeface="Times New Roman"/>
                          <a:cs typeface="Times New Roman"/>
                        </a:rPr>
                        <a:t>scalable</a:t>
                      </a:r>
                      <a:r>
                        <a:rPr sz="1000" spc="-10" dirty="0">
                          <a:latin typeface="Times New Roman"/>
                          <a:cs typeface="Times New Roman"/>
                        </a:rPr>
                        <a:t> </a:t>
                      </a:r>
                      <a:r>
                        <a:rPr sz="1000" dirty="0">
                          <a:latin typeface="Times New Roman"/>
                          <a:cs typeface="Times New Roman"/>
                        </a:rPr>
                        <a:t>to</a:t>
                      </a:r>
                      <a:r>
                        <a:rPr sz="1000" spc="-20" dirty="0">
                          <a:latin typeface="Times New Roman"/>
                          <a:cs typeface="Times New Roman"/>
                        </a:rPr>
                        <a:t> </a:t>
                      </a:r>
                      <a:r>
                        <a:rPr sz="1000" dirty="0">
                          <a:latin typeface="Times New Roman"/>
                          <a:cs typeface="Times New Roman"/>
                        </a:rPr>
                        <a:t>large</a:t>
                      </a:r>
                      <a:r>
                        <a:rPr sz="1000" spc="-60" dirty="0">
                          <a:latin typeface="Times New Roman"/>
                          <a:cs typeface="Times New Roman"/>
                        </a:rPr>
                        <a:t> </a:t>
                      </a:r>
                      <a:r>
                        <a:rPr sz="1000" spc="-10" dirty="0">
                          <a:latin typeface="Times New Roman"/>
                          <a:cs typeface="Times New Roman"/>
                        </a:rPr>
                        <a:t>networks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680085">
                <a:tc>
                  <a:txBody>
                    <a:bodyPr/>
                    <a:lstStyle/>
                    <a:p>
                      <a:pPr marL="91440">
                        <a:lnSpc>
                          <a:spcPct val="100000"/>
                        </a:lnSpc>
                        <a:spcBef>
                          <a:spcPts val="235"/>
                        </a:spcBef>
                      </a:pPr>
                      <a:r>
                        <a:rPr sz="1400" spc="-50" dirty="0">
                          <a:latin typeface="Calibri"/>
                          <a:cs typeface="Calibri"/>
                        </a:rPr>
                        <a:t>5</a:t>
                      </a:r>
                      <a:endParaRPr sz="1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25"/>
                        </a:spcBef>
                      </a:pPr>
                      <a:endParaRPr sz="1000">
                        <a:latin typeface="Times New Roman"/>
                        <a:cs typeface="Times New Roman"/>
                      </a:endParaRPr>
                    </a:p>
                    <a:p>
                      <a:pPr marL="9525" marR="64769">
                        <a:lnSpc>
                          <a:spcPct val="100000"/>
                        </a:lnSpc>
                      </a:pPr>
                      <a:r>
                        <a:rPr sz="1000" dirty="0">
                          <a:latin typeface="Times New Roman"/>
                          <a:cs typeface="Times New Roman"/>
                        </a:rPr>
                        <a:t>Deep</a:t>
                      </a:r>
                      <a:r>
                        <a:rPr sz="1000" spc="-45" dirty="0">
                          <a:latin typeface="Times New Roman"/>
                          <a:cs typeface="Times New Roman"/>
                        </a:rPr>
                        <a:t> </a:t>
                      </a:r>
                      <a:r>
                        <a:rPr sz="1000" dirty="0">
                          <a:latin typeface="Times New Roman"/>
                          <a:cs typeface="Times New Roman"/>
                        </a:rPr>
                        <a:t>Learning</a:t>
                      </a:r>
                      <a:r>
                        <a:rPr sz="1000" spc="-85"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Botnet</a:t>
                      </a:r>
                      <a:r>
                        <a:rPr sz="1000" spc="-45" dirty="0">
                          <a:latin typeface="Times New Roman"/>
                          <a:cs typeface="Times New Roman"/>
                        </a:rPr>
                        <a:t> </a:t>
                      </a:r>
                      <a:r>
                        <a:rPr sz="1000" dirty="0">
                          <a:latin typeface="Times New Roman"/>
                          <a:cs typeface="Times New Roman"/>
                        </a:rPr>
                        <a:t>Detection</a:t>
                      </a:r>
                      <a:r>
                        <a:rPr sz="1000" spc="-15" dirty="0">
                          <a:latin typeface="Times New Roman"/>
                          <a:cs typeface="Times New Roman"/>
                        </a:rPr>
                        <a:t> </a:t>
                      </a:r>
                      <a:r>
                        <a:rPr sz="1000" spc="-25" dirty="0">
                          <a:latin typeface="Times New Roman"/>
                          <a:cs typeface="Times New Roman"/>
                        </a:rPr>
                        <a:t>in </a:t>
                      </a:r>
                      <a:r>
                        <a:rPr sz="1000" spc="-10" dirty="0">
                          <a:latin typeface="Times New Roman"/>
                          <a:cs typeface="Times New Roman"/>
                        </a:rPr>
                        <a:t>Twitter</a:t>
                      </a:r>
                      <a:endParaRPr sz="10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0160">
                        <a:lnSpc>
                          <a:spcPct val="100000"/>
                        </a:lnSpc>
                      </a:pPr>
                      <a:r>
                        <a:rPr sz="1000" dirty="0">
                          <a:latin typeface="Times New Roman"/>
                          <a:cs typeface="Times New Roman"/>
                        </a:rPr>
                        <a:t>Devendra</a:t>
                      </a:r>
                      <a:r>
                        <a:rPr sz="1000" spc="-20" dirty="0">
                          <a:latin typeface="Times New Roman"/>
                          <a:cs typeface="Times New Roman"/>
                        </a:rPr>
                        <a:t> </a:t>
                      </a:r>
                      <a:r>
                        <a:rPr sz="1000" dirty="0">
                          <a:latin typeface="Times New Roman"/>
                          <a:cs typeface="Times New Roman"/>
                        </a:rPr>
                        <a:t>M.</a:t>
                      </a:r>
                      <a:r>
                        <a:rPr sz="1000" spc="-15" dirty="0">
                          <a:latin typeface="Times New Roman"/>
                          <a:cs typeface="Times New Roman"/>
                        </a:rPr>
                        <a:t> </a:t>
                      </a:r>
                      <a:r>
                        <a:rPr sz="1000" dirty="0">
                          <a:latin typeface="Times New Roman"/>
                          <a:cs typeface="Times New Roman"/>
                        </a:rPr>
                        <a:t>et</a:t>
                      </a:r>
                      <a:r>
                        <a:rPr sz="1000" spc="10" dirty="0">
                          <a:latin typeface="Times New Roman"/>
                          <a:cs typeface="Times New Roman"/>
                        </a:rPr>
                        <a:t> </a:t>
                      </a:r>
                      <a:r>
                        <a:rPr sz="1000" dirty="0">
                          <a:latin typeface="Times New Roman"/>
                          <a:cs typeface="Times New Roman"/>
                        </a:rPr>
                        <a:t>al.,</a:t>
                      </a:r>
                      <a:r>
                        <a:rPr sz="1000" spc="-60" dirty="0">
                          <a:latin typeface="Times New Roman"/>
                          <a:cs typeface="Times New Roman"/>
                        </a:rPr>
                        <a:t> </a:t>
                      </a:r>
                      <a:r>
                        <a:rPr sz="1000" dirty="0">
                          <a:latin typeface="Times New Roman"/>
                          <a:cs typeface="Times New Roman"/>
                        </a:rPr>
                        <a:t>2024,</a:t>
                      </a:r>
                      <a:r>
                        <a:rPr sz="1000" spc="-15" dirty="0">
                          <a:latin typeface="Times New Roman"/>
                          <a:cs typeface="Times New Roman"/>
                        </a:rPr>
                        <a:t> </a:t>
                      </a:r>
                      <a:r>
                        <a:rPr sz="1000" spc="-20" dirty="0">
                          <a:latin typeface="Times New Roman"/>
                          <a:cs typeface="Times New Roman"/>
                        </a:rPr>
                        <a:t>IEEE</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25"/>
                        </a:spcBef>
                      </a:pPr>
                      <a:endParaRPr sz="1000">
                        <a:latin typeface="Times New Roman"/>
                        <a:cs typeface="Times New Roman"/>
                      </a:endParaRPr>
                    </a:p>
                    <a:p>
                      <a:pPr marL="10160" marR="41910">
                        <a:lnSpc>
                          <a:spcPct val="100000"/>
                        </a:lnSpc>
                      </a:pPr>
                      <a:r>
                        <a:rPr sz="1000" u="sng" spc="-10" dirty="0">
                          <a:solidFill>
                            <a:srgbClr val="0000FF"/>
                          </a:solidFill>
                          <a:uFill>
                            <a:solidFill>
                              <a:srgbClr val="0000FF"/>
                            </a:solidFill>
                          </a:uFill>
                          <a:latin typeface="Times New Roman"/>
                          <a:cs typeface="Times New Roman"/>
                          <a:hlinkClick r:id="rId6"/>
                        </a:rPr>
                        <a:t>https://ieeexplore.ieee.org/docum</a:t>
                      </a:r>
                      <a:r>
                        <a:rPr sz="1000" spc="-10" dirty="0">
                          <a:solidFill>
                            <a:srgbClr val="0000FF"/>
                          </a:solidFill>
                          <a:latin typeface="Times New Roman"/>
                          <a:cs typeface="Times New Roman"/>
                          <a:hlinkClick r:id="rId6"/>
                        </a:rPr>
                        <a:t> </a:t>
                      </a:r>
                      <a:r>
                        <a:rPr sz="1000" u="sng" spc="-10" dirty="0">
                          <a:solidFill>
                            <a:srgbClr val="0000FF"/>
                          </a:solidFill>
                          <a:uFill>
                            <a:solidFill>
                              <a:srgbClr val="0000FF"/>
                            </a:solidFill>
                          </a:uFill>
                          <a:latin typeface="Times New Roman"/>
                          <a:cs typeface="Times New Roman"/>
                          <a:hlinkClick r:id="rId6"/>
                        </a:rPr>
                        <a:t>ent/10613812</a:t>
                      </a:r>
                      <a:endParaRPr sz="10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0795">
                        <a:lnSpc>
                          <a:spcPct val="100000"/>
                        </a:lnSpc>
                      </a:pPr>
                      <a:r>
                        <a:rPr sz="1000" dirty="0">
                          <a:latin typeface="Times New Roman"/>
                          <a:cs typeface="Times New Roman"/>
                        </a:rPr>
                        <a:t>TF-IDF</a:t>
                      </a:r>
                      <a:r>
                        <a:rPr sz="1000" spc="-15" dirty="0">
                          <a:latin typeface="Times New Roman"/>
                          <a:cs typeface="Times New Roman"/>
                        </a:rPr>
                        <a:t> </a:t>
                      </a:r>
                      <a:r>
                        <a:rPr sz="1000" spc="-10" dirty="0">
                          <a:latin typeface="Times New Roman"/>
                          <a:cs typeface="Times New Roman"/>
                        </a:rPr>
                        <a:t>vectorization</a:t>
                      </a:r>
                      <a:r>
                        <a:rPr sz="1000" spc="20" dirty="0">
                          <a:latin typeface="Times New Roman"/>
                          <a:cs typeface="Times New Roman"/>
                        </a:rPr>
                        <a:t> </a:t>
                      </a:r>
                      <a:r>
                        <a:rPr sz="1000" dirty="0">
                          <a:latin typeface="Times New Roman"/>
                          <a:cs typeface="Times New Roman"/>
                        </a:rPr>
                        <a:t>of</a:t>
                      </a:r>
                      <a:r>
                        <a:rPr sz="1000" spc="20" dirty="0">
                          <a:latin typeface="Times New Roman"/>
                          <a:cs typeface="Times New Roman"/>
                        </a:rPr>
                        <a:t> </a:t>
                      </a:r>
                      <a:r>
                        <a:rPr sz="1000" spc="-10" dirty="0">
                          <a:latin typeface="Times New Roman"/>
                          <a:cs typeface="Times New Roman"/>
                        </a:rPr>
                        <a:t>tweets</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25"/>
                        </a:spcBef>
                      </a:pPr>
                      <a:endParaRPr sz="1000">
                        <a:latin typeface="Times New Roman"/>
                        <a:cs typeface="Times New Roman"/>
                      </a:endParaRPr>
                    </a:p>
                    <a:p>
                      <a:pPr marL="11430" marR="52069">
                        <a:lnSpc>
                          <a:spcPct val="100000"/>
                        </a:lnSpc>
                      </a:pPr>
                      <a:r>
                        <a:rPr sz="1000" dirty="0">
                          <a:latin typeface="Times New Roman"/>
                          <a:cs typeface="Times New Roman"/>
                        </a:rPr>
                        <a:t>Hybrid model</a:t>
                      </a:r>
                      <a:r>
                        <a:rPr sz="1000" spc="-45" dirty="0">
                          <a:latin typeface="Times New Roman"/>
                          <a:cs typeface="Times New Roman"/>
                        </a:rPr>
                        <a:t> </a:t>
                      </a:r>
                      <a:r>
                        <a:rPr sz="1000" dirty="0">
                          <a:latin typeface="Times New Roman"/>
                          <a:cs typeface="Times New Roman"/>
                        </a:rPr>
                        <a:t>improves</a:t>
                      </a:r>
                      <a:r>
                        <a:rPr sz="1000" spc="-45" dirty="0">
                          <a:latin typeface="Times New Roman"/>
                          <a:cs typeface="Times New Roman"/>
                        </a:rPr>
                        <a:t> </a:t>
                      </a:r>
                      <a:r>
                        <a:rPr sz="1000" spc="-10" dirty="0">
                          <a:latin typeface="Times New Roman"/>
                          <a:cs typeface="Times New Roman"/>
                        </a:rPr>
                        <a:t>botnet detection</a:t>
                      </a:r>
                      <a:endParaRPr sz="10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25"/>
                        </a:spcBef>
                      </a:pPr>
                      <a:endParaRPr sz="1000">
                        <a:latin typeface="Times New Roman"/>
                        <a:cs typeface="Times New Roman"/>
                      </a:endParaRPr>
                    </a:p>
                    <a:p>
                      <a:pPr marL="12065">
                        <a:lnSpc>
                          <a:spcPct val="100000"/>
                        </a:lnSpc>
                      </a:pPr>
                      <a:r>
                        <a:rPr sz="1000" dirty="0">
                          <a:latin typeface="Times New Roman"/>
                          <a:cs typeface="Times New Roman"/>
                        </a:rPr>
                        <a:t>Dataset</a:t>
                      </a:r>
                      <a:r>
                        <a:rPr sz="1000" spc="-25" dirty="0">
                          <a:latin typeface="Times New Roman"/>
                          <a:cs typeface="Times New Roman"/>
                        </a:rPr>
                        <a:t> </a:t>
                      </a:r>
                      <a:r>
                        <a:rPr sz="1000" dirty="0">
                          <a:latin typeface="Times New Roman"/>
                          <a:cs typeface="Times New Roman"/>
                        </a:rPr>
                        <a:t>not</a:t>
                      </a:r>
                      <a:r>
                        <a:rPr sz="1000" spc="-45" dirty="0">
                          <a:latin typeface="Times New Roman"/>
                          <a:cs typeface="Times New Roman"/>
                        </a:rPr>
                        <a:t> </a:t>
                      </a:r>
                      <a:r>
                        <a:rPr sz="1000" spc="-10" dirty="0">
                          <a:latin typeface="Times New Roman"/>
                          <a:cs typeface="Times New Roman"/>
                        </a:rPr>
                        <a:t>provided</a:t>
                      </a:r>
                      <a:endParaRPr sz="1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09520">
              <a:lnSpc>
                <a:spcPct val="100000"/>
              </a:lnSpc>
              <a:spcBef>
                <a:spcPts val="95"/>
              </a:spcBef>
            </a:pPr>
            <a:r>
              <a:rPr spc="-10" dirty="0"/>
              <a:t>RESEARCH</a:t>
            </a:r>
            <a:r>
              <a:rPr spc="-265" dirty="0"/>
              <a:t> </a:t>
            </a:r>
            <a:r>
              <a:rPr spc="-20" dirty="0"/>
              <a:t>GAPS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8</a:t>
            </a:fld>
            <a:endParaRPr spc="-25" dirty="0"/>
          </a:p>
        </p:txBody>
      </p:sp>
      <p:sp>
        <p:nvSpPr>
          <p:cNvPr id="3" name="object 3"/>
          <p:cNvSpPr txBox="1"/>
          <p:nvPr/>
        </p:nvSpPr>
        <p:spPr>
          <a:xfrm>
            <a:off x="766368" y="1212291"/>
            <a:ext cx="10666095" cy="4830445"/>
          </a:xfrm>
          <a:prstGeom prst="rect">
            <a:avLst/>
          </a:prstGeom>
        </p:spPr>
        <p:txBody>
          <a:bodyPr vert="horz" wrap="square" lIns="0" tIns="14605" rIns="0" bIns="0" rtlCol="0">
            <a:spAutoFit/>
          </a:bodyPr>
          <a:lstStyle/>
          <a:p>
            <a:pPr marL="280035" indent="-267335">
              <a:lnSpc>
                <a:spcPct val="100000"/>
              </a:lnSpc>
              <a:spcBef>
                <a:spcPts val="115"/>
              </a:spcBef>
              <a:buAutoNum type="arabicPeriod"/>
              <a:tabLst>
                <a:tab pos="280035" algn="l"/>
              </a:tabLst>
            </a:pPr>
            <a:r>
              <a:rPr sz="2100" b="1" dirty="0">
                <a:latin typeface="Times New Roman"/>
                <a:cs typeface="Times New Roman"/>
              </a:rPr>
              <a:t>Limited</a:t>
            </a:r>
            <a:r>
              <a:rPr sz="2100" b="1" spc="-40" dirty="0">
                <a:latin typeface="Times New Roman"/>
                <a:cs typeface="Times New Roman"/>
              </a:rPr>
              <a:t> </a:t>
            </a:r>
            <a:r>
              <a:rPr sz="2100" b="1" dirty="0">
                <a:latin typeface="Times New Roman"/>
                <a:cs typeface="Times New Roman"/>
              </a:rPr>
              <a:t>Feature</a:t>
            </a:r>
            <a:r>
              <a:rPr sz="2100" b="1" spc="-70" dirty="0">
                <a:latin typeface="Times New Roman"/>
                <a:cs typeface="Times New Roman"/>
              </a:rPr>
              <a:t> </a:t>
            </a:r>
            <a:r>
              <a:rPr sz="2100" b="1" spc="-10" dirty="0">
                <a:latin typeface="Times New Roman"/>
                <a:cs typeface="Times New Roman"/>
              </a:rPr>
              <a:t>Integration</a:t>
            </a:r>
            <a:endParaRPr sz="2100" dirty="0">
              <a:latin typeface="Times New Roman"/>
              <a:cs typeface="Times New Roman"/>
            </a:endParaRPr>
          </a:p>
          <a:p>
            <a:pPr marL="12700" marR="5080">
              <a:lnSpc>
                <a:spcPct val="100000"/>
              </a:lnSpc>
            </a:pPr>
            <a:r>
              <a:rPr sz="2100" dirty="0">
                <a:latin typeface="Times New Roman"/>
                <a:cs typeface="Times New Roman"/>
              </a:rPr>
              <a:t>Most</a:t>
            </a:r>
            <a:r>
              <a:rPr sz="2100" spc="55" dirty="0">
                <a:latin typeface="Times New Roman"/>
                <a:cs typeface="Times New Roman"/>
              </a:rPr>
              <a:t> </a:t>
            </a:r>
            <a:r>
              <a:rPr sz="2100" dirty="0">
                <a:latin typeface="Times New Roman"/>
                <a:cs typeface="Times New Roman"/>
              </a:rPr>
              <a:t>existing</a:t>
            </a:r>
            <a:r>
              <a:rPr sz="2100" spc="70" dirty="0">
                <a:latin typeface="Times New Roman"/>
                <a:cs typeface="Times New Roman"/>
              </a:rPr>
              <a:t> </a:t>
            </a:r>
            <a:r>
              <a:rPr sz="2100" dirty="0">
                <a:latin typeface="Times New Roman"/>
                <a:cs typeface="Times New Roman"/>
              </a:rPr>
              <a:t>models</a:t>
            </a:r>
            <a:r>
              <a:rPr sz="2100" spc="70" dirty="0">
                <a:latin typeface="Times New Roman"/>
                <a:cs typeface="Times New Roman"/>
              </a:rPr>
              <a:t> </a:t>
            </a:r>
            <a:r>
              <a:rPr sz="2100" dirty="0">
                <a:latin typeface="Times New Roman"/>
                <a:cs typeface="Times New Roman"/>
              </a:rPr>
              <a:t>focus</a:t>
            </a:r>
            <a:r>
              <a:rPr sz="2100" spc="35" dirty="0">
                <a:latin typeface="Times New Roman"/>
                <a:cs typeface="Times New Roman"/>
              </a:rPr>
              <a:t> </a:t>
            </a:r>
            <a:r>
              <a:rPr sz="2100" b="1" dirty="0">
                <a:solidFill>
                  <a:srgbClr val="FF0000"/>
                </a:solidFill>
                <a:latin typeface="Times New Roman"/>
                <a:cs typeface="Times New Roman"/>
              </a:rPr>
              <a:t>only</a:t>
            </a:r>
            <a:r>
              <a:rPr sz="2100" b="1" spc="75" dirty="0">
                <a:solidFill>
                  <a:srgbClr val="FF0000"/>
                </a:solidFill>
                <a:latin typeface="Times New Roman"/>
                <a:cs typeface="Times New Roman"/>
              </a:rPr>
              <a:t> </a:t>
            </a:r>
            <a:r>
              <a:rPr sz="2100" b="1" dirty="0">
                <a:solidFill>
                  <a:srgbClr val="FF0000"/>
                </a:solidFill>
                <a:latin typeface="Times New Roman"/>
                <a:cs typeface="Times New Roman"/>
              </a:rPr>
              <a:t>on</a:t>
            </a:r>
            <a:r>
              <a:rPr sz="2100" b="1" spc="45" dirty="0">
                <a:solidFill>
                  <a:srgbClr val="FF0000"/>
                </a:solidFill>
                <a:latin typeface="Times New Roman"/>
                <a:cs typeface="Times New Roman"/>
              </a:rPr>
              <a:t> </a:t>
            </a:r>
            <a:r>
              <a:rPr sz="2100" b="1" spc="-10" dirty="0">
                <a:solidFill>
                  <a:srgbClr val="FF0000"/>
                </a:solidFill>
                <a:latin typeface="Times New Roman"/>
                <a:cs typeface="Times New Roman"/>
              </a:rPr>
              <a:t>text-</a:t>
            </a:r>
            <a:r>
              <a:rPr sz="2100" b="1" dirty="0">
                <a:solidFill>
                  <a:srgbClr val="FF0000"/>
                </a:solidFill>
                <a:latin typeface="Times New Roman"/>
                <a:cs typeface="Times New Roman"/>
              </a:rPr>
              <a:t>based</a:t>
            </a:r>
            <a:r>
              <a:rPr sz="2100" b="1" spc="50" dirty="0">
                <a:solidFill>
                  <a:srgbClr val="FF0000"/>
                </a:solidFill>
                <a:latin typeface="Times New Roman"/>
                <a:cs typeface="Times New Roman"/>
              </a:rPr>
              <a:t> </a:t>
            </a:r>
            <a:r>
              <a:rPr sz="2100" dirty="0">
                <a:latin typeface="Times New Roman"/>
                <a:cs typeface="Times New Roman"/>
              </a:rPr>
              <a:t>or</a:t>
            </a:r>
            <a:r>
              <a:rPr sz="2100" spc="60" dirty="0">
                <a:latin typeface="Times New Roman"/>
                <a:cs typeface="Times New Roman"/>
              </a:rPr>
              <a:t> </a:t>
            </a:r>
            <a:r>
              <a:rPr sz="2100" b="1" dirty="0">
                <a:solidFill>
                  <a:srgbClr val="FF0000"/>
                </a:solidFill>
                <a:latin typeface="Times New Roman"/>
                <a:cs typeface="Times New Roman"/>
              </a:rPr>
              <a:t>only</a:t>
            </a:r>
            <a:r>
              <a:rPr sz="2100" b="1" spc="50" dirty="0">
                <a:solidFill>
                  <a:srgbClr val="FF0000"/>
                </a:solidFill>
                <a:latin typeface="Times New Roman"/>
                <a:cs typeface="Times New Roman"/>
              </a:rPr>
              <a:t> </a:t>
            </a:r>
            <a:r>
              <a:rPr sz="2100" b="1" dirty="0">
                <a:solidFill>
                  <a:srgbClr val="FF0000"/>
                </a:solidFill>
                <a:latin typeface="Times New Roman"/>
                <a:cs typeface="Times New Roman"/>
              </a:rPr>
              <a:t>on</a:t>
            </a:r>
            <a:r>
              <a:rPr sz="2100" b="1" spc="70" dirty="0">
                <a:solidFill>
                  <a:srgbClr val="FF0000"/>
                </a:solidFill>
                <a:latin typeface="Times New Roman"/>
                <a:cs typeface="Times New Roman"/>
              </a:rPr>
              <a:t> </a:t>
            </a:r>
            <a:r>
              <a:rPr sz="2100" b="1" spc="-10" dirty="0">
                <a:solidFill>
                  <a:srgbClr val="FF0000"/>
                </a:solidFill>
                <a:latin typeface="Times New Roman"/>
                <a:cs typeface="Times New Roman"/>
              </a:rPr>
              <a:t>metadata-</a:t>
            </a:r>
            <a:r>
              <a:rPr sz="2100" b="1" dirty="0">
                <a:solidFill>
                  <a:srgbClr val="FF0000"/>
                </a:solidFill>
                <a:latin typeface="Times New Roman"/>
                <a:cs typeface="Times New Roman"/>
              </a:rPr>
              <a:t>based</a:t>
            </a:r>
            <a:r>
              <a:rPr sz="2100" b="1" spc="70" dirty="0">
                <a:solidFill>
                  <a:srgbClr val="FF0000"/>
                </a:solidFill>
                <a:latin typeface="Times New Roman"/>
                <a:cs typeface="Times New Roman"/>
              </a:rPr>
              <a:t> </a:t>
            </a:r>
            <a:r>
              <a:rPr sz="2100" dirty="0">
                <a:latin typeface="Times New Roman"/>
                <a:cs typeface="Times New Roman"/>
              </a:rPr>
              <a:t>features,</a:t>
            </a:r>
            <a:r>
              <a:rPr sz="2100" spc="70" dirty="0">
                <a:latin typeface="Times New Roman"/>
                <a:cs typeface="Times New Roman"/>
              </a:rPr>
              <a:t> </a:t>
            </a:r>
            <a:r>
              <a:rPr sz="2100" dirty="0">
                <a:latin typeface="Times New Roman"/>
                <a:cs typeface="Times New Roman"/>
              </a:rPr>
              <a:t>ignoring</a:t>
            </a:r>
            <a:r>
              <a:rPr sz="2100" spc="65" dirty="0">
                <a:latin typeface="Times New Roman"/>
                <a:cs typeface="Times New Roman"/>
              </a:rPr>
              <a:t> </a:t>
            </a:r>
            <a:r>
              <a:rPr sz="2100" spc="-25" dirty="0">
                <a:latin typeface="Times New Roman"/>
                <a:cs typeface="Times New Roman"/>
              </a:rPr>
              <a:t>the </a:t>
            </a:r>
            <a:r>
              <a:rPr sz="2100" dirty="0">
                <a:latin typeface="Times New Roman"/>
                <a:cs typeface="Times New Roman"/>
              </a:rPr>
              <a:t>combined</a:t>
            </a:r>
            <a:r>
              <a:rPr sz="2100" spc="-10" dirty="0">
                <a:latin typeface="Times New Roman"/>
                <a:cs typeface="Times New Roman"/>
              </a:rPr>
              <a:t> </a:t>
            </a:r>
            <a:r>
              <a:rPr sz="2100" dirty="0">
                <a:latin typeface="Times New Roman"/>
                <a:cs typeface="Times New Roman"/>
              </a:rPr>
              <a:t>effect</a:t>
            </a:r>
            <a:r>
              <a:rPr sz="2100" spc="-25" dirty="0">
                <a:latin typeface="Times New Roman"/>
                <a:cs typeface="Times New Roman"/>
              </a:rPr>
              <a:t> </a:t>
            </a:r>
            <a:r>
              <a:rPr sz="2100" dirty="0">
                <a:latin typeface="Times New Roman"/>
                <a:cs typeface="Times New Roman"/>
              </a:rPr>
              <a:t>of</a:t>
            </a:r>
            <a:r>
              <a:rPr sz="2100" spc="-60" dirty="0">
                <a:latin typeface="Times New Roman"/>
                <a:cs typeface="Times New Roman"/>
              </a:rPr>
              <a:t> </a:t>
            </a:r>
            <a:r>
              <a:rPr sz="2100" spc="-20" dirty="0">
                <a:latin typeface="Times New Roman"/>
                <a:cs typeface="Times New Roman"/>
              </a:rPr>
              <a:t>both.</a:t>
            </a:r>
            <a:endParaRPr sz="2100" dirty="0">
              <a:latin typeface="Times New Roman"/>
              <a:cs typeface="Times New Roman"/>
            </a:endParaRPr>
          </a:p>
          <a:p>
            <a:pPr marL="343535" indent="-264160">
              <a:lnSpc>
                <a:spcPct val="100000"/>
              </a:lnSpc>
              <a:spcBef>
                <a:spcPts val="5"/>
              </a:spcBef>
              <a:buAutoNum type="arabicPeriod" startAt="2"/>
              <a:tabLst>
                <a:tab pos="343535" algn="l"/>
              </a:tabLst>
            </a:pPr>
            <a:r>
              <a:rPr sz="2100" b="1" dirty="0">
                <a:latin typeface="Times New Roman"/>
                <a:cs typeface="Times New Roman"/>
              </a:rPr>
              <a:t>Lack</a:t>
            </a:r>
            <a:r>
              <a:rPr sz="2100" b="1" spc="-30" dirty="0">
                <a:latin typeface="Times New Roman"/>
                <a:cs typeface="Times New Roman"/>
              </a:rPr>
              <a:t> </a:t>
            </a:r>
            <a:r>
              <a:rPr sz="2100" b="1" dirty="0">
                <a:latin typeface="Times New Roman"/>
                <a:cs typeface="Times New Roman"/>
              </a:rPr>
              <a:t>of</a:t>
            </a:r>
            <a:r>
              <a:rPr sz="2100" b="1" spc="-10" dirty="0">
                <a:latin typeface="Times New Roman"/>
                <a:cs typeface="Times New Roman"/>
              </a:rPr>
              <a:t> </a:t>
            </a:r>
            <a:r>
              <a:rPr sz="2100" b="1" dirty="0">
                <a:latin typeface="Times New Roman"/>
                <a:cs typeface="Times New Roman"/>
              </a:rPr>
              <a:t>Contextual</a:t>
            </a:r>
            <a:r>
              <a:rPr sz="2100" b="1" spc="-55" dirty="0">
                <a:latin typeface="Times New Roman"/>
                <a:cs typeface="Times New Roman"/>
              </a:rPr>
              <a:t> </a:t>
            </a:r>
            <a:r>
              <a:rPr sz="2100" b="1" spc="-10" dirty="0">
                <a:latin typeface="Times New Roman"/>
                <a:cs typeface="Times New Roman"/>
              </a:rPr>
              <a:t>Understanding</a:t>
            </a:r>
            <a:endParaRPr sz="2100" dirty="0">
              <a:latin typeface="Times New Roman"/>
              <a:cs typeface="Times New Roman"/>
            </a:endParaRPr>
          </a:p>
          <a:p>
            <a:pPr marL="12700" marR="10160">
              <a:lnSpc>
                <a:spcPct val="100000"/>
              </a:lnSpc>
            </a:pPr>
            <a:r>
              <a:rPr sz="2100" dirty="0">
                <a:latin typeface="Times New Roman"/>
                <a:cs typeface="Times New Roman"/>
              </a:rPr>
              <a:t>Traditional</a:t>
            </a:r>
            <a:r>
              <a:rPr sz="2100" spc="125" dirty="0">
                <a:latin typeface="Times New Roman"/>
                <a:cs typeface="Times New Roman"/>
              </a:rPr>
              <a:t> </a:t>
            </a:r>
            <a:r>
              <a:rPr sz="2100" dirty="0">
                <a:latin typeface="Times New Roman"/>
                <a:cs typeface="Times New Roman"/>
              </a:rPr>
              <a:t>machine</a:t>
            </a:r>
            <a:r>
              <a:rPr sz="2100" spc="114" dirty="0">
                <a:latin typeface="Times New Roman"/>
                <a:cs typeface="Times New Roman"/>
              </a:rPr>
              <a:t> </a:t>
            </a:r>
            <a:r>
              <a:rPr sz="2100" dirty="0">
                <a:latin typeface="Times New Roman"/>
                <a:cs typeface="Times New Roman"/>
              </a:rPr>
              <a:t>learning</a:t>
            </a:r>
            <a:r>
              <a:rPr sz="2100" spc="110" dirty="0">
                <a:latin typeface="Times New Roman"/>
                <a:cs typeface="Times New Roman"/>
              </a:rPr>
              <a:t> </a:t>
            </a:r>
            <a:r>
              <a:rPr sz="2100" dirty="0">
                <a:latin typeface="Times New Roman"/>
                <a:cs typeface="Times New Roman"/>
              </a:rPr>
              <a:t>models</a:t>
            </a:r>
            <a:r>
              <a:rPr sz="2100" spc="90" dirty="0">
                <a:latin typeface="Times New Roman"/>
                <a:cs typeface="Times New Roman"/>
              </a:rPr>
              <a:t> </a:t>
            </a:r>
            <a:r>
              <a:rPr sz="2100" dirty="0">
                <a:latin typeface="Times New Roman"/>
                <a:cs typeface="Times New Roman"/>
              </a:rPr>
              <a:t>fail</a:t>
            </a:r>
            <a:r>
              <a:rPr sz="2100" spc="110" dirty="0">
                <a:latin typeface="Times New Roman"/>
                <a:cs typeface="Times New Roman"/>
              </a:rPr>
              <a:t> </a:t>
            </a:r>
            <a:r>
              <a:rPr sz="2100" dirty="0">
                <a:latin typeface="Times New Roman"/>
                <a:cs typeface="Times New Roman"/>
              </a:rPr>
              <a:t>to</a:t>
            </a:r>
            <a:r>
              <a:rPr sz="2100" spc="110" dirty="0">
                <a:latin typeface="Times New Roman"/>
                <a:cs typeface="Times New Roman"/>
              </a:rPr>
              <a:t> </a:t>
            </a:r>
            <a:r>
              <a:rPr sz="2100" dirty="0">
                <a:latin typeface="Times New Roman"/>
                <a:cs typeface="Times New Roman"/>
              </a:rPr>
              <a:t>capture</a:t>
            </a:r>
            <a:r>
              <a:rPr sz="2100" spc="110" dirty="0">
                <a:latin typeface="Times New Roman"/>
                <a:cs typeface="Times New Roman"/>
              </a:rPr>
              <a:t> </a:t>
            </a:r>
            <a:r>
              <a:rPr sz="2100" dirty="0">
                <a:latin typeface="Times New Roman"/>
                <a:cs typeface="Times New Roman"/>
              </a:rPr>
              <a:t>the</a:t>
            </a:r>
            <a:r>
              <a:rPr sz="2100" spc="130" dirty="0">
                <a:latin typeface="Times New Roman"/>
                <a:cs typeface="Times New Roman"/>
              </a:rPr>
              <a:t> </a:t>
            </a:r>
            <a:r>
              <a:rPr sz="2100" b="1" dirty="0">
                <a:solidFill>
                  <a:srgbClr val="FF0000"/>
                </a:solidFill>
                <a:latin typeface="Times New Roman"/>
                <a:cs typeface="Times New Roman"/>
              </a:rPr>
              <a:t>semantic</a:t>
            </a:r>
            <a:r>
              <a:rPr sz="2100" b="1" spc="135" dirty="0">
                <a:solidFill>
                  <a:srgbClr val="FF0000"/>
                </a:solidFill>
                <a:latin typeface="Times New Roman"/>
                <a:cs typeface="Times New Roman"/>
              </a:rPr>
              <a:t> </a:t>
            </a:r>
            <a:r>
              <a:rPr sz="2100" b="1" dirty="0">
                <a:solidFill>
                  <a:srgbClr val="FF0000"/>
                </a:solidFill>
                <a:latin typeface="Times New Roman"/>
                <a:cs typeface="Times New Roman"/>
              </a:rPr>
              <a:t>meaning</a:t>
            </a:r>
            <a:r>
              <a:rPr sz="2100" b="1" spc="114" dirty="0">
                <a:solidFill>
                  <a:srgbClr val="FF0000"/>
                </a:solidFill>
                <a:latin typeface="Times New Roman"/>
                <a:cs typeface="Times New Roman"/>
              </a:rPr>
              <a:t> </a:t>
            </a:r>
            <a:r>
              <a:rPr sz="2100" dirty="0">
                <a:latin typeface="Times New Roman"/>
                <a:cs typeface="Times New Roman"/>
              </a:rPr>
              <a:t>and</a:t>
            </a:r>
            <a:r>
              <a:rPr sz="2100" spc="110" dirty="0">
                <a:latin typeface="Times New Roman"/>
                <a:cs typeface="Times New Roman"/>
              </a:rPr>
              <a:t> </a:t>
            </a:r>
            <a:r>
              <a:rPr sz="2100" b="1" dirty="0">
                <a:solidFill>
                  <a:srgbClr val="FF0000"/>
                </a:solidFill>
                <a:latin typeface="Times New Roman"/>
                <a:cs typeface="Times New Roman"/>
              </a:rPr>
              <a:t>context</a:t>
            </a:r>
            <a:r>
              <a:rPr sz="2100" b="1" spc="105" dirty="0">
                <a:latin typeface="Times New Roman"/>
                <a:cs typeface="Times New Roman"/>
              </a:rPr>
              <a:t> </a:t>
            </a:r>
            <a:r>
              <a:rPr sz="2100" dirty="0">
                <a:latin typeface="Times New Roman"/>
                <a:cs typeface="Times New Roman"/>
              </a:rPr>
              <a:t>of</a:t>
            </a:r>
            <a:r>
              <a:rPr sz="2100" spc="105" dirty="0">
                <a:latin typeface="Times New Roman"/>
                <a:cs typeface="Times New Roman"/>
              </a:rPr>
              <a:t> </a:t>
            </a:r>
            <a:r>
              <a:rPr sz="2100" spc="-10" dirty="0">
                <a:latin typeface="Times New Roman"/>
                <a:cs typeface="Times New Roman"/>
              </a:rPr>
              <a:t>tweets effectively.</a:t>
            </a:r>
            <a:endParaRPr sz="2100" dirty="0">
              <a:latin typeface="Times New Roman"/>
              <a:cs typeface="Times New Roman"/>
            </a:endParaRPr>
          </a:p>
          <a:p>
            <a:pPr marL="343535" indent="-264160">
              <a:lnSpc>
                <a:spcPct val="100000"/>
              </a:lnSpc>
              <a:buAutoNum type="arabicPeriod" startAt="3"/>
              <a:tabLst>
                <a:tab pos="343535" algn="l"/>
              </a:tabLst>
            </a:pPr>
            <a:r>
              <a:rPr sz="2100" b="1" dirty="0">
                <a:latin typeface="Times New Roman"/>
                <a:cs typeface="Times New Roman"/>
              </a:rPr>
              <a:t>Poor</a:t>
            </a:r>
            <a:r>
              <a:rPr sz="2100" b="1" spc="-15" dirty="0">
                <a:latin typeface="Times New Roman"/>
                <a:cs typeface="Times New Roman"/>
              </a:rPr>
              <a:t> </a:t>
            </a:r>
            <a:r>
              <a:rPr sz="2100" b="1" spc="-10" dirty="0">
                <a:latin typeface="Times New Roman"/>
                <a:cs typeface="Times New Roman"/>
              </a:rPr>
              <a:t>Generalization</a:t>
            </a:r>
            <a:endParaRPr sz="2100" dirty="0">
              <a:latin typeface="Times New Roman"/>
              <a:cs typeface="Times New Roman"/>
            </a:endParaRPr>
          </a:p>
          <a:p>
            <a:pPr marL="12700" marR="6985">
              <a:lnSpc>
                <a:spcPct val="100000"/>
              </a:lnSpc>
              <a:spcBef>
                <a:spcPts val="5"/>
              </a:spcBef>
            </a:pPr>
            <a:r>
              <a:rPr sz="2100" dirty="0">
                <a:latin typeface="Times New Roman"/>
                <a:cs typeface="Times New Roman"/>
              </a:rPr>
              <a:t>Models</a:t>
            </a:r>
            <a:r>
              <a:rPr sz="2100" spc="-5" dirty="0">
                <a:latin typeface="Times New Roman"/>
                <a:cs typeface="Times New Roman"/>
              </a:rPr>
              <a:t> </a:t>
            </a:r>
            <a:r>
              <a:rPr sz="2100" dirty="0">
                <a:latin typeface="Times New Roman"/>
                <a:cs typeface="Times New Roman"/>
              </a:rPr>
              <a:t>trained</a:t>
            </a:r>
            <a:r>
              <a:rPr sz="2100" spc="-5" dirty="0">
                <a:latin typeface="Times New Roman"/>
                <a:cs typeface="Times New Roman"/>
              </a:rPr>
              <a:t> </a:t>
            </a:r>
            <a:r>
              <a:rPr sz="2100" dirty="0">
                <a:latin typeface="Times New Roman"/>
                <a:cs typeface="Times New Roman"/>
              </a:rPr>
              <a:t>on</a:t>
            </a:r>
            <a:r>
              <a:rPr sz="2100" spc="5" dirty="0">
                <a:latin typeface="Times New Roman"/>
                <a:cs typeface="Times New Roman"/>
              </a:rPr>
              <a:t> </a:t>
            </a:r>
            <a:r>
              <a:rPr sz="2100" dirty="0">
                <a:latin typeface="Times New Roman"/>
                <a:cs typeface="Times New Roman"/>
              </a:rPr>
              <a:t>one</a:t>
            </a:r>
            <a:r>
              <a:rPr sz="2100" spc="-25" dirty="0">
                <a:latin typeface="Times New Roman"/>
                <a:cs typeface="Times New Roman"/>
              </a:rPr>
              <a:t> </a:t>
            </a:r>
            <a:r>
              <a:rPr sz="2100" dirty="0">
                <a:latin typeface="Times New Roman"/>
                <a:cs typeface="Times New Roman"/>
              </a:rPr>
              <a:t>dataset</a:t>
            </a:r>
            <a:r>
              <a:rPr sz="2100" spc="-5" dirty="0">
                <a:latin typeface="Times New Roman"/>
                <a:cs typeface="Times New Roman"/>
              </a:rPr>
              <a:t> </a:t>
            </a:r>
            <a:r>
              <a:rPr sz="2100" dirty="0">
                <a:latin typeface="Times New Roman"/>
                <a:cs typeface="Times New Roman"/>
              </a:rPr>
              <a:t>often</a:t>
            </a:r>
            <a:r>
              <a:rPr sz="2100" spc="-5" dirty="0">
                <a:latin typeface="Times New Roman"/>
                <a:cs typeface="Times New Roman"/>
              </a:rPr>
              <a:t> </a:t>
            </a:r>
            <a:r>
              <a:rPr sz="2100" b="1" dirty="0">
                <a:solidFill>
                  <a:srgbClr val="FF0000"/>
                </a:solidFill>
                <a:latin typeface="Times New Roman"/>
                <a:cs typeface="Times New Roman"/>
              </a:rPr>
              <a:t>fail</a:t>
            </a:r>
            <a:r>
              <a:rPr sz="2100" b="1" spc="-10" dirty="0">
                <a:solidFill>
                  <a:srgbClr val="FF0000"/>
                </a:solidFill>
                <a:latin typeface="Times New Roman"/>
                <a:cs typeface="Times New Roman"/>
              </a:rPr>
              <a:t> </a:t>
            </a:r>
            <a:r>
              <a:rPr sz="2100" b="1" dirty="0">
                <a:solidFill>
                  <a:srgbClr val="FF0000"/>
                </a:solidFill>
                <a:latin typeface="Times New Roman"/>
                <a:cs typeface="Times New Roman"/>
              </a:rPr>
              <a:t>to</a:t>
            </a:r>
            <a:r>
              <a:rPr sz="2100" b="1" spc="5" dirty="0">
                <a:solidFill>
                  <a:srgbClr val="FF0000"/>
                </a:solidFill>
                <a:latin typeface="Times New Roman"/>
                <a:cs typeface="Times New Roman"/>
              </a:rPr>
              <a:t> </a:t>
            </a:r>
            <a:r>
              <a:rPr sz="2100" b="1" dirty="0">
                <a:solidFill>
                  <a:srgbClr val="FF0000"/>
                </a:solidFill>
                <a:latin typeface="Times New Roman"/>
                <a:cs typeface="Times New Roman"/>
              </a:rPr>
              <a:t>perform</a:t>
            </a:r>
            <a:r>
              <a:rPr sz="2100" b="1" spc="-55" dirty="0">
                <a:solidFill>
                  <a:srgbClr val="FF0000"/>
                </a:solidFill>
                <a:latin typeface="Times New Roman"/>
                <a:cs typeface="Times New Roman"/>
              </a:rPr>
              <a:t> </a:t>
            </a:r>
            <a:r>
              <a:rPr sz="2100" b="1" dirty="0">
                <a:solidFill>
                  <a:srgbClr val="FF0000"/>
                </a:solidFill>
                <a:latin typeface="Times New Roman"/>
                <a:cs typeface="Times New Roman"/>
              </a:rPr>
              <a:t>well</a:t>
            </a:r>
            <a:r>
              <a:rPr sz="2100" b="1" spc="-10" dirty="0">
                <a:solidFill>
                  <a:srgbClr val="FF0000"/>
                </a:solidFill>
                <a:latin typeface="Times New Roman"/>
                <a:cs typeface="Times New Roman"/>
              </a:rPr>
              <a:t> </a:t>
            </a:r>
            <a:r>
              <a:rPr sz="2100" dirty="0">
                <a:latin typeface="Times New Roman"/>
                <a:cs typeface="Times New Roman"/>
              </a:rPr>
              <a:t>on other datasets</a:t>
            </a:r>
            <a:r>
              <a:rPr sz="2100" spc="-5" dirty="0">
                <a:latin typeface="Times New Roman"/>
                <a:cs typeface="Times New Roman"/>
              </a:rPr>
              <a:t> </a:t>
            </a:r>
            <a:r>
              <a:rPr sz="2100" dirty="0">
                <a:latin typeface="Times New Roman"/>
                <a:cs typeface="Times New Roman"/>
              </a:rPr>
              <a:t>due</a:t>
            </a:r>
            <a:r>
              <a:rPr sz="2100" spc="-5" dirty="0">
                <a:latin typeface="Times New Roman"/>
                <a:cs typeface="Times New Roman"/>
              </a:rPr>
              <a:t> </a:t>
            </a:r>
            <a:r>
              <a:rPr sz="2100" dirty="0">
                <a:latin typeface="Times New Roman"/>
                <a:cs typeface="Times New Roman"/>
              </a:rPr>
              <a:t>to</a:t>
            </a:r>
            <a:r>
              <a:rPr sz="2100" spc="5" dirty="0">
                <a:latin typeface="Times New Roman"/>
                <a:cs typeface="Times New Roman"/>
              </a:rPr>
              <a:t> </a:t>
            </a:r>
            <a:r>
              <a:rPr sz="2100" dirty="0">
                <a:latin typeface="Times New Roman"/>
                <a:cs typeface="Times New Roman"/>
              </a:rPr>
              <a:t>variations</a:t>
            </a:r>
            <a:r>
              <a:rPr sz="2100" spc="-5" dirty="0">
                <a:latin typeface="Times New Roman"/>
                <a:cs typeface="Times New Roman"/>
              </a:rPr>
              <a:t> </a:t>
            </a:r>
            <a:r>
              <a:rPr sz="2100" dirty="0">
                <a:latin typeface="Times New Roman"/>
                <a:cs typeface="Times New Roman"/>
              </a:rPr>
              <a:t>in </a:t>
            </a:r>
            <a:r>
              <a:rPr sz="2100" spc="-20" dirty="0">
                <a:latin typeface="Times New Roman"/>
                <a:cs typeface="Times New Roman"/>
              </a:rPr>
              <a:t>user </a:t>
            </a:r>
            <a:r>
              <a:rPr sz="2100" dirty="0">
                <a:latin typeface="Times New Roman"/>
                <a:cs typeface="Times New Roman"/>
              </a:rPr>
              <a:t>behavior</a:t>
            </a:r>
            <a:r>
              <a:rPr sz="2100" spc="-10" dirty="0">
                <a:latin typeface="Times New Roman"/>
                <a:cs typeface="Times New Roman"/>
              </a:rPr>
              <a:t> </a:t>
            </a:r>
            <a:r>
              <a:rPr sz="2100" dirty="0">
                <a:latin typeface="Times New Roman"/>
                <a:cs typeface="Times New Roman"/>
              </a:rPr>
              <a:t>and</a:t>
            </a:r>
            <a:r>
              <a:rPr sz="2100" spc="-50" dirty="0">
                <a:latin typeface="Times New Roman"/>
                <a:cs typeface="Times New Roman"/>
              </a:rPr>
              <a:t> </a:t>
            </a:r>
            <a:r>
              <a:rPr sz="2100" dirty="0">
                <a:latin typeface="Times New Roman"/>
                <a:cs typeface="Times New Roman"/>
              </a:rPr>
              <a:t>data</a:t>
            </a:r>
            <a:r>
              <a:rPr sz="2100" spc="-25" dirty="0">
                <a:latin typeface="Times New Roman"/>
                <a:cs typeface="Times New Roman"/>
              </a:rPr>
              <a:t> </a:t>
            </a:r>
            <a:r>
              <a:rPr sz="2100" spc="-10" dirty="0">
                <a:latin typeface="Times New Roman"/>
                <a:cs typeface="Times New Roman"/>
              </a:rPr>
              <a:t>distribution.</a:t>
            </a:r>
            <a:endParaRPr sz="2100" dirty="0">
              <a:latin typeface="Times New Roman"/>
              <a:cs typeface="Times New Roman"/>
            </a:endParaRPr>
          </a:p>
          <a:p>
            <a:pPr marL="343535" indent="-264160">
              <a:lnSpc>
                <a:spcPct val="100000"/>
              </a:lnSpc>
              <a:buAutoNum type="arabicPeriod" startAt="4"/>
              <a:tabLst>
                <a:tab pos="343535" algn="l"/>
              </a:tabLst>
            </a:pPr>
            <a:r>
              <a:rPr sz="2100" b="1" dirty="0">
                <a:latin typeface="Times New Roman"/>
                <a:cs typeface="Times New Roman"/>
              </a:rPr>
              <a:t>Feature</a:t>
            </a:r>
            <a:r>
              <a:rPr sz="2100" b="1" spc="-35" dirty="0">
                <a:latin typeface="Times New Roman"/>
                <a:cs typeface="Times New Roman"/>
              </a:rPr>
              <a:t> </a:t>
            </a:r>
            <a:r>
              <a:rPr sz="2100" b="1" spc="-10" dirty="0">
                <a:latin typeface="Times New Roman"/>
                <a:cs typeface="Times New Roman"/>
              </a:rPr>
              <a:t>Imbalance</a:t>
            </a:r>
            <a:endParaRPr sz="2100" dirty="0">
              <a:latin typeface="Times New Roman"/>
              <a:cs typeface="Times New Roman"/>
            </a:endParaRPr>
          </a:p>
          <a:p>
            <a:pPr marL="12700">
              <a:lnSpc>
                <a:spcPct val="100000"/>
              </a:lnSpc>
              <a:tabLst>
                <a:tab pos="798830" algn="l"/>
                <a:tab pos="1567180" algn="l"/>
                <a:tab pos="1847850" algn="l"/>
                <a:tab pos="3134360" algn="l"/>
                <a:tab pos="4466590" algn="l"/>
                <a:tab pos="5560695" algn="l"/>
                <a:tab pos="6088380" algn="l"/>
                <a:tab pos="6679565" algn="l"/>
                <a:tab pos="7637145" algn="l"/>
                <a:tab pos="8286750" algn="l"/>
                <a:tab pos="9018270" algn="l"/>
                <a:tab pos="9829165" algn="l"/>
              </a:tabLst>
            </a:pPr>
            <a:r>
              <a:rPr sz="2100" spc="-10" dirty="0">
                <a:latin typeface="Times New Roman"/>
                <a:cs typeface="Times New Roman"/>
              </a:rPr>
              <a:t>There</a:t>
            </a:r>
            <a:r>
              <a:rPr sz="2100" dirty="0">
                <a:latin typeface="Times New Roman"/>
                <a:cs typeface="Times New Roman"/>
              </a:rPr>
              <a:t>	</a:t>
            </a:r>
            <a:r>
              <a:rPr sz="2100" spc="-10" dirty="0">
                <a:latin typeface="Times New Roman"/>
                <a:cs typeface="Times New Roman"/>
              </a:rPr>
              <a:t>exists</a:t>
            </a:r>
            <a:r>
              <a:rPr sz="2100" dirty="0">
                <a:latin typeface="Times New Roman"/>
                <a:cs typeface="Times New Roman"/>
              </a:rPr>
              <a:t>	</a:t>
            </a:r>
            <a:r>
              <a:rPr sz="2100" spc="-50" dirty="0">
                <a:latin typeface="Times New Roman"/>
                <a:cs typeface="Times New Roman"/>
              </a:rPr>
              <a:t>a</a:t>
            </a:r>
            <a:r>
              <a:rPr sz="2100" dirty="0">
                <a:latin typeface="Times New Roman"/>
                <a:cs typeface="Times New Roman"/>
              </a:rPr>
              <a:t>	</a:t>
            </a:r>
            <a:r>
              <a:rPr sz="2100" spc="-10" dirty="0">
                <a:latin typeface="Times New Roman"/>
                <a:cs typeface="Times New Roman"/>
              </a:rPr>
              <a:t>significant</a:t>
            </a:r>
            <a:r>
              <a:rPr sz="2100" dirty="0">
                <a:latin typeface="Times New Roman"/>
                <a:cs typeface="Times New Roman"/>
              </a:rPr>
              <a:t>	</a:t>
            </a:r>
            <a:r>
              <a:rPr sz="2100" b="1" spc="-10" dirty="0">
                <a:solidFill>
                  <a:srgbClr val="FF0000"/>
                </a:solidFill>
                <a:latin typeface="Times New Roman"/>
                <a:cs typeface="Times New Roman"/>
              </a:rPr>
              <a:t>imbalance</a:t>
            </a:r>
            <a:r>
              <a:rPr sz="2100" b="1" dirty="0">
                <a:solidFill>
                  <a:srgbClr val="FF0000"/>
                </a:solidFill>
                <a:latin typeface="Times New Roman"/>
                <a:cs typeface="Times New Roman"/>
              </a:rPr>
              <a:t>	</a:t>
            </a:r>
            <a:r>
              <a:rPr sz="2100" b="1" spc="-10" dirty="0">
                <a:solidFill>
                  <a:srgbClr val="FF0000"/>
                </a:solidFill>
                <a:latin typeface="Times New Roman"/>
                <a:cs typeface="Times New Roman"/>
              </a:rPr>
              <a:t>between</a:t>
            </a:r>
            <a:r>
              <a:rPr sz="2100" b="1" dirty="0">
                <a:solidFill>
                  <a:srgbClr val="FF0000"/>
                </a:solidFill>
                <a:latin typeface="Times New Roman"/>
                <a:cs typeface="Times New Roman"/>
              </a:rPr>
              <a:t>	</a:t>
            </a:r>
            <a:r>
              <a:rPr sz="2100" b="1" spc="-25" dirty="0">
                <a:solidFill>
                  <a:srgbClr val="FF0000"/>
                </a:solidFill>
                <a:latin typeface="Times New Roman"/>
                <a:cs typeface="Times New Roman"/>
              </a:rPr>
              <a:t>bot</a:t>
            </a:r>
            <a:r>
              <a:rPr sz="2100" b="1" dirty="0">
                <a:solidFill>
                  <a:srgbClr val="FF0000"/>
                </a:solidFill>
                <a:latin typeface="Times New Roman"/>
                <a:cs typeface="Times New Roman"/>
              </a:rPr>
              <a:t>	</a:t>
            </a:r>
            <a:r>
              <a:rPr sz="2100" b="1" spc="-25" dirty="0">
                <a:solidFill>
                  <a:srgbClr val="FF0000"/>
                </a:solidFill>
                <a:latin typeface="Times New Roman"/>
                <a:cs typeface="Times New Roman"/>
              </a:rPr>
              <a:t>and</a:t>
            </a:r>
            <a:r>
              <a:rPr sz="2100" b="1" dirty="0">
                <a:solidFill>
                  <a:srgbClr val="FF0000"/>
                </a:solidFill>
                <a:latin typeface="Times New Roman"/>
                <a:cs typeface="Times New Roman"/>
              </a:rPr>
              <a:t>	</a:t>
            </a:r>
            <a:r>
              <a:rPr sz="2100" b="1" spc="-10" dirty="0">
                <a:solidFill>
                  <a:srgbClr val="FF0000"/>
                </a:solidFill>
                <a:latin typeface="Times New Roman"/>
                <a:cs typeface="Times New Roman"/>
              </a:rPr>
              <a:t>human</a:t>
            </a:r>
            <a:r>
              <a:rPr sz="2100" b="1" dirty="0">
                <a:solidFill>
                  <a:srgbClr val="FF0000"/>
                </a:solidFill>
                <a:latin typeface="Times New Roman"/>
                <a:cs typeface="Times New Roman"/>
              </a:rPr>
              <a:t>	</a:t>
            </a:r>
            <a:r>
              <a:rPr sz="2100" b="1" spc="-20" dirty="0">
                <a:solidFill>
                  <a:srgbClr val="FF0000"/>
                </a:solidFill>
                <a:latin typeface="Times New Roman"/>
                <a:cs typeface="Times New Roman"/>
              </a:rPr>
              <a:t>user</a:t>
            </a:r>
            <a:r>
              <a:rPr sz="2100" b="1" dirty="0">
                <a:solidFill>
                  <a:srgbClr val="FF0000"/>
                </a:solidFill>
                <a:latin typeface="Times New Roman"/>
                <a:cs typeface="Times New Roman"/>
              </a:rPr>
              <a:t>	</a:t>
            </a:r>
            <a:r>
              <a:rPr sz="2100" b="1" spc="-10" dirty="0">
                <a:solidFill>
                  <a:srgbClr val="FF0000"/>
                </a:solidFill>
                <a:latin typeface="Times New Roman"/>
                <a:cs typeface="Times New Roman"/>
              </a:rPr>
              <a:t>data</a:t>
            </a:r>
            <a:r>
              <a:rPr sz="2100" spc="-10" dirty="0">
                <a:solidFill>
                  <a:srgbClr val="FF0000"/>
                </a:solidFill>
                <a:latin typeface="Times New Roman"/>
                <a:cs typeface="Times New Roman"/>
              </a:rPr>
              <a:t>,</a:t>
            </a:r>
            <a:r>
              <a:rPr sz="2100" dirty="0">
                <a:latin typeface="Times New Roman"/>
                <a:cs typeface="Times New Roman"/>
              </a:rPr>
              <a:t>	</a:t>
            </a:r>
            <a:r>
              <a:rPr sz="2100" spc="-10" dirty="0">
                <a:latin typeface="Times New Roman"/>
                <a:cs typeface="Times New Roman"/>
              </a:rPr>
              <a:t>which</a:t>
            </a:r>
            <a:r>
              <a:rPr sz="2100" dirty="0">
                <a:latin typeface="Times New Roman"/>
                <a:cs typeface="Times New Roman"/>
              </a:rPr>
              <a:t>	</a:t>
            </a:r>
            <a:r>
              <a:rPr sz="2100" spc="-10" dirty="0">
                <a:latin typeface="Times New Roman"/>
                <a:cs typeface="Times New Roman"/>
              </a:rPr>
              <a:t>reduces</a:t>
            </a:r>
            <a:endParaRPr sz="2100" dirty="0">
              <a:latin typeface="Times New Roman"/>
              <a:cs typeface="Times New Roman"/>
            </a:endParaRPr>
          </a:p>
          <a:p>
            <a:pPr marL="12700">
              <a:lnSpc>
                <a:spcPct val="100000"/>
              </a:lnSpc>
            </a:pPr>
            <a:r>
              <a:rPr sz="2100" dirty="0">
                <a:latin typeface="Times New Roman"/>
                <a:cs typeface="Times New Roman"/>
              </a:rPr>
              <a:t>classification</a:t>
            </a:r>
            <a:r>
              <a:rPr sz="2100" spc="-65" dirty="0">
                <a:latin typeface="Times New Roman"/>
                <a:cs typeface="Times New Roman"/>
              </a:rPr>
              <a:t> </a:t>
            </a:r>
            <a:r>
              <a:rPr sz="2100" spc="-10" dirty="0">
                <a:latin typeface="Times New Roman"/>
                <a:cs typeface="Times New Roman"/>
              </a:rPr>
              <a:t>accuracy.</a:t>
            </a:r>
            <a:endParaRPr sz="2100" dirty="0">
              <a:latin typeface="Times New Roman"/>
              <a:cs typeface="Times New Roman"/>
            </a:endParaRPr>
          </a:p>
          <a:p>
            <a:pPr marL="343535" indent="-264160">
              <a:lnSpc>
                <a:spcPct val="100000"/>
              </a:lnSpc>
              <a:buAutoNum type="arabicPeriod" startAt="5"/>
              <a:tabLst>
                <a:tab pos="343535" algn="l"/>
              </a:tabLst>
            </a:pPr>
            <a:r>
              <a:rPr sz="2100" b="1" dirty="0">
                <a:latin typeface="Times New Roman"/>
                <a:cs typeface="Times New Roman"/>
              </a:rPr>
              <a:t>Limited</a:t>
            </a:r>
            <a:r>
              <a:rPr sz="2100" b="1" spc="5" dirty="0">
                <a:latin typeface="Times New Roman"/>
                <a:cs typeface="Times New Roman"/>
              </a:rPr>
              <a:t> </a:t>
            </a:r>
            <a:r>
              <a:rPr sz="2100" b="1" dirty="0">
                <a:latin typeface="Times New Roman"/>
                <a:cs typeface="Times New Roman"/>
              </a:rPr>
              <a:t>Use</a:t>
            </a:r>
            <a:r>
              <a:rPr sz="2100" b="1" spc="-45" dirty="0">
                <a:latin typeface="Times New Roman"/>
                <a:cs typeface="Times New Roman"/>
              </a:rPr>
              <a:t> </a:t>
            </a:r>
            <a:r>
              <a:rPr sz="2100" b="1" dirty="0">
                <a:latin typeface="Times New Roman"/>
                <a:cs typeface="Times New Roman"/>
              </a:rPr>
              <a:t>of</a:t>
            </a:r>
            <a:r>
              <a:rPr sz="2100" b="1" spc="-25" dirty="0">
                <a:latin typeface="Times New Roman"/>
                <a:cs typeface="Times New Roman"/>
              </a:rPr>
              <a:t> </a:t>
            </a:r>
            <a:r>
              <a:rPr sz="2100" b="1" dirty="0">
                <a:latin typeface="Times New Roman"/>
                <a:cs typeface="Times New Roman"/>
              </a:rPr>
              <a:t>Advanced</a:t>
            </a:r>
            <a:r>
              <a:rPr sz="2100" b="1" spc="-85" dirty="0">
                <a:latin typeface="Times New Roman"/>
                <a:cs typeface="Times New Roman"/>
              </a:rPr>
              <a:t> </a:t>
            </a:r>
            <a:r>
              <a:rPr sz="2100" b="1" spc="-10" dirty="0">
                <a:latin typeface="Times New Roman"/>
                <a:cs typeface="Times New Roman"/>
              </a:rPr>
              <a:t>Models</a:t>
            </a:r>
            <a:endParaRPr sz="2100" dirty="0">
              <a:latin typeface="Times New Roman"/>
              <a:cs typeface="Times New Roman"/>
            </a:endParaRPr>
          </a:p>
          <a:p>
            <a:pPr marL="12700">
              <a:lnSpc>
                <a:spcPct val="100000"/>
              </a:lnSpc>
            </a:pPr>
            <a:r>
              <a:rPr sz="2100" dirty="0">
                <a:latin typeface="Times New Roman"/>
                <a:cs typeface="Times New Roman"/>
              </a:rPr>
              <a:t>Few</a:t>
            </a:r>
            <a:r>
              <a:rPr sz="2100" spc="5" dirty="0">
                <a:latin typeface="Times New Roman"/>
                <a:cs typeface="Times New Roman"/>
              </a:rPr>
              <a:t> </a:t>
            </a:r>
            <a:r>
              <a:rPr sz="2100" dirty="0">
                <a:latin typeface="Times New Roman"/>
                <a:cs typeface="Times New Roman"/>
              </a:rPr>
              <a:t>studies</a:t>
            </a:r>
            <a:r>
              <a:rPr sz="2100" spc="20" dirty="0">
                <a:latin typeface="Times New Roman"/>
                <a:cs typeface="Times New Roman"/>
              </a:rPr>
              <a:t> </a:t>
            </a:r>
            <a:r>
              <a:rPr sz="2100" dirty="0">
                <a:latin typeface="Times New Roman"/>
                <a:cs typeface="Times New Roman"/>
              </a:rPr>
              <a:t>utilize</a:t>
            </a:r>
            <a:r>
              <a:rPr sz="2100" spc="30" dirty="0">
                <a:latin typeface="Times New Roman"/>
                <a:cs typeface="Times New Roman"/>
              </a:rPr>
              <a:t> </a:t>
            </a:r>
            <a:r>
              <a:rPr sz="2100" b="1" spc="-10" dirty="0">
                <a:solidFill>
                  <a:srgbClr val="FF0000"/>
                </a:solidFill>
                <a:latin typeface="Times New Roman"/>
                <a:cs typeface="Times New Roman"/>
              </a:rPr>
              <a:t>transformer-</a:t>
            </a:r>
            <a:r>
              <a:rPr sz="2100" b="1" dirty="0">
                <a:solidFill>
                  <a:srgbClr val="FF0000"/>
                </a:solidFill>
                <a:latin typeface="Times New Roman"/>
                <a:cs typeface="Times New Roman"/>
              </a:rPr>
              <a:t>based</a:t>
            </a:r>
            <a:r>
              <a:rPr sz="2100" b="1" spc="20" dirty="0">
                <a:solidFill>
                  <a:srgbClr val="FF0000"/>
                </a:solidFill>
                <a:latin typeface="Times New Roman"/>
                <a:cs typeface="Times New Roman"/>
              </a:rPr>
              <a:t> </a:t>
            </a:r>
            <a:r>
              <a:rPr sz="2100" b="1" dirty="0">
                <a:solidFill>
                  <a:srgbClr val="FF0000"/>
                </a:solidFill>
                <a:latin typeface="Times New Roman"/>
                <a:cs typeface="Times New Roman"/>
              </a:rPr>
              <a:t>architectures</a:t>
            </a:r>
            <a:r>
              <a:rPr sz="2100" b="1" spc="15" dirty="0">
                <a:solidFill>
                  <a:srgbClr val="FF0000"/>
                </a:solidFill>
                <a:latin typeface="Times New Roman"/>
                <a:cs typeface="Times New Roman"/>
              </a:rPr>
              <a:t> </a:t>
            </a:r>
            <a:r>
              <a:rPr sz="2100" b="1" dirty="0">
                <a:solidFill>
                  <a:srgbClr val="FF0000"/>
                </a:solidFill>
                <a:latin typeface="Times New Roman"/>
                <a:cs typeface="Times New Roman"/>
              </a:rPr>
              <a:t>(like</a:t>
            </a:r>
            <a:r>
              <a:rPr sz="2100" b="1" spc="25" dirty="0">
                <a:solidFill>
                  <a:srgbClr val="FF0000"/>
                </a:solidFill>
                <a:latin typeface="Times New Roman"/>
                <a:cs typeface="Times New Roman"/>
              </a:rPr>
              <a:t> </a:t>
            </a:r>
            <a:r>
              <a:rPr sz="2100" b="1" dirty="0">
                <a:solidFill>
                  <a:srgbClr val="FF0000"/>
                </a:solidFill>
                <a:latin typeface="Times New Roman"/>
                <a:cs typeface="Times New Roman"/>
              </a:rPr>
              <a:t>BERT)</a:t>
            </a:r>
            <a:r>
              <a:rPr sz="2100" b="1" spc="25" dirty="0">
                <a:solidFill>
                  <a:srgbClr val="FF0000"/>
                </a:solidFill>
                <a:latin typeface="Times New Roman"/>
                <a:cs typeface="Times New Roman"/>
              </a:rPr>
              <a:t> </a:t>
            </a:r>
            <a:r>
              <a:rPr sz="2100" dirty="0">
                <a:latin typeface="Times New Roman"/>
                <a:cs typeface="Times New Roman"/>
              </a:rPr>
              <a:t>for</a:t>
            </a:r>
            <a:r>
              <a:rPr sz="2100" spc="20" dirty="0">
                <a:latin typeface="Times New Roman"/>
                <a:cs typeface="Times New Roman"/>
              </a:rPr>
              <a:t> </a:t>
            </a:r>
            <a:r>
              <a:rPr sz="2100" dirty="0">
                <a:latin typeface="Times New Roman"/>
                <a:cs typeface="Times New Roman"/>
              </a:rPr>
              <a:t>deep</a:t>
            </a:r>
            <a:r>
              <a:rPr sz="2100" spc="25" dirty="0">
                <a:latin typeface="Times New Roman"/>
                <a:cs typeface="Times New Roman"/>
              </a:rPr>
              <a:t> </a:t>
            </a:r>
            <a:r>
              <a:rPr sz="2100" dirty="0">
                <a:latin typeface="Times New Roman"/>
                <a:cs typeface="Times New Roman"/>
              </a:rPr>
              <a:t>contextual</a:t>
            </a:r>
            <a:r>
              <a:rPr sz="2100" spc="15" dirty="0">
                <a:latin typeface="Times New Roman"/>
                <a:cs typeface="Times New Roman"/>
              </a:rPr>
              <a:t> </a:t>
            </a:r>
            <a:r>
              <a:rPr sz="2100" dirty="0">
                <a:latin typeface="Times New Roman"/>
                <a:cs typeface="Times New Roman"/>
              </a:rPr>
              <a:t>analysis</a:t>
            </a:r>
            <a:r>
              <a:rPr sz="2100" spc="45" dirty="0">
                <a:latin typeface="Times New Roman"/>
                <a:cs typeface="Times New Roman"/>
              </a:rPr>
              <a:t> </a:t>
            </a:r>
            <a:r>
              <a:rPr sz="2100" spc="-25" dirty="0">
                <a:latin typeface="Times New Roman"/>
                <a:cs typeface="Times New Roman"/>
              </a:rPr>
              <a:t>in</a:t>
            </a:r>
            <a:endParaRPr sz="2100" dirty="0">
              <a:latin typeface="Times New Roman"/>
              <a:cs typeface="Times New Roman"/>
            </a:endParaRPr>
          </a:p>
          <a:p>
            <a:pPr marL="12700">
              <a:lnSpc>
                <a:spcPct val="100000"/>
              </a:lnSpc>
              <a:spcBef>
                <a:spcPts val="5"/>
              </a:spcBef>
            </a:pPr>
            <a:r>
              <a:rPr sz="2100" dirty="0">
                <a:latin typeface="Times New Roman"/>
                <a:cs typeface="Times New Roman"/>
              </a:rPr>
              <a:t>combination</a:t>
            </a:r>
            <a:r>
              <a:rPr sz="2100" spc="-50" dirty="0">
                <a:latin typeface="Times New Roman"/>
                <a:cs typeface="Times New Roman"/>
              </a:rPr>
              <a:t> </a:t>
            </a:r>
            <a:r>
              <a:rPr sz="2100" dirty="0">
                <a:latin typeface="Times New Roman"/>
                <a:cs typeface="Times New Roman"/>
              </a:rPr>
              <a:t>with</a:t>
            </a:r>
            <a:r>
              <a:rPr sz="2100" spc="-50" dirty="0">
                <a:latin typeface="Times New Roman"/>
                <a:cs typeface="Times New Roman"/>
              </a:rPr>
              <a:t> </a:t>
            </a:r>
            <a:r>
              <a:rPr sz="2100" spc="-10" dirty="0">
                <a:latin typeface="Times New Roman"/>
                <a:cs typeface="Times New Roman"/>
              </a:rPr>
              <a:t>metadata.</a:t>
            </a:r>
            <a:endParaRPr sz="21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6430C-65FC-66E4-A699-7DF08EFE18F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1819F4-DC45-64C3-861E-F39D27EACC1F}"/>
              </a:ext>
            </a:extLst>
          </p:cNvPr>
          <p:cNvSpPr txBox="1">
            <a:spLocks noGrp="1"/>
          </p:cNvSpPr>
          <p:nvPr>
            <p:ph type="title"/>
          </p:nvPr>
        </p:nvSpPr>
        <p:spPr>
          <a:xfrm>
            <a:off x="1259478" y="762000"/>
            <a:ext cx="9665970" cy="627736"/>
          </a:xfrm>
          <a:prstGeom prst="rect">
            <a:avLst/>
          </a:prstGeom>
        </p:spPr>
        <p:txBody>
          <a:bodyPr vert="horz" wrap="square" lIns="0" tIns="12065" rIns="0" bIns="0" rtlCol="0">
            <a:spAutoFit/>
          </a:bodyPr>
          <a:lstStyle/>
          <a:p>
            <a:pPr marL="2509520" algn="l">
              <a:lnSpc>
                <a:spcPct val="100000"/>
              </a:lnSpc>
              <a:spcBef>
                <a:spcPts val="95"/>
              </a:spcBef>
            </a:pPr>
            <a:r>
              <a:rPr lang="en-US" sz="4000" spc="-10" dirty="0"/>
              <a:t>DATASET OVERVIEW</a:t>
            </a:r>
            <a:endParaRPr sz="4000" spc="-20" dirty="0"/>
          </a:p>
        </p:txBody>
      </p:sp>
      <p:sp>
        <p:nvSpPr>
          <p:cNvPr id="4" name="object 4">
            <a:extLst>
              <a:ext uri="{FF2B5EF4-FFF2-40B4-BE49-F238E27FC236}">
                <a16:creationId xmlns:a16="http://schemas.microsoft.com/office/drawing/2014/main" id="{23883BCD-CB52-E67F-2AF2-D6C4D5716D05}"/>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7808E73E-0CCC-5325-F23A-19C574DDC4E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96EF23D5-DBC8-8DBE-9F7D-1A8A93B82B02}"/>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0EC5CEC6-4CAC-10B3-B797-6B1E79CC1C4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9</a:t>
            </a:fld>
            <a:endParaRPr spc="-25" dirty="0"/>
          </a:p>
        </p:txBody>
      </p:sp>
      <p:sp>
        <p:nvSpPr>
          <p:cNvPr id="3" name="object 3">
            <a:extLst>
              <a:ext uri="{FF2B5EF4-FFF2-40B4-BE49-F238E27FC236}">
                <a16:creationId xmlns:a16="http://schemas.microsoft.com/office/drawing/2014/main" id="{CFC3C108-FF2C-1BD1-68BC-DFB9B9C14EAD}"/>
              </a:ext>
            </a:extLst>
          </p:cNvPr>
          <p:cNvSpPr txBox="1"/>
          <p:nvPr/>
        </p:nvSpPr>
        <p:spPr>
          <a:xfrm>
            <a:off x="880989" y="1676400"/>
            <a:ext cx="10666095" cy="2969403"/>
          </a:xfrm>
          <a:prstGeom prst="rect">
            <a:avLst/>
          </a:prstGeom>
        </p:spPr>
        <p:txBody>
          <a:bodyPr vert="horz" wrap="square" lIns="0" tIns="14605" rIns="0" bIns="0" rtlCol="0">
            <a:spAutoFit/>
          </a:bodyPr>
          <a:lstStyle/>
          <a:p>
            <a:pPr marL="12700" algn="just">
              <a:lnSpc>
                <a:spcPct val="100000"/>
              </a:lnSpc>
              <a:spcBef>
                <a:spcPts val="115"/>
              </a:spcBef>
              <a:tabLst>
                <a:tab pos="280035" algn="l"/>
              </a:tabLst>
            </a:pPr>
            <a:r>
              <a:rPr lang="en-US" sz="2400" dirty="0">
                <a:latin typeface="Times New Roman" panose="02020603050405020304" pitchFamily="18" charset="0"/>
                <a:cs typeface="Times New Roman" panose="02020603050405020304" pitchFamily="18" charset="0"/>
              </a:rPr>
              <a:t>The project uses a large-scale Twitter bot detection dataset that contains both tweet-level textual information and user-level metadata. The dataset includes labeled accounts categorized as human or bot, along with their tweets, profile descriptions, follower and following counts, activity statistics, and verification status. This combination of linguistic content and behavioral features makes the dataset well suited for hybrid deep learning models. It reflects real-world social media activity and captures diverse bot behaviors, enabling robust training and evaluation of bot detection systems under realistic conditions.</a:t>
            </a:r>
            <a:endParaRPr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4996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B67F-A55E-ADD9-36F4-341E733047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477FA5-37C5-586B-A0E6-05DC8AE8B279}"/>
              </a:ext>
            </a:extLst>
          </p:cNvPr>
          <p:cNvSpPr txBox="1">
            <a:spLocks noGrp="1"/>
          </p:cNvSpPr>
          <p:nvPr>
            <p:ph type="title"/>
          </p:nvPr>
        </p:nvSpPr>
        <p:spPr>
          <a:xfrm>
            <a:off x="941147" y="762000"/>
            <a:ext cx="9665970" cy="627736"/>
          </a:xfrm>
          <a:prstGeom prst="rect">
            <a:avLst/>
          </a:prstGeom>
        </p:spPr>
        <p:txBody>
          <a:bodyPr vert="horz" wrap="square" lIns="0" tIns="12065" rIns="0" bIns="0" rtlCol="0">
            <a:spAutoFit/>
          </a:bodyPr>
          <a:lstStyle/>
          <a:p>
            <a:pPr marL="2509520" algn="l">
              <a:lnSpc>
                <a:spcPct val="100000"/>
              </a:lnSpc>
              <a:spcBef>
                <a:spcPts val="95"/>
              </a:spcBef>
            </a:pPr>
            <a:r>
              <a:rPr lang="en-US" sz="4000" spc="-10" dirty="0"/>
              <a:t>DATASET STRUCTURE</a:t>
            </a:r>
            <a:endParaRPr sz="4000" spc="-20" dirty="0"/>
          </a:p>
        </p:txBody>
      </p:sp>
      <p:sp>
        <p:nvSpPr>
          <p:cNvPr id="4" name="object 4">
            <a:extLst>
              <a:ext uri="{FF2B5EF4-FFF2-40B4-BE49-F238E27FC236}">
                <a16:creationId xmlns:a16="http://schemas.microsoft.com/office/drawing/2014/main" id="{3F7EE87C-476A-B841-4D52-26181BB7F6F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DDF8476B-85D9-997C-5ABD-7C4EDE3DC0D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2E826ECC-B1A8-1F4A-BEB6-998849B73AA1}"/>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0564F779-3634-6C4A-1E1E-8A870B58066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10</a:t>
            </a:fld>
            <a:endParaRPr spc="-25" dirty="0"/>
          </a:p>
        </p:txBody>
      </p:sp>
      <p:sp>
        <p:nvSpPr>
          <p:cNvPr id="3" name="object 3">
            <a:extLst>
              <a:ext uri="{FF2B5EF4-FFF2-40B4-BE49-F238E27FC236}">
                <a16:creationId xmlns:a16="http://schemas.microsoft.com/office/drawing/2014/main" id="{300B4915-25D0-15A0-8F99-45FE104B7E14}"/>
              </a:ext>
            </a:extLst>
          </p:cNvPr>
          <p:cNvSpPr txBox="1"/>
          <p:nvPr/>
        </p:nvSpPr>
        <p:spPr>
          <a:xfrm>
            <a:off x="880989" y="1676400"/>
            <a:ext cx="10666095" cy="4103046"/>
          </a:xfrm>
          <a:prstGeom prst="rect">
            <a:avLst/>
          </a:prstGeom>
        </p:spPr>
        <p:txBody>
          <a:bodyPr vert="horz" wrap="square" lIns="0" tIns="14605" rIns="0" bIns="0" rtlCol="0">
            <a:spAutoFit/>
          </a:bodyPr>
          <a:lstStyle/>
          <a:p>
            <a:pPr marL="12700" algn="just">
              <a:lnSpc>
                <a:spcPct val="100000"/>
              </a:lnSpc>
              <a:spcBef>
                <a:spcPts val="115"/>
              </a:spcBef>
              <a:tabLst>
                <a:tab pos="280035" algn="l"/>
              </a:tabLst>
            </a:pPr>
            <a:r>
              <a:rPr lang="en-US" sz="2400" dirty="0">
                <a:latin typeface="Times New Roman" panose="02020603050405020304" pitchFamily="18" charset="0"/>
                <a:cs typeface="Times New Roman" panose="02020603050405020304" pitchFamily="18" charset="0"/>
              </a:rPr>
              <a:t>The TwiBot-20 dataset is organized using a structured JSON format to ensure consistency and ease of processing. It is divided into three main files: </a:t>
            </a:r>
            <a:r>
              <a:rPr lang="en-US" sz="2400" b="1" dirty="0" err="1">
                <a:latin typeface="Times New Roman" panose="02020603050405020304" pitchFamily="18" charset="0"/>
                <a:cs typeface="Times New Roman" panose="02020603050405020304" pitchFamily="18" charset="0"/>
              </a:rPr>
              <a:t>train.json</a:t>
            </a:r>
            <a:r>
              <a:rPr lang="en-US" sz="2400" dirty="0">
                <a:latin typeface="Times New Roman" panose="02020603050405020304" pitchFamily="18" charset="0"/>
                <a:cs typeface="Times New Roman" panose="02020603050405020304" pitchFamily="18" charset="0"/>
              </a:rPr>
              <a:t>, which contains labeled data used for training the model; </a:t>
            </a:r>
            <a:r>
              <a:rPr lang="en-US" sz="2400" b="1" dirty="0" err="1">
                <a:latin typeface="Times New Roman" panose="02020603050405020304" pitchFamily="18" charset="0"/>
                <a:cs typeface="Times New Roman" panose="02020603050405020304" pitchFamily="18" charset="0"/>
              </a:rPr>
              <a:t>dev.json</a:t>
            </a:r>
            <a:r>
              <a:rPr lang="en-US" sz="2400" dirty="0">
                <a:latin typeface="Times New Roman" panose="02020603050405020304" pitchFamily="18" charset="0"/>
                <a:cs typeface="Times New Roman" panose="02020603050405020304" pitchFamily="18" charset="0"/>
              </a:rPr>
              <a:t>, which is utilized for validation and hyperparameter tuning; and </a:t>
            </a:r>
            <a:r>
              <a:rPr lang="en-US" sz="2400" b="1" dirty="0" err="1">
                <a:latin typeface="Times New Roman" panose="02020603050405020304" pitchFamily="18" charset="0"/>
                <a:cs typeface="Times New Roman" panose="02020603050405020304" pitchFamily="18" charset="0"/>
              </a:rPr>
              <a:t>test.json</a:t>
            </a:r>
            <a:r>
              <a:rPr lang="en-US" sz="2400" dirty="0">
                <a:latin typeface="Times New Roman" panose="02020603050405020304" pitchFamily="18" charset="0"/>
                <a:cs typeface="Times New Roman" panose="02020603050405020304" pitchFamily="18" charset="0"/>
              </a:rPr>
              <a:t>, which is reserved for final performance evaluation. This clear separation of data supports reliable model development and unbiased assessment. The uniform JSON-based structure enables efficient extraction of both textual and metadata features for hybrid deep learning approaches.</a:t>
            </a:r>
          </a:p>
          <a:p>
            <a:pPr marL="12700" algn="ctr">
              <a:lnSpc>
                <a:spcPct val="100000"/>
              </a:lnSpc>
              <a:spcBef>
                <a:spcPts val="115"/>
              </a:spcBef>
              <a:tabLst>
                <a:tab pos="280035" algn="l"/>
              </a:tabLst>
            </a:pPr>
            <a:endParaRPr lang="en-US" sz="2400" b="1" dirty="0">
              <a:latin typeface="Times New Roman" panose="02020603050405020304" pitchFamily="18" charset="0"/>
              <a:cs typeface="Times New Roman" panose="02020603050405020304" pitchFamily="18" charset="0"/>
            </a:endParaRPr>
          </a:p>
          <a:p>
            <a:pPr marL="12700" algn="ctr">
              <a:lnSpc>
                <a:spcPct val="100000"/>
              </a:lnSpc>
              <a:spcBef>
                <a:spcPts val="115"/>
              </a:spcBef>
              <a:tabLst>
                <a:tab pos="280035" algn="l"/>
              </a:tabLst>
            </a:pPr>
            <a:r>
              <a:rPr lang="en-US" sz="2400" b="1" dirty="0"/>
              <a:t>TwiBot-20 Dataset → JSON Format → </a:t>
            </a:r>
            <a:r>
              <a:rPr lang="en-US" sz="2400" b="1" dirty="0" err="1"/>
              <a:t>train.json</a:t>
            </a:r>
            <a:r>
              <a:rPr lang="en-US" sz="2400" b="1" dirty="0"/>
              <a:t> (Training) → </a:t>
            </a:r>
            <a:r>
              <a:rPr lang="en-US" sz="2400" b="1" dirty="0" err="1"/>
              <a:t>dev.json</a:t>
            </a:r>
            <a:r>
              <a:rPr lang="en-US" sz="2400" b="1" dirty="0"/>
              <a:t> (Validation) → </a:t>
            </a:r>
            <a:r>
              <a:rPr lang="en-US" sz="2400" b="1" dirty="0" err="1"/>
              <a:t>test.json</a:t>
            </a:r>
            <a:r>
              <a:rPr lang="en-US" sz="2400" b="1" dirty="0"/>
              <a:t> (Testing)</a:t>
            </a:r>
            <a:endParaRPr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686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B6B8-08B2-C109-3977-33BEA93A52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BBB3BC-AF35-B727-3C04-9611C4861B0E}"/>
              </a:ext>
            </a:extLst>
          </p:cNvPr>
          <p:cNvSpPr txBox="1">
            <a:spLocks noGrp="1"/>
          </p:cNvSpPr>
          <p:nvPr>
            <p:ph type="title"/>
          </p:nvPr>
        </p:nvSpPr>
        <p:spPr>
          <a:xfrm>
            <a:off x="941147" y="762000"/>
            <a:ext cx="9665970" cy="627736"/>
          </a:xfrm>
          <a:prstGeom prst="rect">
            <a:avLst/>
          </a:prstGeom>
        </p:spPr>
        <p:txBody>
          <a:bodyPr vert="horz" wrap="square" lIns="0" tIns="12065" rIns="0" bIns="0" rtlCol="0">
            <a:spAutoFit/>
          </a:bodyPr>
          <a:lstStyle/>
          <a:p>
            <a:pPr marL="2509520" algn="l">
              <a:lnSpc>
                <a:spcPct val="100000"/>
              </a:lnSpc>
              <a:spcBef>
                <a:spcPts val="95"/>
              </a:spcBef>
            </a:pPr>
            <a:r>
              <a:rPr lang="en-US" sz="4000" spc="-10" dirty="0"/>
              <a:t>DATASET FEATURES</a:t>
            </a:r>
            <a:endParaRPr sz="4000" spc="-20" dirty="0"/>
          </a:p>
        </p:txBody>
      </p:sp>
      <p:sp>
        <p:nvSpPr>
          <p:cNvPr id="4" name="object 4">
            <a:extLst>
              <a:ext uri="{FF2B5EF4-FFF2-40B4-BE49-F238E27FC236}">
                <a16:creationId xmlns:a16="http://schemas.microsoft.com/office/drawing/2014/main" id="{BFB53E9A-8BC1-E33F-9DA1-39980F40E32D}"/>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DB659C51-5510-7756-889F-AD3131CB439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2C9F519A-A85B-68AD-A3AE-54A4AE6A161B}"/>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96CBC8E9-ADC9-4499-CDD2-024CA0A7941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11</a:t>
            </a:fld>
            <a:endParaRPr spc="-25" dirty="0"/>
          </a:p>
        </p:txBody>
      </p:sp>
      <p:sp>
        <p:nvSpPr>
          <p:cNvPr id="3" name="object 3">
            <a:extLst>
              <a:ext uri="{FF2B5EF4-FFF2-40B4-BE49-F238E27FC236}">
                <a16:creationId xmlns:a16="http://schemas.microsoft.com/office/drawing/2014/main" id="{A7016206-9F93-BB89-6F94-D75D76F76251}"/>
              </a:ext>
            </a:extLst>
          </p:cNvPr>
          <p:cNvSpPr txBox="1"/>
          <p:nvPr/>
        </p:nvSpPr>
        <p:spPr>
          <a:xfrm>
            <a:off x="880989" y="1676400"/>
            <a:ext cx="10666095" cy="3461845"/>
          </a:xfrm>
          <a:prstGeom prst="rect">
            <a:avLst/>
          </a:prstGeom>
        </p:spPr>
        <p:txBody>
          <a:bodyPr vert="horz" wrap="square" lIns="0" tIns="14605" rIns="0" bIns="0" rtlCol="0">
            <a:spAutoFit/>
          </a:bodyPr>
          <a:lstStyle/>
          <a:p>
            <a:pPr marL="12700" algn="just">
              <a:lnSpc>
                <a:spcPct val="100000"/>
              </a:lnSpc>
              <a:spcBef>
                <a:spcPts val="115"/>
              </a:spcBef>
              <a:tabLst>
                <a:tab pos="280035" algn="l"/>
              </a:tabLst>
            </a:pPr>
            <a:r>
              <a:rPr lang="en-US" sz="2800" dirty="0">
                <a:latin typeface="Times New Roman" panose="02020603050405020304" pitchFamily="18" charset="0"/>
                <a:cs typeface="Times New Roman" panose="02020603050405020304" pitchFamily="18" charset="0"/>
              </a:rPr>
              <a:t>The dataset contains two major categories of features: </a:t>
            </a:r>
            <a:r>
              <a:rPr lang="en-US" sz="2800" b="1" dirty="0">
                <a:latin typeface="Times New Roman" panose="02020603050405020304" pitchFamily="18" charset="0"/>
                <a:cs typeface="Times New Roman" panose="02020603050405020304" pitchFamily="18" charset="0"/>
              </a:rPr>
              <a:t>Textual Features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Metadata Features</a:t>
            </a:r>
            <a:r>
              <a:rPr lang="en-US" sz="2800" dirty="0">
                <a:latin typeface="Times New Roman" panose="02020603050405020304" pitchFamily="18" charset="0"/>
                <a:cs typeface="Times New Roman" panose="02020603050405020304" pitchFamily="18" charset="0"/>
              </a:rPr>
              <a:t>. Textual features include user tweets, writing style, and semantic patterns, which help in understanding the language usage and contextual intent of the accounts. Metadata features consist of followers count, friends count, listed count, statuses count, and the verified flag, which together represent the behavioral and profile characteristics of Twitter users and play a crucial role in distinguishing human accounts from bots.</a:t>
            </a:r>
            <a:endParaRP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9239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ECCF5-77A5-2852-14C3-D067C3A5028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019E18-E87B-DCBB-7487-181DE96C7E01}"/>
              </a:ext>
            </a:extLst>
          </p:cNvPr>
          <p:cNvSpPr txBox="1">
            <a:spLocks noGrp="1"/>
          </p:cNvSpPr>
          <p:nvPr>
            <p:ph type="title"/>
          </p:nvPr>
        </p:nvSpPr>
        <p:spPr>
          <a:xfrm>
            <a:off x="457200" y="964156"/>
            <a:ext cx="10337976" cy="504625"/>
          </a:xfrm>
          <a:prstGeom prst="rect">
            <a:avLst/>
          </a:prstGeom>
        </p:spPr>
        <p:txBody>
          <a:bodyPr vert="horz" wrap="square" lIns="0" tIns="12065" rIns="0" bIns="0" rtlCol="0">
            <a:spAutoFit/>
          </a:bodyPr>
          <a:lstStyle/>
          <a:p>
            <a:pPr marL="2509520" algn="l">
              <a:lnSpc>
                <a:spcPct val="100000"/>
              </a:lnSpc>
              <a:spcBef>
                <a:spcPts val="95"/>
              </a:spcBef>
            </a:pPr>
            <a:r>
              <a:rPr lang="en-US" sz="3200" dirty="0"/>
              <a:t>SYSTEM ARCHITECTURE OVERVIEW</a:t>
            </a:r>
            <a:endParaRPr lang="en-US" sz="3200" spc="-20" dirty="0"/>
          </a:p>
        </p:txBody>
      </p:sp>
      <p:sp>
        <p:nvSpPr>
          <p:cNvPr id="4" name="object 4">
            <a:extLst>
              <a:ext uri="{FF2B5EF4-FFF2-40B4-BE49-F238E27FC236}">
                <a16:creationId xmlns:a16="http://schemas.microsoft.com/office/drawing/2014/main" id="{1ECED531-BA17-AC03-2A2A-DB393C8CA969}"/>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a:extLst>
              <a:ext uri="{FF2B5EF4-FFF2-40B4-BE49-F238E27FC236}">
                <a16:creationId xmlns:a16="http://schemas.microsoft.com/office/drawing/2014/main" id="{6214825E-203B-4151-7833-49A83C140B7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a:extLst>
              <a:ext uri="{FF2B5EF4-FFF2-40B4-BE49-F238E27FC236}">
                <a16:creationId xmlns:a16="http://schemas.microsoft.com/office/drawing/2014/main" id="{555F7C74-6B29-FA56-401D-DE2323382671}"/>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a:extLst>
              <a:ext uri="{FF2B5EF4-FFF2-40B4-BE49-F238E27FC236}">
                <a16:creationId xmlns:a16="http://schemas.microsoft.com/office/drawing/2014/main" id="{9633362A-D9A8-223D-401E-6A8B580CB9B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12</a:t>
            </a:fld>
            <a:endParaRPr spc="-25" dirty="0"/>
          </a:p>
        </p:txBody>
      </p:sp>
      <p:sp>
        <p:nvSpPr>
          <p:cNvPr id="3" name="object 3">
            <a:extLst>
              <a:ext uri="{FF2B5EF4-FFF2-40B4-BE49-F238E27FC236}">
                <a16:creationId xmlns:a16="http://schemas.microsoft.com/office/drawing/2014/main" id="{3203F427-FD2C-DF1D-FA37-7D385DB2CC76}"/>
              </a:ext>
            </a:extLst>
          </p:cNvPr>
          <p:cNvSpPr txBox="1"/>
          <p:nvPr/>
        </p:nvSpPr>
        <p:spPr>
          <a:xfrm>
            <a:off x="880989" y="1676400"/>
            <a:ext cx="10666095" cy="3892732"/>
          </a:xfrm>
          <a:prstGeom prst="rect">
            <a:avLst/>
          </a:prstGeom>
        </p:spPr>
        <p:txBody>
          <a:bodyPr vert="horz" wrap="square" lIns="0" tIns="14605" rIns="0" bIns="0" rtlCol="0">
            <a:spAutoFit/>
          </a:bodyPr>
          <a:lstStyle/>
          <a:p>
            <a:pPr marL="12700" algn="just">
              <a:lnSpc>
                <a:spcPct val="100000"/>
              </a:lnSpc>
              <a:spcBef>
                <a:spcPts val="115"/>
              </a:spcBef>
              <a:tabLst>
                <a:tab pos="280035" algn="l"/>
              </a:tabLst>
            </a:pPr>
            <a:r>
              <a:rPr lang="en-US" sz="2800" dirty="0">
                <a:latin typeface="Times New Roman" panose="02020603050405020304" pitchFamily="18" charset="0"/>
                <a:cs typeface="Times New Roman" panose="02020603050405020304" pitchFamily="18" charset="0"/>
              </a:rPr>
              <a:t>The proposed system follows a dual-branch hybrid architecture designed to effectively detect Twitter bots. One branch focuses on </a:t>
            </a:r>
            <a:r>
              <a:rPr lang="en-US" sz="2800" b="1" dirty="0">
                <a:latin typeface="Times New Roman" panose="02020603050405020304" pitchFamily="18" charset="0"/>
                <a:cs typeface="Times New Roman" panose="02020603050405020304" pitchFamily="18" charset="0"/>
              </a:rPr>
              <a:t>textual information</a:t>
            </a:r>
            <a:r>
              <a:rPr lang="en-US" sz="2800" dirty="0">
                <a:latin typeface="Times New Roman" panose="02020603050405020304" pitchFamily="18" charset="0"/>
                <a:cs typeface="Times New Roman" panose="02020603050405020304" pitchFamily="18" charset="0"/>
              </a:rPr>
              <a:t>, where </a:t>
            </a:r>
            <a:r>
              <a:rPr lang="en-US" sz="2800" b="1" dirty="0">
                <a:latin typeface="Times New Roman" panose="02020603050405020304" pitchFamily="18" charset="0"/>
                <a:cs typeface="Times New Roman" panose="02020603050405020304" pitchFamily="18" charset="0"/>
              </a:rPr>
              <a:t>tweet content </a:t>
            </a:r>
            <a:r>
              <a:rPr lang="en-US" sz="2800" dirty="0">
                <a:latin typeface="Times New Roman" panose="02020603050405020304" pitchFamily="18" charset="0"/>
                <a:cs typeface="Times New Roman" panose="02020603050405020304" pitchFamily="18" charset="0"/>
              </a:rPr>
              <a:t>is processed using a BERT-based model to capture contextual and semantic representations. The second branch handles user metadata, which is passed through a </a:t>
            </a:r>
            <a:r>
              <a:rPr lang="en-US" sz="2800" b="1" dirty="0">
                <a:latin typeface="Times New Roman" panose="02020603050405020304" pitchFamily="18" charset="0"/>
                <a:cs typeface="Times New Roman" panose="02020603050405020304" pitchFamily="18" charset="0"/>
              </a:rPr>
              <a:t>Multi-Layer Perceptron (MLP)</a:t>
            </a:r>
            <a:r>
              <a:rPr lang="en-US" sz="2800" dirty="0">
                <a:latin typeface="Times New Roman" panose="02020603050405020304" pitchFamily="18" charset="0"/>
                <a:cs typeface="Times New Roman" panose="02020603050405020304" pitchFamily="18" charset="0"/>
              </a:rPr>
              <a:t> to learn </a:t>
            </a:r>
            <a:r>
              <a:rPr lang="en-US" sz="2800" b="1" dirty="0">
                <a:latin typeface="Times New Roman" panose="02020603050405020304" pitchFamily="18" charset="0"/>
                <a:cs typeface="Times New Roman" panose="02020603050405020304" pitchFamily="18" charset="0"/>
              </a:rPr>
              <a:t>behavioral patterns </a:t>
            </a:r>
            <a:r>
              <a:rPr lang="en-US" sz="2800" dirty="0">
                <a:latin typeface="Times New Roman" panose="02020603050405020304" pitchFamily="18" charset="0"/>
                <a:cs typeface="Times New Roman" panose="02020603050405020304" pitchFamily="18" charset="0"/>
              </a:rPr>
              <a:t>from numerical features. The outputs from both branches are then fused and fed into a classification head, which produces the final prediction by combining linguistic and behavioral insights.</a:t>
            </a:r>
            <a:endParaRP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946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80210">
              <a:lnSpc>
                <a:spcPct val="100000"/>
              </a:lnSpc>
              <a:spcBef>
                <a:spcPts val="95"/>
              </a:spcBef>
            </a:pPr>
            <a:r>
              <a:rPr spc="-20" dirty="0"/>
              <a:t>PROBLEM</a:t>
            </a:r>
            <a:r>
              <a:rPr spc="-215" dirty="0"/>
              <a:t> </a:t>
            </a:r>
            <a:r>
              <a:rPr spc="-30" dirty="0"/>
              <a:t>STATEMENT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13</a:t>
            </a:fld>
            <a:endParaRPr spc="-25" dirty="0"/>
          </a:p>
        </p:txBody>
      </p:sp>
      <p:sp>
        <p:nvSpPr>
          <p:cNvPr id="3" name="object 3"/>
          <p:cNvSpPr txBox="1"/>
          <p:nvPr/>
        </p:nvSpPr>
        <p:spPr>
          <a:xfrm>
            <a:off x="765149" y="1220546"/>
            <a:ext cx="10777220" cy="5092420"/>
          </a:xfrm>
          <a:prstGeom prst="rect">
            <a:avLst/>
          </a:prstGeom>
        </p:spPr>
        <p:txBody>
          <a:bodyPr vert="horz" wrap="square" lIns="0" tIns="13970" rIns="0" bIns="0" rtlCol="0">
            <a:spAutoFit/>
          </a:bodyPr>
          <a:lstStyle/>
          <a:p>
            <a:pPr marL="355600" indent="-342900">
              <a:lnSpc>
                <a:spcPct val="100000"/>
              </a:lnSpc>
              <a:spcBef>
                <a:spcPts val="110"/>
              </a:spcBef>
              <a:buFont typeface="Arial" panose="020B0604020202020204" pitchFamily="34" charset="0"/>
              <a:buChar char="•"/>
              <a:tabLst>
                <a:tab pos="356870" algn="l"/>
              </a:tabLst>
            </a:pPr>
            <a:r>
              <a:rPr sz="2200" b="1" dirty="0">
                <a:solidFill>
                  <a:srgbClr val="FF0000"/>
                </a:solidFill>
                <a:latin typeface="Times New Roman"/>
                <a:cs typeface="Times New Roman"/>
              </a:rPr>
              <a:t>Main</a:t>
            </a:r>
            <a:r>
              <a:rPr sz="2200" b="1" spc="-20" dirty="0">
                <a:solidFill>
                  <a:srgbClr val="FF0000"/>
                </a:solidFill>
                <a:latin typeface="Times New Roman"/>
                <a:cs typeface="Times New Roman"/>
              </a:rPr>
              <a:t> </a:t>
            </a:r>
            <a:r>
              <a:rPr sz="2200" b="1" spc="-10" dirty="0">
                <a:solidFill>
                  <a:srgbClr val="FF0000"/>
                </a:solidFill>
                <a:latin typeface="Times New Roman"/>
                <a:cs typeface="Times New Roman"/>
              </a:rPr>
              <a:t>Issue</a:t>
            </a:r>
            <a:endParaRPr sz="2200" b="1" dirty="0">
              <a:solidFill>
                <a:srgbClr val="FF0000"/>
              </a:solidFill>
              <a:latin typeface="Times New Roman"/>
              <a:cs typeface="Times New Roman"/>
            </a:endParaRPr>
          </a:p>
          <a:p>
            <a:pPr marL="12700">
              <a:lnSpc>
                <a:spcPct val="100000"/>
              </a:lnSpc>
              <a:tabLst>
                <a:tab pos="609600" algn="l"/>
                <a:tab pos="1917700" algn="l"/>
                <a:tab pos="2933065" algn="l"/>
                <a:tab pos="3326129" algn="l"/>
                <a:tab pos="4762500" algn="l"/>
                <a:tab pos="5311140" algn="l"/>
                <a:tab pos="6511925" algn="l"/>
                <a:tab pos="6966584" algn="l"/>
                <a:tab pos="8024495" algn="l"/>
                <a:tab pos="8759190" algn="l"/>
                <a:tab pos="9137015" algn="l"/>
                <a:tab pos="9637395" algn="l"/>
                <a:tab pos="10527030" algn="l"/>
              </a:tabLst>
            </a:pPr>
            <a:r>
              <a:rPr sz="2200" spc="-25" dirty="0">
                <a:latin typeface="Times New Roman"/>
                <a:cs typeface="Times New Roman"/>
              </a:rPr>
              <a:t>The</a:t>
            </a:r>
            <a:r>
              <a:rPr sz="2200" dirty="0">
                <a:latin typeface="Times New Roman"/>
                <a:cs typeface="Times New Roman"/>
              </a:rPr>
              <a:t>	</a:t>
            </a:r>
            <a:r>
              <a:rPr sz="2200" spc="-10" dirty="0">
                <a:latin typeface="Times New Roman"/>
                <a:cs typeface="Times New Roman"/>
              </a:rPr>
              <a:t>increasing</a:t>
            </a:r>
            <a:r>
              <a:rPr sz="2200" dirty="0">
                <a:latin typeface="Times New Roman"/>
                <a:cs typeface="Times New Roman"/>
              </a:rPr>
              <a:t>	</a:t>
            </a:r>
            <a:r>
              <a:rPr sz="2200" spc="-10" dirty="0">
                <a:latin typeface="Times New Roman"/>
                <a:cs typeface="Times New Roman"/>
              </a:rPr>
              <a:t>number</a:t>
            </a:r>
            <a:r>
              <a:rPr sz="2200" dirty="0">
                <a:latin typeface="Times New Roman"/>
                <a:cs typeface="Times New Roman"/>
              </a:rPr>
              <a:t>	</a:t>
            </a:r>
            <a:r>
              <a:rPr sz="2200" spc="-25" dirty="0">
                <a:latin typeface="Times New Roman"/>
                <a:cs typeface="Times New Roman"/>
              </a:rPr>
              <a:t>of</a:t>
            </a:r>
            <a:r>
              <a:rPr sz="2200" dirty="0">
                <a:latin typeface="Times New Roman"/>
                <a:cs typeface="Times New Roman"/>
              </a:rPr>
              <a:t>	</a:t>
            </a:r>
            <a:r>
              <a:rPr sz="2200" spc="-10" dirty="0">
                <a:latin typeface="Times New Roman"/>
                <a:cs typeface="Times New Roman"/>
              </a:rPr>
              <a:t>automated</a:t>
            </a:r>
            <a:r>
              <a:rPr sz="2200" dirty="0">
                <a:latin typeface="Times New Roman"/>
                <a:cs typeface="Times New Roman"/>
              </a:rPr>
              <a:t>	</a:t>
            </a:r>
            <a:r>
              <a:rPr sz="2200" spc="-25" dirty="0">
                <a:latin typeface="Times New Roman"/>
                <a:cs typeface="Times New Roman"/>
              </a:rPr>
              <a:t>bot</a:t>
            </a:r>
            <a:r>
              <a:rPr sz="2200" dirty="0">
                <a:latin typeface="Times New Roman"/>
                <a:cs typeface="Times New Roman"/>
              </a:rPr>
              <a:t>	</a:t>
            </a:r>
            <a:r>
              <a:rPr sz="2200" spc="-10" dirty="0">
                <a:latin typeface="Times New Roman"/>
                <a:cs typeface="Times New Roman"/>
              </a:rPr>
              <a:t>accounts</a:t>
            </a:r>
            <a:r>
              <a:rPr sz="2200" dirty="0">
                <a:latin typeface="Times New Roman"/>
                <a:cs typeface="Times New Roman"/>
              </a:rPr>
              <a:t>	</a:t>
            </a:r>
            <a:r>
              <a:rPr sz="2200" spc="-25" dirty="0">
                <a:latin typeface="Times New Roman"/>
                <a:cs typeface="Times New Roman"/>
              </a:rPr>
              <a:t>on</a:t>
            </a:r>
            <a:r>
              <a:rPr sz="2200" dirty="0">
                <a:latin typeface="Times New Roman"/>
                <a:cs typeface="Times New Roman"/>
              </a:rPr>
              <a:t>	</a:t>
            </a:r>
            <a:r>
              <a:rPr sz="2200" spc="-10" dirty="0">
                <a:latin typeface="Times New Roman"/>
                <a:cs typeface="Times New Roman"/>
              </a:rPr>
              <a:t>Twitter</a:t>
            </a:r>
            <a:r>
              <a:rPr sz="2200" dirty="0">
                <a:latin typeface="Times New Roman"/>
                <a:cs typeface="Times New Roman"/>
              </a:rPr>
              <a:t>	</a:t>
            </a:r>
            <a:r>
              <a:rPr sz="2200" spc="-10" dirty="0">
                <a:latin typeface="Times New Roman"/>
                <a:cs typeface="Times New Roman"/>
              </a:rPr>
              <a:t>leads</a:t>
            </a:r>
            <a:r>
              <a:rPr sz="2200" dirty="0">
                <a:latin typeface="Times New Roman"/>
                <a:cs typeface="Times New Roman"/>
              </a:rPr>
              <a:t>	</a:t>
            </a:r>
            <a:r>
              <a:rPr sz="2200" spc="-25" dirty="0">
                <a:latin typeface="Times New Roman"/>
                <a:cs typeface="Times New Roman"/>
              </a:rPr>
              <a:t>to</a:t>
            </a:r>
            <a:r>
              <a:rPr sz="2200" dirty="0">
                <a:latin typeface="Times New Roman"/>
                <a:cs typeface="Times New Roman"/>
              </a:rPr>
              <a:t>	</a:t>
            </a:r>
            <a:r>
              <a:rPr sz="2200" spc="-25" dirty="0">
                <a:latin typeface="Times New Roman"/>
                <a:cs typeface="Times New Roman"/>
              </a:rPr>
              <a:t>the</a:t>
            </a:r>
            <a:r>
              <a:rPr sz="2200" dirty="0">
                <a:latin typeface="Times New Roman"/>
                <a:cs typeface="Times New Roman"/>
              </a:rPr>
              <a:t>	</a:t>
            </a:r>
            <a:r>
              <a:rPr sz="2200" spc="-10" dirty="0">
                <a:latin typeface="Times New Roman"/>
                <a:cs typeface="Times New Roman"/>
              </a:rPr>
              <a:t>spread</a:t>
            </a:r>
            <a:r>
              <a:rPr sz="2200" dirty="0">
                <a:latin typeface="Times New Roman"/>
                <a:cs typeface="Times New Roman"/>
              </a:rPr>
              <a:t>	</a:t>
            </a:r>
            <a:r>
              <a:rPr sz="2200" spc="-25" dirty="0">
                <a:latin typeface="Times New Roman"/>
                <a:cs typeface="Times New Roman"/>
              </a:rPr>
              <a:t>of</a:t>
            </a:r>
            <a:endParaRPr sz="2200" dirty="0">
              <a:latin typeface="Times New Roman"/>
              <a:cs typeface="Times New Roman"/>
            </a:endParaRPr>
          </a:p>
          <a:p>
            <a:pPr marL="12700">
              <a:lnSpc>
                <a:spcPct val="100000"/>
              </a:lnSpc>
            </a:pPr>
            <a:r>
              <a:rPr sz="2200" dirty="0">
                <a:latin typeface="Times New Roman"/>
                <a:cs typeface="Times New Roman"/>
              </a:rPr>
              <a:t>misinformation,</a:t>
            </a:r>
            <a:r>
              <a:rPr sz="2200" spc="-60" dirty="0">
                <a:latin typeface="Times New Roman"/>
                <a:cs typeface="Times New Roman"/>
              </a:rPr>
              <a:t> </a:t>
            </a:r>
            <a:r>
              <a:rPr sz="2200" dirty="0">
                <a:latin typeface="Times New Roman"/>
                <a:cs typeface="Times New Roman"/>
              </a:rPr>
              <a:t>spam,</a:t>
            </a:r>
            <a:r>
              <a:rPr sz="2200" spc="-40"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dirty="0">
                <a:latin typeface="Times New Roman"/>
                <a:cs typeface="Times New Roman"/>
              </a:rPr>
              <a:t>manipulation</a:t>
            </a:r>
            <a:r>
              <a:rPr sz="2200" spc="-50" dirty="0">
                <a:latin typeface="Times New Roman"/>
                <a:cs typeface="Times New Roman"/>
              </a:rPr>
              <a:t> </a:t>
            </a:r>
            <a:r>
              <a:rPr sz="2200" dirty="0">
                <a:latin typeface="Times New Roman"/>
                <a:cs typeface="Times New Roman"/>
              </a:rPr>
              <a:t>of</a:t>
            </a:r>
            <a:r>
              <a:rPr sz="2200" spc="-10" dirty="0">
                <a:latin typeface="Times New Roman"/>
                <a:cs typeface="Times New Roman"/>
              </a:rPr>
              <a:t> </a:t>
            </a:r>
            <a:r>
              <a:rPr sz="2200" dirty="0">
                <a:latin typeface="Times New Roman"/>
                <a:cs typeface="Times New Roman"/>
              </a:rPr>
              <a:t>public</a:t>
            </a:r>
            <a:r>
              <a:rPr sz="2200" spc="-35" dirty="0">
                <a:latin typeface="Times New Roman"/>
                <a:cs typeface="Times New Roman"/>
              </a:rPr>
              <a:t> </a:t>
            </a:r>
            <a:r>
              <a:rPr sz="2200" spc="-10" dirty="0">
                <a:latin typeface="Times New Roman"/>
                <a:cs typeface="Times New Roman"/>
              </a:rPr>
              <a:t>opinion.</a:t>
            </a:r>
            <a:endParaRPr lang="en-US" sz="2200" spc="-10" dirty="0">
              <a:latin typeface="Times New Roman"/>
              <a:cs typeface="Times New Roman"/>
            </a:endParaRPr>
          </a:p>
          <a:p>
            <a:pPr marL="355600" indent="-342900" algn="just">
              <a:lnSpc>
                <a:spcPct val="100000"/>
              </a:lnSpc>
              <a:buFont typeface="Arial" panose="020B0604020202020204" pitchFamily="34" charset="0"/>
              <a:buChar char="•"/>
            </a:pPr>
            <a:r>
              <a:rPr lang="en-US" sz="2200" b="1" dirty="0">
                <a:solidFill>
                  <a:srgbClr val="FF0000"/>
                </a:solidFill>
                <a:latin typeface="Times New Roman"/>
                <a:cs typeface="Times New Roman"/>
              </a:rPr>
              <a:t>E</a:t>
            </a:r>
            <a:r>
              <a:rPr sz="2200" b="1" dirty="0">
                <a:solidFill>
                  <a:srgbClr val="FF0000"/>
                </a:solidFill>
                <a:latin typeface="Times New Roman"/>
                <a:cs typeface="Times New Roman"/>
              </a:rPr>
              <a:t>xisting</a:t>
            </a:r>
            <a:r>
              <a:rPr sz="2200" b="1" spc="-35" dirty="0">
                <a:solidFill>
                  <a:srgbClr val="FF0000"/>
                </a:solidFill>
                <a:latin typeface="Times New Roman"/>
                <a:cs typeface="Times New Roman"/>
              </a:rPr>
              <a:t> </a:t>
            </a:r>
            <a:r>
              <a:rPr sz="2200" b="1" spc="-10" dirty="0">
                <a:solidFill>
                  <a:srgbClr val="FF0000"/>
                </a:solidFill>
                <a:latin typeface="Times New Roman"/>
                <a:cs typeface="Times New Roman"/>
              </a:rPr>
              <a:t>Limitations</a:t>
            </a:r>
            <a:endParaRPr sz="2200" b="1" dirty="0">
              <a:solidFill>
                <a:srgbClr val="FF0000"/>
              </a:solidFill>
              <a:latin typeface="Times New Roman"/>
              <a:cs typeface="Times New Roman"/>
            </a:endParaRPr>
          </a:p>
          <a:p>
            <a:pPr marL="12700">
              <a:lnSpc>
                <a:spcPct val="100000"/>
              </a:lnSpc>
            </a:pPr>
            <a:r>
              <a:rPr sz="2200" dirty="0">
                <a:latin typeface="Times New Roman"/>
                <a:cs typeface="Times New Roman"/>
              </a:rPr>
              <a:t>Traditional</a:t>
            </a:r>
            <a:r>
              <a:rPr sz="2200" spc="-50" dirty="0">
                <a:latin typeface="Times New Roman"/>
                <a:cs typeface="Times New Roman"/>
              </a:rPr>
              <a:t> </a:t>
            </a:r>
            <a:r>
              <a:rPr sz="2200" dirty="0">
                <a:latin typeface="Times New Roman"/>
                <a:cs typeface="Times New Roman"/>
              </a:rPr>
              <a:t>detection</a:t>
            </a:r>
            <a:r>
              <a:rPr sz="2200" spc="-65" dirty="0">
                <a:latin typeface="Times New Roman"/>
                <a:cs typeface="Times New Roman"/>
              </a:rPr>
              <a:t> </a:t>
            </a:r>
            <a:r>
              <a:rPr sz="2200" dirty="0">
                <a:latin typeface="Times New Roman"/>
                <a:cs typeface="Times New Roman"/>
              </a:rPr>
              <a:t>models</a:t>
            </a:r>
            <a:r>
              <a:rPr sz="2200" spc="-20" dirty="0">
                <a:latin typeface="Times New Roman"/>
                <a:cs typeface="Times New Roman"/>
              </a:rPr>
              <a:t> </a:t>
            </a:r>
            <a:r>
              <a:rPr sz="2200" dirty="0">
                <a:latin typeface="Times New Roman"/>
                <a:cs typeface="Times New Roman"/>
              </a:rPr>
              <a:t>rely</a:t>
            </a:r>
            <a:r>
              <a:rPr sz="2200" spc="-30" dirty="0">
                <a:latin typeface="Times New Roman"/>
                <a:cs typeface="Times New Roman"/>
              </a:rPr>
              <a:t> </a:t>
            </a:r>
            <a:r>
              <a:rPr sz="2200" dirty="0">
                <a:latin typeface="Times New Roman"/>
                <a:cs typeface="Times New Roman"/>
              </a:rPr>
              <a:t>on</a:t>
            </a:r>
            <a:r>
              <a:rPr sz="2200" spc="-25" dirty="0">
                <a:latin typeface="Times New Roman"/>
                <a:cs typeface="Times New Roman"/>
              </a:rPr>
              <a:t> </a:t>
            </a:r>
            <a:r>
              <a:rPr sz="2200" dirty="0">
                <a:latin typeface="Times New Roman"/>
                <a:cs typeface="Times New Roman"/>
              </a:rPr>
              <a:t>either</a:t>
            </a:r>
            <a:r>
              <a:rPr sz="2200" spc="-45" dirty="0">
                <a:latin typeface="Times New Roman"/>
                <a:cs typeface="Times New Roman"/>
              </a:rPr>
              <a:t> </a:t>
            </a:r>
            <a:r>
              <a:rPr sz="2200" dirty="0">
                <a:latin typeface="Times New Roman"/>
                <a:cs typeface="Times New Roman"/>
              </a:rPr>
              <a:t>textual</a:t>
            </a:r>
            <a:r>
              <a:rPr sz="2200" spc="5" dirty="0">
                <a:latin typeface="Times New Roman"/>
                <a:cs typeface="Times New Roman"/>
              </a:rPr>
              <a:t> </a:t>
            </a:r>
            <a:r>
              <a:rPr sz="2200" dirty="0">
                <a:latin typeface="Times New Roman"/>
                <a:cs typeface="Times New Roman"/>
              </a:rPr>
              <a:t>content</a:t>
            </a:r>
            <a:r>
              <a:rPr sz="2200" spc="-50" dirty="0">
                <a:latin typeface="Times New Roman"/>
                <a:cs typeface="Times New Roman"/>
              </a:rPr>
              <a:t> </a:t>
            </a:r>
            <a:r>
              <a:rPr sz="2200" dirty="0">
                <a:latin typeface="Times New Roman"/>
                <a:cs typeface="Times New Roman"/>
              </a:rPr>
              <a:t>or</a:t>
            </a:r>
            <a:r>
              <a:rPr sz="2200" spc="5" dirty="0">
                <a:latin typeface="Times New Roman"/>
                <a:cs typeface="Times New Roman"/>
              </a:rPr>
              <a:t> </a:t>
            </a:r>
            <a:r>
              <a:rPr sz="2200" dirty="0">
                <a:latin typeface="Times New Roman"/>
                <a:cs typeface="Times New Roman"/>
              </a:rPr>
              <a:t>user</a:t>
            </a:r>
            <a:r>
              <a:rPr sz="2200" spc="-55" dirty="0">
                <a:latin typeface="Times New Roman"/>
                <a:cs typeface="Times New Roman"/>
              </a:rPr>
              <a:t> </a:t>
            </a:r>
            <a:r>
              <a:rPr sz="2200" dirty="0">
                <a:latin typeface="Times New Roman"/>
                <a:cs typeface="Times New Roman"/>
              </a:rPr>
              <a:t>metadata,</a:t>
            </a:r>
            <a:r>
              <a:rPr sz="2200" spc="-50" dirty="0">
                <a:latin typeface="Times New Roman"/>
                <a:cs typeface="Times New Roman"/>
              </a:rPr>
              <a:t> </a:t>
            </a:r>
            <a:r>
              <a:rPr sz="2200" dirty="0">
                <a:latin typeface="Times New Roman"/>
                <a:cs typeface="Times New Roman"/>
              </a:rPr>
              <a:t>not</a:t>
            </a:r>
            <a:r>
              <a:rPr sz="2200" spc="-20" dirty="0">
                <a:latin typeface="Times New Roman"/>
                <a:cs typeface="Times New Roman"/>
              </a:rPr>
              <a:t> </a:t>
            </a:r>
            <a:r>
              <a:rPr sz="2200" spc="-10" dirty="0">
                <a:latin typeface="Times New Roman"/>
                <a:cs typeface="Times New Roman"/>
              </a:rPr>
              <a:t>both.</a:t>
            </a:r>
            <a:endParaRPr sz="2200" dirty="0">
              <a:latin typeface="Times New Roman"/>
              <a:cs typeface="Times New Roman"/>
            </a:endParaRPr>
          </a:p>
          <a:p>
            <a:pPr marL="12700" marR="7620">
              <a:lnSpc>
                <a:spcPct val="100000"/>
              </a:lnSpc>
            </a:pPr>
            <a:r>
              <a:rPr sz="2200" dirty="0">
                <a:latin typeface="Times New Roman"/>
                <a:cs typeface="Times New Roman"/>
              </a:rPr>
              <a:t>They</a:t>
            </a:r>
            <a:r>
              <a:rPr sz="2200" spc="-40" dirty="0">
                <a:latin typeface="Times New Roman"/>
                <a:cs typeface="Times New Roman"/>
              </a:rPr>
              <a:t> </a:t>
            </a:r>
            <a:r>
              <a:rPr sz="2200" dirty="0">
                <a:latin typeface="Times New Roman"/>
                <a:cs typeface="Times New Roman"/>
              </a:rPr>
              <a:t>fail</a:t>
            </a:r>
            <a:r>
              <a:rPr sz="2200" spc="-25" dirty="0">
                <a:latin typeface="Times New Roman"/>
                <a:cs typeface="Times New Roman"/>
              </a:rPr>
              <a:t> </a:t>
            </a:r>
            <a:r>
              <a:rPr sz="2200" dirty="0">
                <a:latin typeface="Times New Roman"/>
                <a:cs typeface="Times New Roman"/>
              </a:rPr>
              <a:t>to</a:t>
            </a:r>
            <a:r>
              <a:rPr sz="2200" spc="-20" dirty="0">
                <a:latin typeface="Times New Roman"/>
                <a:cs typeface="Times New Roman"/>
              </a:rPr>
              <a:t> </a:t>
            </a:r>
            <a:r>
              <a:rPr sz="2200" dirty="0">
                <a:latin typeface="Times New Roman"/>
                <a:cs typeface="Times New Roman"/>
              </a:rPr>
              <a:t>capture</a:t>
            </a:r>
            <a:r>
              <a:rPr sz="2200" spc="-10" dirty="0">
                <a:latin typeface="Times New Roman"/>
                <a:cs typeface="Times New Roman"/>
              </a:rPr>
              <a:t> </a:t>
            </a:r>
            <a:r>
              <a:rPr sz="2200" dirty="0">
                <a:latin typeface="Times New Roman"/>
                <a:cs typeface="Times New Roman"/>
              </a:rPr>
              <a:t>deep</a:t>
            </a:r>
            <a:r>
              <a:rPr sz="2200" spc="-20" dirty="0">
                <a:latin typeface="Times New Roman"/>
                <a:cs typeface="Times New Roman"/>
              </a:rPr>
              <a:t> </a:t>
            </a:r>
            <a:r>
              <a:rPr sz="2200" dirty="0">
                <a:latin typeface="Times New Roman"/>
                <a:cs typeface="Times New Roman"/>
              </a:rPr>
              <a:t>contextual</a:t>
            </a:r>
            <a:r>
              <a:rPr sz="2200" spc="-5" dirty="0">
                <a:latin typeface="Times New Roman"/>
                <a:cs typeface="Times New Roman"/>
              </a:rPr>
              <a:t> </a:t>
            </a:r>
            <a:r>
              <a:rPr sz="2200" dirty="0">
                <a:latin typeface="Times New Roman"/>
                <a:cs typeface="Times New Roman"/>
              </a:rPr>
              <a:t>meaning</a:t>
            </a:r>
            <a:r>
              <a:rPr sz="2200" spc="-40" dirty="0">
                <a:latin typeface="Times New Roman"/>
                <a:cs typeface="Times New Roman"/>
              </a:rPr>
              <a:t> </a:t>
            </a:r>
            <a:r>
              <a:rPr sz="2200" dirty="0">
                <a:latin typeface="Times New Roman"/>
                <a:cs typeface="Times New Roman"/>
              </a:rPr>
              <a:t>of</a:t>
            </a:r>
            <a:r>
              <a:rPr sz="2200" spc="20" dirty="0">
                <a:latin typeface="Times New Roman"/>
                <a:cs typeface="Times New Roman"/>
              </a:rPr>
              <a:t> </a:t>
            </a:r>
            <a:r>
              <a:rPr sz="2200" dirty="0">
                <a:latin typeface="Times New Roman"/>
                <a:cs typeface="Times New Roman"/>
              </a:rPr>
              <a:t>tweets</a:t>
            </a:r>
            <a:r>
              <a:rPr sz="2200" spc="-35"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behavioral</a:t>
            </a:r>
            <a:r>
              <a:rPr sz="2200" spc="-65" dirty="0">
                <a:latin typeface="Times New Roman"/>
                <a:cs typeface="Times New Roman"/>
              </a:rPr>
              <a:t> </a:t>
            </a:r>
            <a:r>
              <a:rPr sz="2200" dirty="0">
                <a:latin typeface="Times New Roman"/>
                <a:cs typeface="Times New Roman"/>
              </a:rPr>
              <a:t>patterns</a:t>
            </a:r>
            <a:r>
              <a:rPr sz="2200" spc="-4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spc="-10" dirty="0">
                <a:latin typeface="Times New Roman"/>
                <a:cs typeface="Times New Roman"/>
              </a:rPr>
              <a:t>users. </a:t>
            </a:r>
            <a:r>
              <a:rPr sz="2200" dirty="0">
                <a:latin typeface="Times New Roman"/>
                <a:cs typeface="Times New Roman"/>
              </a:rPr>
              <a:t>Most</a:t>
            </a:r>
            <a:r>
              <a:rPr sz="2200" spc="355" dirty="0">
                <a:latin typeface="Times New Roman"/>
                <a:cs typeface="Times New Roman"/>
              </a:rPr>
              <a:t> </a:t>
            </a:r>
            <a:r>
              <a:rPr sz="2200" dirty="0">
                <a:latin typeface="Times New Roman"/>
                <a:cs typeface="Times New Roman"/>
              </a:rPr>
              <a:t>approaches</a:t>
            </a:r>
            <a:r>
              <a:rPr sz="2200" spc="360" dirty="0">
                <a:latin typeface="Times New Roman"/>
                <a:cs typeface="Times New Roman"/>
              </a:rPr>
              <a:t> </a:t>
            </a:r>
            <a:r>
              <a:rPr sz="2200" dirty="0">
                <a:latin typeface="Times New Roman"/>
                <a:cs typeface="Times New Roman"/>
              </a:rPr>
              <a:t>show</a:t>
            </a:r>
            <a:r>
              <a:rPr sz="2200" spc="360" dirty="0">
                <a:latin typeface="Times New Roman"/>
                <a:cs typeface="Times New Roman"/>
              </a:rPr>
              <a:t> </a:t>
            </a:r>
            <a:r>
              <a:rPr sz="2200" dirty="0">
                <a:latin typeface="Times New Roman"/>
                <a:cs typeface="Times New Roman"/>
              </a:rPr>
              <a:t>low</a:t>
            </a:r>
            <a:r>
              <a:rPr sz="2200" spc="380" dirty="0">
                <a:latin typeface="Times New Roman"/>
                <a:cs typeface="Times New Roman"/>
              </a:rPr>
              <a:t> </a:t>
            </a:r>
            <a:r>
              <a:rPr sz="2200" dirty="0">
                <a:latin typeface="Times New Roman"/>
                <a:cs typeface="Times New Roman"/>
              </a:rPr>
              <a:t>generalization</a:t>
            </a:r>
            <a:r>
              <a:rPr sz="2200" spc="330" dirty="0">
                <a:latin typeface="Times New Roman"/>
                <a:cs typeface="Times New Roman"/>
              </a:rPr>
              <a:t> </a:t>
            </a:r>
            <a:r>
              <a:rPr sz="2200" dirty="0">
                <a:latin typeface="Times New Roman"/>
                <a:cs typeface="Times New Roman"/>
              </a:rPr>
              <a:t>across</a:t>
            </a:r>
            <a:r>
              <a:rPr sz="2200" spc="380" dirty="0">
                <a:latin typeface="Times New Roman"/>
                <a:cs typeface="Times New Roman"/>
              </a:rPr>
              <a:t> </a:t>
            </a:r>
            <a:r>
              <a:rPr sz="2200" dirty="0">
                <a:latin typeface="Times New Roman"/>
                <a:cs typeface="Times New Roman"/>
              </a:rPr>
              <a:t>diverse</a:t>
            </a:r>
            <a:r>
              <a:rPr sz="2200" spc="355" dirty="0">
                <a:latin typeface="Times New Roman"/>
                <a:cs typeface="Times New Roman"/>
              </a:rPr>
              <a:t> </a:t>
            </a:r>
            <a:r>
              <a:rPr sz="2200" dirty="0">
                <a:latin typeface="Times New Roman"/>
                <a:cs typeface="Times New Roman"/>
              </a:rPr>
              <a:t>datasets</a:t>
            </a:r>
            <a:r>
              <a:rPr sz="2200" spc="360" dirty="0">
                <a:latin typeface="Times New Roman"/>
                <a:cs typeface="Times New Roman"/>
              </a:rPr>
              <a:t> </a:t>
            </a:r>
            <a:r>
              <a:rPr sz="2200" dirty="0">
                <a:latin typeface="Times New Roman"/>
                <a:cs typeface="Times New Roman"/>
              </a:rPr>
              <a:t>and</a:t>
            </a:r>
            <a:r>
              <a:rPr sz="2200" spc="375" dirty="0">
                <a:latin typeface="Times New Roman"/>
                <a:cs typeface="Times New Roman"/>
              </a:rPr>
              <a:t> </a:t>
            </a:r>
            <a:r>
              <a:rPr sz="2200" dirty="0">
                <a:latin typeface="Times New Roman"/>
                <a:cs typeface="Times New Roman"/>
              </a:rPr>
              <a:t>poor</a:t>
            </a:r>
            <a:r>
              <a:rPr sz="2200" spc="345" dirty="0">
                <a:latin typeface="Times New Roman"/>
                <a:cs typeface="Times New Roman"/>
              </a:rPr>
              <a:t> </a:t>
            </a:r>
            <a:r>
              <a:rPr sz="2200" dirty="0">
                <a:latin typeface="Times New Roman"/>
                <a:cs typeface="Times New Roman"/>
              </a:rPr>
              <a:t>scalability</a:t>
            </a:r>
            <a:r>
              <a:rPr sz="2200" spc="360" dirty="0">
                <a:latin typeface="Times New Roman"/>
                <a:cs typeface="Times New Roman"/>
              </a:rPr>
              <a:t> </a:t>
            </a:r>
            <a:r>
              <a:rPr sz="2200" spc="-25" dirty="0">
                <a:latin typeface="Times New Roman"/>
                <a:cs typeface="Times New Roman"/>
              </a:rPr>
              <a:t>for </a:t>
            </a:r>
            <a:r>
              <a:rPr sz="2200" spc="-10" dirty="0">
                <a:latin typeface="Times New Roman"/>
                <a:cs typeface="Times New Roman"/>
              </a:rPr>
              <a:t>real-</a:t>
            </a:r>
            <a:r>
              <a:rPr sz="2200" dirty="0">
                <a:latin typeface="Times New Roman"/>
                <a:cs typeface="Times New Roman"/>
              </a:rPr>
              <a:t>world</a:t>
            </a:r>
            <a:r>
              <a:rPr sz="2200" spc="-10" dirty="0">
                <a:latin typeface="Times New Roman"/>
                <a:cs typeface="Times New Roman"/>
              </a:rPr>
              <a:t> </a:t>
            </a:r>
            <a:r>
              <a:rPr sz="2200" spc="-20" dirty="0">
                <a:latin typeface="Times New Roman"/>
                <a:cs typeface="Times New Roman"/>
              </a:rPr>
              <a:t>use.</a:t>
            </a:r>
            <a:endParaRPr sz="2200" dirty="0">
              <a:latin typeface="Times New Roman"/>
              <a:cs typeface="Times New Roman"/>
            </a:endParaRPr>
          </a:p>
          <a:p>
            <a:pPr marL="355600" indent="-342900">
              <a:lnSpc>
                <a:spcPct val="100000"/>
              </a:lnSpc>
              <a:spcBef>
                <a:spcPts val="5"/>
              </a:spcBef>
              <a:buFont typeface="Arial" panose="020B0604020202020204" pitchFamily="34" charset="0"/>
              <a:buChar char="•"/>
              <a:tabLst>
                <a:tab pos="426720" algn="l"/>
              </a:tabLst>
            </a:pPr>
            <a:r>
              <a:rPr sz="2200" b="1" dirty="0">
                <a:solidFill>
                  <a:srgbClr val="FF0000"/>
                </a:solidFill>
                <a:latin typeface="Times New Roman"/>
                <a:cs typeface="Times New Roman"/>
              </a:rPr>
              <a:t>Core</a:t>
            </a:r>
            <a:r>
              <a:rPr sz="2200" b="1" spc="-35" dirty="0">
                <a:solidFill>
                  <a:srgbClr val="FF0000"/>
                </a:solidFill>
                <a:latin typeface="Times New Roman"/>
                <a:cs typeface="Times New Roman"/>
              </a:rPr>
              <a:t> </a:t>
            </a:r>
            <a:r>
              <a:rPr sz="2200" b="1" spc="-10" dirty="0">
                <a:solidFill>
                  <a:srgbClr val="FF0000"/>
                </a:solidFill>
                <a:latin typeface="Times New Roman"/>
                <a:cs typeface="Times New Roman"/>
              </a:rPr>
              <a:t>Problem</a:t>
            </a:r>
            <a:endParaRPr sz="2200" b="1" dirty="0">
              <a:solidFill>
                <a:srgbClr val="FF0000"/>
              </a:solidFill>
              <a:latin typeface="Times New Roman"/>
              <a:cs typeface="Times New Roman"/>
            </a:endParaRPr>
          </a:p>
          <a:p>
            <a:pPr marL="12700" marR="5080" algn="just">
              <a:lnSpc>
                <a:spcPct val="100000"/>
              </a:lnSpc>
            </a:pPr>
            <a:r>
              <a:rPr sz="2200" dirty="0">
                <a:latin typeface="Times New Roman"/>
                <a:cs typeface="Times New Roman"/>
              </a:rPr>
              <a:t>There</a:t>
            </a:r>
            <a:r>
              <a:rPr sz="2200" spc="-15" dirty="0">
                <a:latin typeface="Times New Roman"/>
                <a:cs typeface="Times New Roman"/>
              </a:rPr>
              <a:t> </a:t>
            </a:r>
            <a:r>
              <a:rPr sz="2200" dirty="0">
                <a:latin typeface="Times New Roman"/>
                <a:cs typeface="Times New Roman"/>
              </a:rPr>
              <a:t>is</a:t>
            </a:r>
            <a:r>
              <a:rPr sz="2200" spc="-10" dirty="0">
                <a:latin typeface="Times New Roman"/>
                <a:cs typeface="Times New Roman"/>
              </a:rPr>
              <a:t> </a:t>
            </a:r>
            <a:r>
              <a:rPr sz="2200" dirty="0">
                <a:latin typeface="Times New Roman"/>
                <a:cs typeface="Times New Roman"/>
              </a:rPr>
              <a:t>a</a:t>
            </a:r>
            <a:r>
              <a:rPr sz="2200" spc="-15" dirty="0">
                <a:latin typeface="Times New Roman"/>
                <a:cs typeface="Times New Roman"/>
              </a:rPr>
              <a:t> </a:t>
            </a:r>
            <a:r>
              <a:rPr sz="2200" dirty="0">
                <a:latin typeface="Times New Roman"/>
                <a:cs typeface="Times New Roman"/>
              </a:rPr>
              <a:t>need</a:t>
            </a:r>
            <a:r>
              <a:rPr sz="2200" spc="-15" dirty="0">
                <a:latin typeface="Times New Roman"/>
                <a:cs typeface="Times New Roman"/>
              </a:rPr>
              <a:t> </a:t>
            </a:r>
            <a:r>
              <a:rPr sz="2200" dirty="0">
                <a:latin typeface="Times New Roman"/>
                <a:cs typeface="Times New Roman"/>
              </a:rPr>
              <a:t>for a</a:t>
            </a:r>
            <a:r>
              <a:rPr sz="2200" spc="-15" dirty="0">
                <a:latin typeface="Times New Roman"/>
                <a:cs typeface="Times New Roman"/>
              </a:rPr>
              <a:t> </a:t>
            </a:r>
            <a:r>
              <a:rPr sz="2200" dirty="0">
                <a:latin typeface="Times New Roman"/>
                <a:cs typeface="Times New Roman"/>
              </a:rPr>
              <a:t>robust,</a:t>
            </a:r>
            <a:r>
              <a:rPr sz="2200" spc="-10" dirty="0">
                <a:latin typeface="Times New Roman"/>
                <a:cs typeface="Times New Roman"/>
              </a:rPr>
              <a:t> </a:t>
            </a:r>
            <a:r>
              <a:rPr sz="2200" dirty="0">
                <a:latin typeface="Times New Roman"/>
                <a:cs typeface="Times New Roman"/>
              </a:rPr>
              <a:t>hybrid</a:t>
            </a:r>
            <a:r>
              <a:rPr sz="2200" spc="-25" dirty="0">
                <a:latin typeface="Times New Roman"/>
                <a:cs typeface="Times New Roman"/>
              </a:rPr>
              <a:t> </a:t>
            </a:r>
            <a:r>
              <a:rPr sz="2200" dirty="0">
                <a:latin typeface="Times New Roman"/>
                <a:cs typeface="Times New Roman"/>
              </a:rPr>
              <a:t>deep</a:t>
            </a:r>
            <a:r>
              <a:rPr sz="2200" spc="-35" dirty="0">
                <a:latin typeface="Times New Roman"/>
                <a:cs typeface="Times New Roman"/>
              </a:rPr>
              <a:t> </a:t>
            </a:r>
            <a:r>
              <a:rPr sz="2200" dirty="0">
                <a:latin typeface="Times New Roman"/>
                <a:cs typeface="Times New Roman"/>
              </a:rPr>
              <a:t>learning</a:t>
            </a:r>
            <a:r>
              <a:rPr sz="2200" spc="-15" dirty="0">
                <a:latin typeface="Times New Roman"/>
                <a:cs typeface="Times New Roman"/>
              </a:rPr>
              <a:t> </a:t>
            </a:r>
            <a:r>
              <a:rPr sz="2200" dirty="0">
                <a:latin typeface="Times New Roman"/>
                <a:cs typeface="Times New Roman"/>
              </a:rPr>
              <a:t>model</a:t>
            </a:r>
            <a:r>
              <a:rPr sz="2200" spc="-10" dirty="0">
                <a:latin typeface="Times New Roman"/>
                <a:cs typeface="Times New Roman"/>
              </a:rPr>
              <a:t> </a:t>
            </a:r>
            <a:r>
              <a:rPr sz="2200" dirty="0">
                <a:latin typeface="Times New Roman"/>
                <a:cs typeface="Times New Roman"/>
              </a:rPr>
              <a:t>that</a:t>
            </a:r>
            <a:r>
              <a:rPr sz="2200" spc="5" dirty="0">
                <a:latin typeface="Times New Roman"/>
                <a:cs typeface="Times New Roman"/>
              </a:rPr>
              <a:t> </a:t>
            </a:r>
            <a:r>
              <a:rPr sz="2200" dirty="0">
                <a:latin typeface="Times New Roman"/>
                <a:cs typeface="Times New Roman"/>
              </a:rPr>
              <a:t>can</a:t>
            </a:r>
            <a:r>
              <a:rPr sz="2200" spc="-15" dirty="0">
                <a:latin typeface="Times New Roman"/>
                <a:cs typeface="Times New Roman"/>
              </a:rPr>
              <a:t> </a:t>
            </a:r>
            <a:r>
              <a:rPr sz="2200" dirty="0">
                <a:latin typeface="Times New Roman"/>
                <a:cs typeface="Times New Roman"/>
              </a:rPr>
              <a:t>integrate semantic</a:t>
            </a:r>
            <a:r>
              <a:rPr sz="2200" spc="-30" dirty="0">
                <a:latin typeface="Times New Roman"/>
                <a:cs typeface="Times New Roman"/>
              </a:rPr>
              <a:t> </a:t>
            </a:r>
            <a:r>
              <a:rPr sz="2200" spc="-10" dirty="0">
                <a:latin typeface="Times New Roman"/>
                <a:cs typeface="Times New Roman"/>
              </a:rPr>
              <a:t>features </a:t>
            </a:r>
            <a:r>
              <a:rPr sz="2200" dirty="0">
                <a:latin typeface="Times New Roman"/>
                <a:cs typeface="Times New Roman"/>
              </a:rPr>
              <a:t>from</a:t>
            </a:r>
            <a:r>
              <a:rPr sz="2200" spc="165" dirty="0">
                <a:latin typeface="Times New Roman"/>
                <a:cs typeface="Times New Roman"/>
              </a:rPr>
              <a:t> </a:t>
            </a:r>
            <a:r>
              <a:rPr sz="2200" dirty="0">
                <a:latin typeface="Times New Roman"/>
                <a:cs typeface="Times New Roman"/>
              </a:rPr>
              <a:t>tweets</a:t>
            </a:r>
            <a:r>
              <a:rPr sz="2200" spc="195" dirty="0">
                <a:latin typeface="Times New Roman"/>
                <a:cs typeface="Times New Roman"/>
              </a:rPr>
              <a:t> </a:t>
            </a:r>
            <a:r>
              <a:rPr sz="2200" dirty="0">
                <a:latin typeface="Times New Roman"/>
                <a:cs typeface="Times New Roman"/>
              </a:rPr>
              <a:t>(BERT)</a:t>
            </a:r>
            <a:r>
              <a:rPr sz="2200" spc="200" dirty="0">
                <a:latin typeface="Times New Roman"/>
                <a:cs typeface="Times New Roman"/>
              </a:rPr>
              <a:t> </a:t>
            </a:r>
            <a:r>
              <a:rPr sz="2200" dirty="0">
                <a:latin typeface="Times New Roman"/>
                <a:cs typeface="Times New Roman"/>
              </a:rPr>
              <a:t>and</a:t>
            </a:r>
            <a:r>
              <a:rPr sz="2200" spc="155" dirty="0">
                <a:latin typeface="Times New Roman"/>
                <a:cs typeface="Times New Roman"/>
              </a:rPr>
              <a:t> </a:t>
            </a:r>
            <a:r>
              <a:rPr sz="2200" dirty="0">
                <a:latin typeface="Times New Roman"/>
                <a:cs typeface="Times New Roman"/>
              </a:rPr>
              <a:t>behavioral</a:t>
            </a:r>
            <a:r>
              <a:rPr sz="2200" spc="175" dirty="0">
                <a:latin typeface="Times New Roman"/>
                <a:cs typeface="Times New Roman"/>
              </a:rPr>
              <a:t> </a:t>
            </a:r>
            <a:r>
              <a:rPr sz="2200" dirty="0">
                <a:latin typeface="Times New Roman"/>
                <a:cs typeface="Times New Roman"/>
              </a:rPr>
              <a:t>features</a:t>
            </a:r>
            <a:r>
              <a:rPr sz="2200" spc="175" dirty="0">
                <a:latin typeface="Times New Roman"/>
                <a:cs typeface="Times New Roman"/>
              </a:rPr>
              <a:t> </a:t>
            </a:r>
            <a:r>
              <a:rPr sz="2200" dirty="0">
                <a:latin typeface="Times New Roman"/>
                <a:cs typeface="Times New Roman"/>
              </a:rPr>
              <a:t>from</a:t>
            </a:r>
            <a:r>
              <a:rPr sz="2200" spc="175" dirty="0">
                <a:latin typeface="Times New Roman"/>
                <a:cs typeface="Times New Roman"/>
              </a:rPr>
              <a:t> </a:t>
            </a:r>
            <a:r>
              <a:rPr sz="2200" dirty="0">
                <a:latin typeface="Times New Roman"/>
                <a:cs typeface="Times New Roman"/>
              </a:rPr>
              <a:t>metadata</a:t>
            </a:r>
            <a:r>
              <a:rPr sz="2200" spc="190" dirty="0">
                <a:latin typeface="Times New Roman"/>
                <a:cs typeface="Times New Roman"/>
              </a:rPr>
              <a:t> </a:t>
            </a:r>
            <a:r>
              <a:rPr sz="2200" dirty="0">
                <a:latin typeface="Times New Roman"/>
                <a:cs typeface="Times New Roman"/>
              </a:rPr>
              <a:t>(MLP)</a:t>
            </a:r>
            <a:r>
              <a:rPr sz="2200" spc="180" dirty="0">
                <a:latin typeface="Times New Roman"/>
                <a:cs typeface="Times New Roman"/>
              </a:rPr>
              <a:t> </a:t>
            </a:r>
            <a:r>
              <a:rPr sz="2200" dirty="0">
                <a:latin typeface="Times New Roman"/>
                <a:cs typeface="Times New Roman"/>
              </a:rPr>
              <a:t>to</a:t>
            </a:r>
            <a:r>
              <a:rPr sz="2200" spc="160" dirty="0">
                <a:latin typeface="Times New Roman"/>
                <a:cs typeface="Times New Roman"/>
              </a:rPr>
              <a:t> </a:t>
            </a:r>
            <a:r>
              <a:rPr sz="2200" dirty="0">
                <a:latin typeface="Times New Roman"/>
                <a:cs typeface="Times New Roman"/>
              </a:rPr>
              <a:t>accurately</a:t>
            </a:r>
            <a:r>
              <a:rPr sz="2200" spc="175" dirty="0">
                <a:latin typeface="Times New Roman"/>
                <a:cs typeface="Times New Roman"/>
              </a:rPr>
              <a:t> </a:t>
            </a:r>
            <a:r>
              <a:rPr sz="2200" spc="-10" dirty="0">
                <a:latin typeface="Times New Roman"/>
                <a:cs typeface="Times New Roman"/>
              </a:rPr>
              <a:t>identify </a:t>
            </a:r>
            <a:r>
              <a:rPr sz="2200" dirty="0">
                <a:latin typeface="Times New Roman"/>
                <a:cs typeface="Times New Roman"/>
              </a:rPr>
              <a:t>bot</a:t>
            </a:r>
            <a:r>
              <a:rPr sz="2200" spc="-10" dirty="0">
                <a:latin typeface="Times New Roman"/>
                <a:cs typeface="Times New Roman"/>
              </a:rPr>
              <a:t> </a:t>
            </a:r>
            <a:r>
              <a:rPr sz="2200" dirty="0">
                <a:latin typeface="Times New Roman"/>
                <a:cs typeface="Times New Roman"/>
              </a:rPr>
              <a:t>accounts</a:t>
            </a:r>
            <a:r>
              <a:rPr sz="2200" spc="-55" dirty="0">
                <a:latin typeface="Times New Roman"/>
                <a:cs typeface="Times New Roman"/>
              </a:rPr>
              <a:t> </a:t>
            </a:r>
            <a:r>
              <a:rPr sz="2200" dirty="0">
                <a:latin typeface="Times New Roman"/>
                <a:cs typeface="Times New Roman"/>
              </a:rPr>
              <a:t>on</a:t>
            </a:r>
            <a:r>
              <a:rPr sz="2200" spc="5" dirty="0">
                <a:latin typeface="Times New Roman"/>
                <a:cs typeface="Times New Roman"/>
              </a:rPr>
              <a:t> </a:t>
            </a:r>
            <a:r>
              <a:rPr sz="2200" spc="-10" dirty="0">
                <a:latin typeface="Times New Roman"/>
                <a:cs typeface="Times New Roman"/>
              </a:rPr>
              <a:t>Twitter.</a:t>
            </a:r>
            <a:endParaRPr sz="2200" dirty="0">
              <a:latin typeface="Times New Roman"/>
              <a:cs typeface="Times New Roman"/>
            </a:endParaRPr>
          </a:p>
          <a:p>
            <a:pPr marL="355600" indent="-342900" algn="just">
              <a:lnSpc>
                <a:spcPct val="100000"/>
              </a:lnSpc>
              <a:spcBef>
                <a:spcPts val="5"/>
              </a:spcBef>
              <a:buFont typeface="Arial" panose="020B0604020202020204" pitchFamily="34" charset="0"/>
              <a:buChar char="•"/>
              <a:tabLst>
                <a:tab pos="427355" algn="l"/>
              </a:tabLst>
            </a:pPr>
            <a:r>
              <a:rPr sz="2200" b="1" spc="-20" dirty="0">
                <a:solidFill>
                  <a:srgbClr val="FF0000"/>
                </a:solidFill>
                <a:latin typeface="Times New Roman"/>
                <a:cs typeface="Times New Roman"/>
              </a:rPr>
              <a:t>Goal</a:t>
            </a:r>
            <a:endParaRPr sz="2200" b="1" dirty="0">
              <a:solidFill>
                <a:srgbClr val="FF0000"/>
              </a:solidFill>
              <a:latin typeface="Times New Roman"/>
              <a:cs typeface="Times New Roman"/>
            </a:endParaRPr>
          </a:p>
          <a:p>
            <a:pPr marL="12700" algn="just">
              <a:lnSpc>
                <a:spcPct val="100000"/>
              </a:lnSpc>
            </a:pPr>
            <a:r>
              <a:rPr sz="2200" dirty="0">
                <a:latin typeface="Times New Roman"/>
                <a:cs typeface="Times New Roman"/>
              </a:rPr>
              <a:t>To</a:t>
            </a:r>
            <a:r>
              <a:rPr sz="2200" spc="215" dirty="0">
                <a:latin typeface="Times New Roman"/>
                <a:cs typeface="Times New Roman"/>
              </a:rPr>
              <a:t>  </a:t>
            </a:r>
            <a:r>
              <a:rPr sz="2200" dirty="0">
                <a:latin typeface="Times New Roman"/>
                <a:cs typeface="Times New Roman"/>
              </a:rPr>
              <a:t>design</a:t>
            </a:r>
            <a:r>
              <a:rPr sz="2200" spc="220" dirty="0">
                <a:latin typeface="Times New Roman"/>
                <a:cs typeface="Times New Roman"/>
              </a:rPr>
              <a:t>  </a:t>
            </a:r>
            <a:r>
              <a:rPr sz="2200" dirty="0">
                <a:latin typeface="Times New Roman"/>
                <a:cs typeface="Times New Roman"/>
              </a:rPr>
              <a:t>and</a:t>
            </a:r>
            <a:r>
              <a:rPr sz="2200" spc="220" dirty="0">
                <a:latin typeface="Times New Roman"/>
                <a:cs typeface="Times New Roman"/>
              </a:rPr>
              <a:t>  </a:t>
            </a:r>
            <a:r>
              <a:rPr sz="2200" dirty="0">
                <a:latin typeface="Times New Roman"/>
                <a:cs typeface="Times New Roman"/>
              </a:rPr>
              <a:t>implement</a:t>
            </a:r>
            <a:r>
              <a:rPr sz="2200" spc="220" dirty="0">
                <a:latin typeface="Times New Roman"/>
                <a:cs typeface="Times New Roman"/>
              </a:rPr>
              <a:t>  </a:t>
            </a:r>
            <a:r>
              <a:rPr sz="2200" dirty="0">
                <a:latin typeface="Times New Roman"/>
                <a:cs typeface="Times New Roman"/>
              </a:rPr>
              <a:t>a</a:t>
            </a:r>
            <a:r>
              <a:rPr sz="2200" spc="210" dirty="0">
                <a:latin typeface="Times New Roman"/>
                <a:cs typeface="Times New Roman"/>
              </a:rPr>
              <a:t>  </a:t>
            </a:r>
            <a:r>
              <a:rPr sz="2200" spc="-10" dirty="0">
                <a:latin typeface="Times New Roman"/>
                <a:cs typeface="Times New Roman"/>
              </a:rPr>
              <a:t>HybridBERT-</a:t>
            </a:r>
            <a:r>
              <a:rPr sz="2200" dirty="0">
                <a:latin typeface="Times New Roman"/>
                <a:cs typeface="Times New Roman"/>
              </a:rPr>
              <a:t>Metadata</a:t>
            </a:r>
            <a:r>
              <a:rPr sz="2200" spc="225" dirty="0">
                <a:latin typeface="Times New Roman"/>
                <a:cs typeface="Times New Roman"/>
              </a:rPr>
              <a:t>  </a:t>
            </a:r>
            <a:r>
              <a:rPr sz="2200" dirty="0">
                <a:latin typeface="Times New Roman"/>
                <a:cs typeface="Times New Roman"/>
              </a:rPr>
              <a:t>model</a:t>
            </a:r>
            <a:r>
              <a:rPr sz="2200" spc="215" dirty="0">
                <a:latin typeface="Times New Roman"/>
                <a:cs typeface="Times New Roman"/>
              </a:rPr>
              <a:t>  </a:t>
            </a:r>
            <a:r>
              <a:rPr sz="2200" dirty="0">
                <a:latin typeface="Times New Roman"/>
                <a:cs typeface="Times New Roman"/>
              </a:rPr>
              <a:t>that</a:t>
            </a:r>
            <a:r>
              <a:rPr sz="2200" spc="225" dirty="0">
                <a:latin typeface="Times New Roman"/>
                <a:cs typeface="Times New Roman"/>
              </a:rPr>
              <a:t>  </a:t>
            </a:r>
            <a:r>
              <a:rPr sz="2200" dirty="0">
                <a:latin typeface="Times New Roman"/>
                <a:cs typeface="Times New Roman"/>
              </a:rPr>
              <a:t>improves</a:t>
            </a:r>
            <a:r>
              <a:rPr sz="2200" spc="225" dirty="0">
                <a:latin typeface="Times New Roman"/>
                <a:cs typeface="Times New Roman"/>
              </a:rPr>
              <a:t>  </a:t>
            </a:r>
            <a:r>
              <a:rPr sz="2200" spc="-10" dirty="0">
                <a:latin typeface="Times New Roman"/>
                <a:cs typeface="Times New Roman"/>
              </a:rPr>
              <a:t>accuracy,</a:t>
            </a:r>
            <a:endParaRPr sz="2200" dirty="0">
              <a:latin typeface="Times New Roman"/>
              <a:cs typeface="Times New Roman"/>
            </a:endParaRPr>
          </a:p>
          <a:p>
            <a:pPr marL="12700" algn="just">
              <a:lnSpc>
                <a:spcPct val="100000"/>
              </a:lnSpc>
            </a:pPr>
            <a:r>
              <a:rPr sz="2200" dirty="0">
                <a:latin typeface="Times New Roman"/>
                <a:cs typeface="Times New Roman"/>
              </a:rPr>
              <a:t>reliability,</a:t>
            </a:r>
            <a:r>
              <a:rPr sz="2200" spc="-55"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dirty="0">
                <a:latin typeface="Times New Roman"/>
                <a:cs typeface="Times New Roman"/>
              </a:rPr>
              <a:t>generalization</a:t>
            </a:r>
            <a:r>
              <a:rPr sz="2200" spc="-55" dirty="0">
                <a:latin typeface="Times New Roman"/>
                <a:cs typeface="Times New Roman"/>
              </a:rPr>
              <a:t> </a:t>
            </a:r>
            <a:r>
              <a:rPr sz="2200" dirty="0">
                <a:latin typeface="Times New Roman"/>
                <a:cs typeface="Times New Roman"/>
              </a:rPr>
              <a:t>in</a:t>
            </a:r>
            <a:r>
              <a:rPr sz="2200" spc="-20" dirty="0">
                <a:latin typeface="Times New Roman"/>
                <a:cs typeface="Times New Roman"/>
              </a:rPr>
              <a:t> </a:t>
            </a:r>
            <a:r>
              <a:rPr sz="2200" dirty="0">
                <a:latin typeface="Times New Roman"/>
                <a:cs typeface="Times New Roman"/>
              </a:rPr>
              <a:t>detecting</a:t>
            </a:r>
            <a:r>
              <a:rPr sz="2200" spc="-60" dirty="0">
                <a:latin typeface="Times New Roman"/>
                <a:cs typeface="Times New Roman"/>
              </a:rPr>
              <a:t> </a:t>
            </a:r>
            <a:r>
              <a:rPr sz="2200" dirty="0">
                <a:latin typeface="Times New Roman"/>
                <a:cs typeface="Times New Roman"/>
              </a:rPr>
              <a:t>Twitter</a:t>
            </a:r>
            <a:r>
              <a:rPr sz="2200" spc="-45" dirty="0">
                <a:latin typeface="Times New Roman"/>
                <a:cs typeface="Times New Roman"/>
              </a:rPr>
              <a:t> </a:t>
            </a:r>
            <a:r>
              <a:rPr sz="2200" spc="-10" dirty="0">
                <a:latin typeface="Times New Roman"/>
                <a:cs typeface="Times New Roman"/>
              </a:rPr>
              <a:t>bots.</a:t>
            </a:r>
            <a:endParaRPr sz="2200"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3107055">
              <a:lnSpc>
                <a:spcPct val="100000"/>
              </a:lnSpc>
              <a:spcBef>
                <a:spcPts val="95"/>
              </a:spcBef>
            </a:pPr>
            <a:r>
              <a:rPr spc="-10" dirty="0"/>
              <a:t>OBJECTIVES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14</a:t>
            </a:fld>
            <a:endParaRPr spc="-25" dirty="0"/>
          </a:p>
        </p:txBody>
      </p:sp>
      <p:sp>
        <p:nvSpPr>
          <p:cNvPr id="3" name="object 3"/>
          <p:cNvSpPr txBox="1"/>
          <p:nvPr/>
        </p:nvSpPr>
        <p:spPr>
          <a:xfrm>
            <a:off x="487705" y="1447800"/>
            <a:ext cx="11475924" cy="3750386"/>
          </a:xfrm>
          <a:prstGeom prst="rect">
            <a:avLst/>
          </a:prstGeom>
        </p:spPr>
        <p:txBody>
          <a:bodyPr vert="horz" wrap="square" lIns="0" tIns="13335" rIns="0" bIns="0" rtlCol="0">
            <a:spAutoFit/>
          </a:bodyPr>
          <a:lstStyle/>
          <a:p>
            <a:pPr marL="12700">
              <a:lnSpc>
                <a:spcPct val="100000"/>
              </a:lnSpc>
              <a:spcBef>
                <a:spcPts val="105"/>
              </a:spcBef>
              <a:tabLst>
                <a:tab pos="356235" algn="l"/>
              </a:tabLst>
            </a:pPr>
            <a:r>
              <a:rPr sz="2200" dirty="0">
                <a:latin typeface="Times New Roman"/>
                <a:cs typeface="Times New Roman"/>
              </a:rPr>
              <a:t>To</a:t>
            </a:r>
            <a:r>
              <a:rPr sz="2200" spc="45" dirty="0">
                <a:latin typeface="Times New Roman"/>
                <a:cs typeface="Times New Roman"/>
              </a:rPr>
              <a:t> </a:t>
            </a:r>
            <a:r>
              <a:rPr sz="2200" dirty="0">
                <a:latin typeface="Times New Roman"/>
                <a:cs typeface="Times New Roman"/>
              </a:rPr>
              <a:t>develop</a:t>
            </a:r>
            <a:r>
              <a:rPr sz="2200" spc="30" dirty="0">
                <a:latin typeface="Times New Roman"/>
                <a:cs typeface="Times New Roman"/>
              </a:rPr>
              <a:t> </a:t>
            </a:r>
            <a:r>
              <a:rPr sz="2200" dirty="0">
                <a:latin typeface="Times New Roman"/>
                <a:cs typeface="Times New Roman"/>
              </a:rPr>
              <a:t>a</a:t>
            </a:r>
            <a:r>
              <a:rPr sz="2200" spc="30" dirty="0">
                <a:latin typeface="Times New Roman"/>
                <a:cs typeface="Times New Roman"/>
              </a:rPr>
              <a:t> </a:t>
            </a:r>
            <a:r>
              <a:rPr sz="2200" b="1" dirty="0">
                <a:latin typeface="Times New Roman"/>
                <a:cs typeface="Times New Roman"/>
              </a:rPr>
              <a:t>HybridBERT</a:t>
            </a:r>
            <a:r>
              <a:rPr sz="2200" b="1" spc="45" dirty="0">
                <a:latin typeface="Times New Roman"/>
                <a:cs typeface="Times New Roman"/>
              </a:rPr>
              <a:t> </a:t>
            </a:r>
            <a:r>
              <a:rPr sz="2200" b="1" dirty="0">
                <a:latin typeface="Times New Roman"/>
                <a:cs typeface="Times New Roman"/>
              </a:rPr>
              <a:t>and</a:t>
            </a:r>
            <a:r>
              <a:rPr sz="2200" b="1" spc="45" dirty="0">
                <a:latin typeface="Times New Roman"/>
                <a:cs typeface="Times New Roman"/>
              </a:rPr>
              <a:t> </a:t>
            </a:r>
            <a:r>
              <a:rPr sz="2200" b="1" dirty="0">
                <a:latin typeface="Times New Roman"/>
                <a:cs typeface="Times New Roman"/>
              </a:rPr>
              <a:t>Metadata</a:t>
            </a:r>
            <a:r>
              <a:rPr sz="2200" b="1" spc="55" dirty="0">
                <a:latin typeface="Times New Roman"/>
                <a:cs typeface="Times New Roman"/>
              </a:rPr>
              <a:t> </a:t>
            </a:r>
            <a:r>
              <a:rPr sz="2200" b="1" dirty="0">
                <a:latin typeface="Times New Roman"/>
                <a:cs typeface="Times New Roman"/>
              </a:rPr>
              <a:t>Deep</a:t>
            </a:r>
            <a:r>
              <a:rPr sz="2200" b="1" spc="45" dirty="0">
                <a:latin typeface="Times New Roman"/>
                <a:cs typeface="Times New Roman"/>
              </a:rPr>
              <a:t> </a:t>
            </a:r>
            <a:r>
              <a:rPr sz="2200" b="1" dirty="0">
                <a:latin typeface="Times New Roman"/>
                <a:cs typeface="Times New Roman"/>
              </a:rPr>
              <a:t>Learning</a:t>
            </a:r>
            <a:r>
              <a:rPr sz="2200" b="1" spc="15" dirty="0">
                <a:latin typeface="Times New Roman"/>
                <a:cs typeface="Times New Roman"/>
              </a:rPr>
              <a:t> </a:t>
            </a:r>
            <a:r>
              <a:rPr sz="2200" b="1" dirty="0">
                <a:latin typeface="Times New Roman"/>
                <a:cs typeface="Times New Roman"/>
              </a:rPr>
              <a:t>Model</a:t>
            </a:r>
            <a:r>
              <a:rPr sz="2200" b="1" spc="40" dirty="0">
                <a:latin typeface="Times New Roman"/>
                <a:cs typeface="Times New Roman"/>
              </a:rPr>
              <a:t> </a:t>
            </a:r>
            <a:r>
              <a:rPr sz="2200" dirty="0">
                <a:latin typeface="Times New Roman"/>
                <a:cs typeface="Times New Roman"/>
              </a:rPr>
              <a:t>for</a:t>
            </a:r>
            <a:r>
              <a:rPr sz="2200" spc="35" dirty="0">
                <a:latin typeface="Times New Roman"/>
                <a:cs typeface="Times New Roman"/>
              </a:rPr>
              <a:t> </a:t>
            </a:r>
            <a:r>
              <a:rPr sz="2200" dirty="0">
                <a:latin typeface="Times New Roman"/>
                <a:cs typeface="Times New Roman"/>
              </a:rPr>
              <a:t>accurate</a:t>
            </a:r>
            <a:r>
              <a:rPr sz="2200" spc="25"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spc="-10" dirty="0">
                <a:latin typeface="Times New Roman"/>
                <a:cs typeface="Times New Roman"/>
              </a:rPr>
              <a:t>efficient</a:t>
            </a:r>
            <a:r>
              <a:rPr lang="en-US" sz="2200" spc="-10" dirty="0">
                <a:latin typeface="Times New Roman"/>
                <a:cs typeface="Times New Roman"/>
              </a:rPr>
              <a:t> </a:t>
            </a:r>
            <a:r>
              <a:rPr sz="2200" b="1" dirty="0">
                <a:latin typeface="Times New Roman"/>
                <a:cs typeface="Times New Roman"/>
              </a:rPr>
              <a:t>Twitter</a:t>
            </a:r>
            <a:r>
              <a:rPr sz="2200" b="1" spc="-75" dirty="0">
                <a:latin typeface="Times New Roman"/>
                <a:cs typeface="Times New Roman"/>
              </a:rPr>
              <a:t> </a:t>
            </a:r>
            <a:r>
              <a:rPr sz="2200" b="1" dirty="0">
                <a:latin typeface="Times New Roman"/>
                <a:cs typeface="Times New Roman"/>
              </a:rPr>
              <a:t>bot</a:t>
            </a:r>
            <a:r>
              <a:rPr sz="2200" b="1" spc="10" dirty="0">
                <a:latin typeface="Times New Roman"/>
                <a:cs typeface="Times New Roman"/>
              </a:rPr>
              <a:t> </a:t>
            </a:r>
            <a:r>
              <a:rPr sz="2200" b="1" spc="-10" dirty="0">
                <a:latin typeface="Times New Roman"/>
                <a:cs typeface="Times New Roman"/>
              </a:rPr>
              <a:t>detection. There</a:t>
            </a:r>
            <a:r>
              <a:rPr lang="en-US" sz="2200" spc="-10" dirty="0">
                <a:latin typeface="Times New Roman"/>
                <a:cs typeface="Times New Roman"/>
              </a:rPr>
              <a:t> Are Set Of Objectives To be Followed</a:t>
            </a:r>
          </a:p>
          <a:p>
            <a:pPr marL="12700">
              <a:lnSpc>
                <a:spcPct val="100000"/>
              </a:lnSpc>
              <a:spcBef>
                <a:spcPts val="105"/>
              </a:spcBef>
              <a:tabLst>
                <a:tab pos="356235" algn="l"/>
              </a:tabLst>
            </a:pPr>
            <a:endParaRPr sz="2200" dirty="0">
              <a:latin typeface="Times New Roman"/>
              <a:cs typeface="Times New Roman"/>
            </a:endParaRPr>
          </a:p>
          <a:p>
            <a:pPr marL="12700">
              <a:lnSpc>
                <a:spcPct val="100000"/>
              </a:lnSpc>
              <a:spcBef>
                <a:spcPts val="5"/>
              </a:spcBef>
            </a:pPr>
            <a:r>
              <a:rPr sz="2200" b="1" dirty="0">
                <a:latin typeface="Times New Roman"/>
                <a:cs typeface="Times New Roman"/>
              </a:rPr>
              <a:t>Specific</a:t>
            </a:r>
            <a:r>
              <a:rPr sz="2200" b="1" spc="-40" dirty="0">
                <a:latin typeface="Times New Roman"/>
                <a:cs typeface="Times New Roman"/>
              </a:rPr>
              <a:t> </a:t>
            </a:r>
            <a:r>
              <a:rPr sz="2200" b="1" spc="-10" dirty="0">
                <a:latin typeface="Times New Roman"/>
                <a:cs typeface="Times New Roman"/>
              </a:rPr>
              <a:t>Objectives</a:t>
            </a:r>
            <a:endParaRPr sz="2200" dirty="0">
              <a:latin typeface="Times New Roman"/>
              <a:cs typeface="Times New Roman"/>
            </a:endParaRPr>
          </a:p>
          <a:p>
            <a:pPr marL="469900" indent="-457200">
              <a:lnSpc>
                <a:spcPct val="100000"/>
              </a:lnSpc>
              <a:buFont typeface="+mj-lt"/>
              <a:buAutoNum type="arabicPeriod"/>
              <a:tabLst>
                <a:tab pos="356870" algn="l"/>
              </a:tabLst>
            </a:pPr>
            <a:r>
              <a:rPr sz="2200" dirty="0">
                <a:latin typeface="Times New Roman"/>
                <a:cs typeface="Times New Roman"/>
              </a:rPr>
              <a:t>To</a:t>
            </a:r>
            <a:r>
              <a:rPr sz="2200" spc="-5" dirty="0">
                <a:latin typeface="Times New Roman"/>
                <a:cs typeface="Times New Roman"/>
              </a:rPr>
              <a:t> </a:t>
            </a:r>
            <a:r>
              <a:rPr sz="2200" dirty="0">
                <a:latin typeface="Times New Roman"/>
                <a:cs typeface="Times New Roman"/>
              </a:rPr>
              <a:t>analyze</a:t>
            </a:r>
            <a:r>
              <a:rPr sz="2200" spc="-15" dirty="0">
                <a:latin typeface="Times New Roman"/>
                <a:cs typeface="Times New Roman"/>
              </a:rPr>
              <a:t> </a:t>
            </a:r>
            <a:r>
              <a:rPr sz="2200" dirty="0">
                <a:latin typeface="Times New Roman"/>
                <a:cs typeface="Times New Roman"/>
              </a:rPr>
              <a:t>the</a:t>
            </a:r>
            <a:r>
              <a:rPr sz="2200" spc="-20" dirty="0">
                <a:latin typeface="Times New Roman"/>
                <a:cs typeface="Times New Roman"/>
              </a:rPr>
              <a:t> </a:t>
            </a:r>
            <a:r>
              <a:rPr sz="2200" dirty="0">
                <a:latin typeface="Times New Roman"/>
                <a:cs typeface="Times New Roman"/>
              </a:rPr>
              <a:t>limitations</a:t>
            </a:r>
            <a:r>
              <a:rPr sz="2200" spc="-50"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existing</a:t>
            </a:r>
            <a:r>
              <a:rPr sz="2200" spc="-65" dirty="0">
                <a:latin typeface="Times New Roman"/>
                <a:cs typeface="Times New Roman"/>
              </a:rPr>
              <a:t> </a:t>
            </a:r>
            <a:r>
              <a:rPr sz="2200" dirty="0">
                <a:latin typeface="Times New Roman"/>
                <a:cs typeface="Times New Roman"/>
              </a:rPr>
              <a:t>Twitter</a:t>
            </a:r>
            <a:r>
              <a:rPr sz="2200" spc="-25" dirty="0">
                <a:latin typeface="Times New Roman"/>
                <a:cs typeface="Times New Roman"/>
              </a:rPr>
              <a:t> </a:t>
            </a:r>
            <a:r>
              <a:rPr sz="2200" dirty="0">
                <a:latin typeface="Times New Roman"/>
                <a:cs typeface="Times New Roman"/>
              </a:rPr>
              <a:t>bot</a:t>
            </a:r>
            <a:r>
              <a:rPr sz="2200" spc="-15" dirty="0">
                <a:latin typeface="Times New Roman"/>
                <a:cs typeface="Times New Roman"/>
              </a:rPr>
              <a:t> </a:t>
            </a:r>
            <a:r>
              <a:rPr sz="2200" dirty="0">
                <a:latin typeface="Times New Roman"/>
                <a:cs typeface="Times New Roman"/>
              </a:rPr>
              <a:t>detection</a:t>
            </a:r>
            <a:r>
              <a:rPr sz="2200" spc="-70" dirty="0">
                <a:latin typeface="Times New Roman"/>
                <a:cs typeface="Times New Roman"/>
              </a:rPr>
              <a:t> </a:t>
            </a:r>
            <a:r>
              <a:rPr sz="2200" spc="-10" dirty="0">
                <a:latin typeface="Times New Roman"/>
                <a:cs typeface="Times New Roman"/>
              </a:rPr>
              <a:t>techniques.</a:t>
            </a:r>
            <a:endParaRPr sz="2200" dirty="0">
              <a:latin typeface="Times New Roman"/>
              <a:cs typeface="Times New Roman"/>
            </a:endParaRPr>
          </a:p>
          <a:p>
            <a:pPr marL="469900" indent="-457200">
              <a:lnSpc>
                <a:spcPct val="100000"/>
              </a:lnSpc>
              <a:buFont typeface="+mj-lt"/>
              <a:buAutoNum type="arabicPeriod"/>
              <a:tabLst>
                <a:tab pos="356870" algn="l"/>
              </a:tabLst>
            </a:pPr>
            <a:r>
              <a:rPr sz="2200" dirty="0">
                <a:latin typeface="Times New Roman"/>
                <a:cs typeface="Times New Roman"/>
              </a:rPr>
              <a:t>To preprocess</a:t>
            </a:r>
            <a:r>
              <a:rPr sz="2200" spc="-85" dirty="0">
                <a:latin typeface="Times New Roman"/>
                <a:cs typeface="Times New Roman"/>
              </a:rPr>
              <a:t> </a:t>
            </a:r>
            <a:r>
              <a:rPr sz="2200" dirty="0">
                <a:latin typeface="Times New Roman"/>
                <a:cs typeface="Times New Roman"/>
              </a:rPr>
              <a:t>the</a:t>
            </a:r>
            <a:r>
              <a:rPr sz="2200" spc="-15" dirty="0">
                <a:latin typeface="Times New Roman"/>
                <a:cs typeface="Times New Roman"/>
              </a:rPr>
              <a:t> </a:t>
            </a:r>
            <a:r>
              <a:rPr sz="2200" spc="-10" dirty="0">
                <a:latin typeface="Times New Roman"/>
                <a:cs typeface="Times New Roman"/>
              </a:rPr>
              <a:t>TwiBot-</a:t>
            </a:r>
            <a:r>
              <a:rPr sz="2200" dirty="0">
                <a:latin typeface="Times New Roman"/>
                <a:cs typeface="Times New Roman"/>
              </a:rPr>
              <a:t>20</a:t>
            </a:r>
            <a:r>
              <a:rPr sz="2200" spc="5" dirty="0">
                <a:latin typeface="Times New Roman"/>
                <a:cs typeface="Times New Roman"/>
              </a:rPr>
              <a:t> </a:t>
            </a:r>
            <a:r>
              <a:rPr sz="2200" dirty="0">
                <a:latin typeface="Times New Roman"/>
                <a:cs typeface="Times New Roman"/>
              </a:rPr>
              <a:t>dataset</a:t>
            </a:r>
            <a:r>
              <a:rPr sz="2200" spc="-50" dirty="0">
                <a:latin typeface="Times New Roman"/>
                <a:cs typeface="Times New Roman"/>
              </a:rPr>
              <a:t> </a:t>
            </a:r>
            <a:r>
              <a:rPr sz="2200" dirty="0">
                <a:latin typeface="Times New Roman"/>
                <a:cs typeface="Times New Roman"/>
              </a:rPr>
              <a:t>for</a:t>
            </a:r>
            <a:r>
              <a:rPr sz="2200" spc="-10" dirty="0">
                <a:latin typeface="Times New Roman"/>
                <a:cs typeface="Times New Roman"/>
              </a:rPr>
              <a:t> </a:t>
            </a:r>
            <a:r>
              <a:rPr sz="2200" dirty="0">
                <a:latin typeface="Times New Roman"/>
                <a:cs typeface="Times New Roman"/>
              </a:rPr>
              <a:t>effective</a:t>
            </a:r>
            <a:r>
              <a:rPr sz="2200" spc="-35" dirty="0">
                <a:latin typeface="Times New Roman"/>
                <a:cs typeface="Times New Roman"/>
              </a:rPr>
              <a:t> </a:t>
            </a:r>
            <a:r>
              <a:rPr sz="2200" dirty="0">
                <a:latin typeface="Times New Roman"/>
                <a:cs typeface="Times New Roman"/>
              </a:rPr>
              <a:t>feature</a:t>
            </a:r>
            <a:r>
              <a:rPr sz="2200" spc="-45" dirty="0">
                <a:latin typeface="Times New Roman"/>
                <a:cs typeface="Times New Roman"/>
              </a:rPr>
              <a:t> </a:t>
            </a:r>
            <a:r>
              <a:rPr sz="2200" dirty="0">
                <a:latin typeface="Times New Roman"/>
                <a:cs typeface="Times New Roman"/>
              </a:rPr>
              <a:t>extraction</a:t>
            </a:r>
            <a:r>
              <a:rPr sz="2200" spc="-55" dirty="0">
                <a:latin typeface="Times New Roman"/>
                <a:cs typeface="Times New Roman"/>
              </a:rPr>
              <a:t> </a:t>
            </a:r>
            <a:r>
              <a:rPr sz="2200" dirty="0">
                <a:latin typeface="Times New Roman"/>
                <a:cs typeface="Times New Roman"/>
              </a:rPr>
              <a:t>and</a:t>
            </a:r>
            <a:r>
              <a:rPr sz="2200" spc="-20" dirty="0">
                <a:latin typeface="Times New Roman"/>
                <a:cs typeface="Times New Roman"/>
              </a:rPr>
              <a:t> </a:t>
            </a:r>
            <a:r>
              <a:rPr sz="2200" dirty="0">
                <a:latin typeface="Times New Roman"/>
                <a:cs typeface="Times New Roman"/>
              </a:rPr>
              <a:t>model</a:t>
            </a:r>
            <a:r>
              <a:rPr sz="2200" spc="15" dirty="0">
                <a:latin typeface="Times New Roman"/>
                <a:cs typeface="Times New Roman"/>
              </a:rPr>
              <a:t> </a:t>
            </a:r>
            <a:r>
              <a:rPr sz="2200" spc="-10" dirty="0">
                <a:latin typeface="Times New Roman"/>
                <a:cs typeface="Times New Roman"/>
              </a:rPr>
              <a:t>training.</a:t>
            </a:r>
            <a:endParaRPr sz="2200" dirty="0">
              <a:latin typeface="Times New Roman"/>
              <a:cs typeface="Times New Roman"/>
            </a:endParaRPr>
          </a:p>
          <a:p>
            <a:pPr marL="469900" indent="-457200">
              <a:lnSpc>
                <a:spcPct val="100000"/>
              </a:lnSpc>
              <a:buFont typeface="+mj-lt"/>
              <a:buAutoNum type="arabicPeriod"/>
              <a:tabLst>
                <a:tab pos="356870" algn="l"/>
              </a:tabLst>
            </a:pPr>
            <a:r>
              <a:rPr sz="2200" dirty="0">
                <a:latin typeface="Times New Roman"/>
                <a:cs typeface="Times New Roman"/>
              </a:rPr>
              <a:t>To</a:t>
            </a:r>
            <a:r>
              <a:rPr sz="2200" spc="-10" dirty="0">
                <a:latin typeface="Times New Roman"/>
                <a:cs typeface="Times New Roman"/>
              </a:rPr>
              <a:t> </a:t>
            </a:r>
            <a:r>
              <a:rPr sz="2200" dirty="0">
                <a:latin typeface="Times New Roman"/>
                <a:cs typeface="Times New Roman"/>
              </a:rPr>
              <a:t>implement</a:t>
            </a:r>
            <a:r>
              <a:rPr sz="2200" spc="-60" dirty="0">
                <a:latin typeface="Times New Roman"/>
                <a:cs typeface="Times New Roman"/>
              </a:rPr>
              <a:t> </a:t>
            </a:r>
            <a:r>
              <a:rPr sz="2200" dirty="0">
                <a:latin typeface="Times New Roman"/>
                <a:cs typeface="Times New Roman"/>
              </a:rPr>
              <a:t>BERT</a:t>
            </a:r>
            <a:r>
              <a:rPr sz="2200" spc="-15" dirty="0">
                <a:latin typeface="Times New Roman"/>
                <a:cs typeface="Times New Roman"/>
              </a:rPr>
              <a:t> </a:t>
            </a:r>
            <a:r>
              <a:rPr sz="2200" dirty="0">
                <a:latin typeface="Times New Roman"/>
                <a:cs typeface="Times New Roman"/>
              </a:rPr>
              <a:t>for</a:t>
            </a:r>
            <a:r>
              <a:rPr sz="2200" spc="-20" dirty="0">
                <a:latin typeface="Times New Roman"/>
                <a:cs typeface="Times New Roman"/>
              </a:rPr>
              <a:t> </a:t>
            </a:r>
            <a:r>
              <a:rPr sz="2200" dirty="0">
                <a:latin typeface="Times New Roman"/>
                <a:cs typeface="Times New Roman"/>
              </a:rPr>
              <a:t>extracting</a:t>
            </a:r>
            <a:r>
              <a:rPr sz="2200" spc="-65" dirty="0">
                <a:latin typeface="Times New Roman"/>
                <a:cs typeface="Times New Roman"/>
              </a:rPr>
              <a:t> </a:t>
            </a:r>
            <a:r>
              <a:rPr sz="2200" dirty="0">
                <a:latin typeface="Times New Roman"/>
                <a:cs typeface="Times New Roman"/>
              </a:rPr>
              <a:t>contextual</a:t>
            </a:r>
            <a:r>
              <a:rPr sz="2200" spc="-25" dirty="0">
                <a:latin typeface="Times New Roman"/>
                <a:cs typeface="Times New Roman"/>
              </a:rPr>
              <a:t> </a:t>
            </a:r>
            <a:r>
              <a:rPr sz="2200" dirty="0">
                <a:latin typeface="Times New Roman"/>
                <a:cs typeface="Times New Roman"/>
              </a:rPr>
              <a:t>textual</a:t>
            </a:r>
            <a:r>
              <a:rPr sz="2200" spc="-20" dirty="0">
                <a:latin typeface="Times New Roman"/>
                <a:cs typeface="Times New Roman"/>
              </a:rPr>
              <a:t> </a:t>
            </a:r>
            <a:r>
              <a:rPr sz="2200" dirty="0">
                <a:latin typeface="Times New Roman"/>
                <a:cs typeface="Times New Roman"/>
              </a:rPr>
              <a:t>features</a:t>
            </a:r>
            <a:r>
              <a:rPr sz="2200" spc="-90" dirty="0">
                <a:latin typeface="Times New Roman"/>
                <a:cs typeface="Times New Roman"/>
              </a:rPr>
              <a:t> </a:t>
            </a:r>
            <a:r>
              <a:rPr sz="2200" dirty="0">
                <a:latin typeface="Times New Roman"/>
                <a:cs typeface="Times New Roman"/>
              </a:rPr>
              <a:t>from</a:t>
            </a:r>
            <a:r>
              <a:rPr sz="2200" spc="-25" dirty="0">
                <a:latin typeface="Times New Roman"/>
                <a:cs typeface="Times New Roman"/>
              </a:rPr>
              <a:t> </a:t>
            </a:r>
            <a:r>
              <a:rPr sz="2200" dirty="0">
                <a:latin typeface="Times New Roman"/>
                <a:cs typeface="Times New Roman"/>
              </a:rPr>
              <a:t>user</a:t>
            </a:r>
            <a:r>
              <a:rPr sz="2200" spc="-15" dirty="0">
                <a:latin typeface="Times New Roman"/>
                <a:cs typeface="Times New Roman"/>
              </a:rPr>
              <a:t> </a:t>
            </a:r>
            <a:r>
              <a:rPr sz="2200" spc="-10" dirty="0">
                <a:latin typeface="Times New Roman"/>
                <a:cs typeface="Times New Roman"/>
              </a:rPr>
              <a:t>tweets.</a:t>
            </a:r>
            <a:endParaRPr sz="2200" dirty="0">
              <a:latin typeface="Times New Roman"/>
              <a:cs typeface="Times New Roman"/>
            </a:endParaRPr>
          </a:p>
          <a:p>
            <a:pPr marL="469900" indent="-457200">
              <a:lnSpc>
                <a:spcPct val="100000"/>
              </a:lnSpc>
              <a:spcBef>
                <a:spcPts val="5"/>
              </a:spcBef>
              <a:buFont typeface="+mj-lt"/>
              <a:buAutoNum type="arabicPeriod"/>
              <a:tabLst>
                <a:tab pos="356870" algn="l"/>
              </a:tabLst>
            </a:pPr>
            <a:r>
              <a:rPr sz="2200" dirty="0">
                <a:latin typeface="Times New Roman"/>
                <a:cs typeface="Times New Roman"/>
              </a:rPr>
              <a:t>To</a:t>
            </a:r>
            <a:r>
              <a:rPr sz="2200" spc="5" dirty="0">
                <a:latin typeface="Times New Roman"/>
                <a:cs typeface="Times New Roman"/>
              </a:rPr>
              <a:t> </a:t>
            </a:r>
            <a:r>
              <a:rPr sz="2200" dirty="0">
                <a:latin typeface="Times New Roman"/>
                <a:cs typeface="Times New Roman"/>
              </a:rPr>
              <a:t>design</a:t>
            </a:r>
            <a:r>
              <a:rPr sz="2200" spc="-40" dirty="0">
                <a:latin typeface="Times New Roman"/>
                <a:cs typeface="Times New Roman"/>
              </a:rPr>
              <a:t> </a:t>
            </a:r>
            <a:r>
              <a:rPr sz="2200" dirty="0">
                <a:latin typeface="Times New Roman"/>
                <a:cs typeface="Times New Roman"/>
              </a:rPr>
              <a:t>a</a:t>
            </a:r>
            <a:r>
              <a:rPr sz="2200" spc="10" dirty="0">
                <a:latin typeface="Times New Roman"/>
                <a:cs typeface="Times New Roman"/>
              </a:rPr>
              <a:t> </a:t>
            </a:r>
            <a:r>
              <a:rPr sz="2200" spc="-10" dirty="0">
                <a:latin typeface="Times New Roman"/>
                <a:cs typeface="Times New Roman"/>
              </a:rPr>
              <a:t>Metadata-</a:t>
            </a:r>
            <a:r>
              <a:rPr sz="2200" dirty="0">
                <a:latin typeface="Times New Roman"/>
                <a:cs typeface="Times New Roman"/>
              </a:rPr>
              <a:t>based</a:t>
            </a:r>
            <a:r>
              <a:rPr sz="2200" spc="-60" dirty="0">
                <a:latin typeface="Times New Roman"/>
                <a:cs typeface="Times New Roman"/>
              </a:rPr>
              <a:t> </a:t>
            </a:r>
            <a:r>
              <a:rPr sz="2200" dirty="0">
                <a:latin typeface="Times New Roman"/>
                <a:cs typeface="Times New Roman"/>
              </a:rPr>
              <a:t>MLP model</a:t>
            </a:r>
            <a:r>
              <a:rPr sz="2200" spc="-30" dirty="0">
                <a:latin typeface="Times New Roman"/>
                <a:cs typeface="Times New Roman"/>
              </a:rPr>
              <a:t> </a:t>
            </a:r>
            <a:r>
              <a:rPr sz="2200" dirty="0">
                <a:latin typeface="Times New Roman"/>
                <a:cs typeface="Times New Roman"/>
              </a:rPr>
              <a:t>for</a:t>
            </a:r>
            <a:r>
              <a:rPr sz="2200" spc="15" dirty="0">
                <a:latin typeface="Times New Roman"/>
                <a:cs typeface="Times New Roman"/>
              </a:rPr>
              <a:t> </a:t>
            </a:r>
            <a:r>
              <a:rPr sz="2200" dirty="0">
                <a:latin typeface="Times New Roman"/>
                <a:cs typeface="Times New Roman"/>
              </a:rPr>
              <a:t>learning</a:t>
            </a:r>
            <a:r>
              <a:rPr sz="2200" spc="-55" dirty="0">
                <a:latin typeface="Times New Roman"/>
                <a:cs typeface="Times New Roman"/>
              </a:rPr>
              <a:t> </a:t>
            </a:r>
            <a:r>
              <a:rPr sz="2200" dirty="0">
                <a:latin typeface="Times New Roman"/>
                <a:cs typeface="Times New Roman"/>
              </a:rPr>
              <a:t>user</a:t>
            </a:r>
            <a:r>
              <a:rPr sz="2200" spc="-35" dirty="0">
                <a:latin typeface="Times New Roman"/>
                <a:cs typeface="Times New Roman"/>
              </a:rPr>
              <a:t> </a:t>
            </a:r>
            <a:r>
              <a:rPr sz="2200" dirty="0">
                <a:latin typeface="Times New Roman"/>
                <a:cs typeface="Times New Roman"/>
              </a:rPr>
              <a:t>behavioral</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profile</a:t>
            </a:r>
            <a:r>
              <a:rPr sz="2200" spc="-55" dirty="0">
                <a:latin typeface="Times New Roman"/>
                <a:cs typeface="Times New Roman"/>
              </a:rPr>
              <a:t> </a:t>
            </a:r>
            <a:r>
              <a:rPr sz="2200" spc="-10" dirty="0">
                <a:latin typeface="Times New Roman"/>
                <a:cs typeface="Times New Roman"/>
              </a:rPr>
              <a:t>features.</a:t>
            </a:r>
            <a:endParaRPr sz="2200" dirty="0">
              <a:latin typeface="Times New Roman"/>
              <a:cs typeface="Times New Roman"/>
            </a:endParaRPr>
          </a:p>
          <a:p>
            <a:pPr marL="469900" indent="-457200">
              <a:lnSpc>
                <a:spcPct val="100000"/>
              </a:lnSpc>
              <a:buFont typeface="+mj-lt"/>
              <a:buAutoNum type="arabicPeriod"/>
              <a:tabLst>
                <a:tab pos="356870" algn="l"/>
              </a:tabLst>
            </a:pPr>
            <a:r>
              <a:rPr sz="2200" dirty="0">
                <a:latin typeface="Times New Roman"/>
                <a:cs typeface="Times New Roman"/>
              </a:rPr>
              <a:t>To</a:t>
            </a:r>
            <a:r>
              <a:rPr sz="2200" spc="-10" dirty="0">
                <a:latin typeface="Times New Roman"/>
                <a:cs typeface="Times New Roman"/>
              </a:rPr>
              <a:t> </a:t>
            </a:r>
            <a:r>
              <a:rPr sz="2200" dirty="0">
                <a:latin typeface="Times New Roman"/>
                <a:cs typeface="Times New Roman"/>
              </a:rPr>
              <a:t>integrate</a:t>
            </a:r>
            <a:r>
              <a:rPr sz="2200" spc="-65" dirty="0">
                <a:latin typeface="Times New Roman"/>
                <a:cs typeface="Times New Roman"/>
              </a:rPr>
              <a:t> </a:t>
            </a:r>
            <a:r>
              <a:rPr sz="2200" dirty="0">
                <a:latin typeface="Times New Roman"/>
                <a:cs typeface="Times New Roman"/>
              </a:rPr>
              <a:t>BERT</a:t>
            </a:r>
            <a:r>
              <a:rPr sz="2200" spc="-15" dirty="0">
                <a:latin typeface="Times New Roman"/>
                <a:cs typeface="Times New Roman"/>
              </a:rPr>
              <a:t> </a:t>
            </a:r>
            <a:r>
              <a:rPr sz="2200" dirty="0">
                <a:latin typeface="Times New Roman"/>
                <a:cs typeface="Times New Roman"/>
              </a:rPr>
              <a:t>and</a:t>
            </a:r>
            <a:r>
              <a:rPr sz="2200" spc="-10" dirty="0">
                <a:latin typeface="Times New Roman"/>
                <a:cs typeface="Times New Roman"/>
              </a:rPr>
              <a:t> </a:t>
            </a:r>
            <a:r>
              <a:rPr sz="2200" dirty="0">
                <a:latin typeface="Times New Roman"/>
                <a:cs typeface="Times New Roman"/>
              </a:rPr>
              <a:t>MLP</a:t>
            </a:r>
            <a:r>
              <a:rPr sz="2200" spc="-35" dirty="0">
                <a:latin typeface="Times New Roman"/>
                <a:cs typeface="Times New Roman"/>
              </a:rPr>
              <a:t> </a:t>
            </a:r>
            <a:r>
              <a:rPr sz="2200" dirty="0">
                <a:latin typeface="Times New Roman"/>
                <a:cs typeface="Times New Roman"/>
              </a:rPr>
              <a:t>outputs</a:t>
            </a:r>
            <a:r>
              <a:rPr sz="2200" spc="-50" dirty="0">
                <a:latin typeface="Times New Roman"/>
                <a:cs typeface="Times New Roman"/>
              </a:rPr>
              <a:t> </a:t>
            </a:r>
            <a:r>
              <a:rPr sz="2200" dirty="0">
                <a:latin typeface="Times New Roman"/>
                <a:cs typeface="Times New Roman"/>
              </a:rPr>
              <a:t>into</a:t>
            </a:r>
            <a:r>
              <a:rPr sz="2200" spc="-45" dirty="0">
                <a:latin typeface="Times New Roman"/>
                <a:cs typeface="Times New Roman"/>
              </a:rPr>
              <a:t> </a:t>
            </a:r>
            <a:r>
              <a:rPr sz="2200" dirty="0">
                <a:latin typeface="Times New Roman"/>
                <a:cs typeface="Times New Roman"/>
              </a:rPr>
              <a:t>a</a:t>
            </a:r>
            <a:r>
              <a:rPr sz="2200" spc="-10" dirty="0">
                <a:latin typeface="Times New Roman"/>
                <a:cs typeface="Times New Roman"/>
              </a:rPr>
              <a:t> </a:t>
            </a:r>
            <a:r>
              <a:rPr sz="2200" dirty="0">
                <a:latin typeface="Times New Roman"/>
                <a:cs typeface="Times New Roman"/>
              </a:rPr>
              <a:t>hybrid</a:t>
            </a:r>
            <a:r>
              <a:rPr sz="2200" spc="-30" dirty="0">
                <a:latin typeface="Times New Roman"/>
                <a:cs typeface="Times New Roman"/>
              </a:rPr>
              <a:t> </a:t>
            </a:r>
            <a:r>
              <a:rPr sz="2200" dirty="0">
                <a:latin typeface="Times New Roman"/>
                <a:cs typeface="Times New Roman"/>
              </a:rPr>
              <a:t>architecture</a:t>
            </a:r>
            <a:r>
              <a:rPr sz="2200" spc="-70" dirty="0">
                <a:latin typeface="Times New Roman"/>
                <a:cs typeface="Times New Roman"/>
              </a:rPr>
              <a:t> </a:t>
            </a:r>
            <a:r>
              <a:rPr sz="2200" dirty="0">
                <a:latin typeface="Times New Roman"/>
                <a:cs typeface="Times New Roman"/>
              </a:rPr>
              <a:t>for</a:t>
            </a:r>
            <a:r>
              <a:rPr sz="2200" spc="-20" dirty="0">
                <a:latin typeface="Times New Roman"/>
                <a:cs typeface="Times New Roman"/>
              </a:rPr>
              <a:t> </a:t>
            </a:r>
            <a:r>
              <a:rPr sz="2200" dirty="0">
                <a:latin typeface="Times New Roman"/>
                <a:cs typeface="Times New Roman"/>
              </a:rPr>
              <a:t>improved </a:t>
            </a:r>
            <a:r>
              <a:rPr sz="2200" spc="-10" dirty="0">
                <a:latin typeface="Times New Roman"/>
                <a:cs typeface="Times New Roman"/>
              </a:rPr>
              <a:t>classification.</a:t>
            </a:r>
            <a:endParaRPr sz="2200" dirty="0">
              <a:latin typeface="Times New Roman"/>
              <a:cs typeface="Times New Roman"/>
            </a:endParaRPr>
          </a:p>
          <a:p>
            <a:pPr marL="469900" indent="-457200">
              <a:lnSpc>
                <a:spcPct val="100000"/>
              </a:lnSpc>
              <a:buFont typeface="+mj-lt"/>
              <a:buAutoNum type="arabicPeriod"/>
              <a:tabLst>
                <a:tab pos="356870" algn="l"/>
              </a:tabLst>
            </a:pPr>
            <a:r>
              <a:rPr sz="2200" dirty="0">
                <a:latin typeface="Times New Roman"/>
                <a:cs typeface="Times New Roman"/>
              </a:rPr>
              <a:t>To</a:t>
            </a:r>
            <a:r>
              <a:rPr sz="2200" spc="45" dirty="0">
                <a:latin typeface="Times New Roman"/>
                <a:cs typeface="Times New Roman"/>
              </a:rPr>
              <a:t> </a:t>
            </a:r>
            <a:r>
              <a:rPr sz="2200" dirty="0">
                <a:latin typeface="Times New Roman"/>
                <a:cs typeface="Times New Roman"/>
              </a:rPr>
              <a:t>evaluate</a:t>
            </a:r>
            <a:r>
              <a:rPr sz="2200" spc="60" dirty="0">
                <a:latin typeface="Times New Roman"/>
                <a:cs typeface="Times New Roman"/>
              </a:rPr>
              <a:t> </a:t>
            </a:r>
            <a:r>
              <a:rPr sz="2200" dirty="0">
                <a:latin typeface="Times New Roman"/>
                <a:cs typeface="Times New Roman"/>
              </a:rPr>
              <a:t>the</a:t>
            </a:r>
            <a:r>
              <a:rPr sz="2200" spc="60" dirty="0">
                <a:latin typeface="Times New Roman"/>
                <a:cs typeface="Times New Roman"/>
              </a:rPr>
              <a:t> </a:t>
            </a:r>
            <a:r>
              <a:rPr sz="2200" dirty="0">
                <a:latin typeface="Times New Roman"/>
                <a:cs typeface="Times New Roman"/>
              </a:rPr>
              <a:t>model</a:t>
            </a:r>
            <a:r>
              <a:rPr sz="2200" spc="60" dirty="0">
                <a:latin typeface="Times New Roman"/>
                <a:cs typeface="Times New Roman"/>
              </a:rPr>
              <a:t> </a:t>
            </a:r>
            <a:r>
              <a:rPr sz="2200" dirty="0">
                <a:latin typeface="Times New Roman"/>
                <a:cs typeface="Times New Roman"/>
              </a:rPr>
              <a:t>using</a:t>
            </a:r>
            <a:r>
              <a:rPr sz="2200" spc="25" dirty="0">
                <a:latin typeface="Times New Roman"/>
                <a:cs typeface="Times New Roman"/>
              </a:rPr>
              <a:t> </a:t>
            </a:r>
            <a:r>
              <a:rPr sz="2200" dirty="0">
                <a:latin typeface="Times New Roman"/>
                <a:cs typeface="Times New Roman"/>
              </a:rPr>
              <a:t>performance</a:t>
            </a:r>
            <a:r>
              <a:rPr sz="2200" spc="65" dirty="0">
                <a:latin typeface="Times New Roman"/>
                <a:cs typeface="Times New Roman"/>
              </a:rPr>
              <a:t> </a:t>
            </a:r>
            <a:r>
              <a:rPr sz="2200" dirty="0">
                <a:latin typeface="Times New Roman"/>
                <a:cs typeface="Times New Roman"/>
              </a:rPr>
              <a:t>metrics</a:t>
            </a:r>
            <a:r>
              <a:rPr sz="2200" spc="40" dirty="0">
                <a:latin typeface="Times New Roman"/>
                <a:cs typeface="Times New Roman"/>
              </a:rPr>
              <a:t> </a:t>
            </a:r>
            <a:r>
              <a:rPr sz="2200" dirty="0">
                <a:latin typeface="Times New Roman"/>
                <a:cs typeface="Times New Roman"/>
              </a:rPr>
              <a:t>such</a:t>
            </a:r>
            <a:r>
              <a:rPr sz="2200" spc="55" dirty="0">
                <a:latin typeface="Times New Roman"/>
                <a:cs typeface="Times New Roman"/>
              </a:rPr>
              <a:t> </a:t>
            </a:r>
            <a:r>
              <a:rPr sz="2200" dirty="0">
                <a:latin typeface="Times New Roman"/>
                <a:cs typeface="Times New Roman"/>
              </a:rPr>
              <a:t>as</a:t>
            </a:r>
            <a:r>
              <a:rPr sz="2200" spc="50" dirty="0">
                <a:latin typeface="Times New Roman"/>
                <a:cs typeface="Times New Roman"/>
              </a:rPr>
              <a:t> </a:t>
            </a:r>
            <a:r>
              <a:rPr sz="2200" dirty="0">
                <a:latin typeface="Times New Roman"/>
                <a:cs typeface="Times New Roman"/>
              </a:rPr>
              <a:t>Accuracy,</a:t>
            </a:r>
            <a:r>
              <a:rPr sz="2200" spc="60" dirty="0">
                <a:latin typeface="Times New Roman"/>
                <a:cs typeface="Times New Roman"/>
              </a:rPr>
              <a:t> </a:t>
            </a:r>
            <a:r>
              <a:rPr sz="2200" dirty="0">
                <a:latin typeface="Times New Roman"/>
                <a:cs typeface="Times New Roman"/>
              </a:rPr>
              <a:t>Precision,</a:t>
            </a:r>
            <a:r>
              <a:rPr sz="2200" spc="35" dirty="0">
                <a:latin typeface="Times New Roman"/>
                <a:cs typeface="Times New Roman"/>
              </a:rPr>
              <a:t> </a:t>
            </a:r>
            <a:r>
              <a:rPr sz="2200" dirty="0">
                <a:latin typeface="Times New Roman"/>
                <a:cs typeface="Times New Roman"/>
              </a:rPr>
              <a:t>Recall,</a:t>
            </a:r>
            <a:r>
              <a:rPr sz="2200" spc="55" dirty="0">
                <a:latin typeface="Times New Roman"/>
                <a:cs typeface="Times New Roman"/>
              </a:rPr>
              <a:t> </a:t>
            </a:r>
            <a:r>
              <a:rPr sz="2200" spc="-25" dirty="0">
                <a:latin typeface="Times New Roman"/>
                <a:cs typeface="Times New Roman"/>
              </a:rPr>
              <a:t>and</a:t>
            </a:r>
            <a:r>
              <a:rPr lang="en-US" sz="2200" spc="-25" dirty="0">
                <a:latin typeface="Times New Roman"/>
                <a:cs typeface="Times New Roman"/>
              </a:rPr>
              <a:t> </a:t>
            </a:r>
            <a:r>
              <a:rPr sz="2200" dirty="0">
                <a:latin typeface="Times New Roman"/>
                <a:cs typeface="Times New Roman"/>
              </a:rPr>
              <a:t>F1-</a:t>
            </a:r>
            <a:r>
              <a:rPr sz="2200" spc="-10" dirty="0">
                <a:latin typeface="Times New Roman"/>
                <a:cs typeface="Times New Roman"/>
              </a:rPr>
              <a:t>score</a:t>
            </a:r>
            <a:r>
              <a:rPr sz="2200" b="1" spc="-10" dirty="0">
                <a:latin typeface="Times New Roman"/>
                <a:cs typeface="Times New Roman"/>
              </a:rPr>
              <a:t>.</a:t>
            </a:r>
            <a:endParaRPr sz="22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z="3950" dirty="0"/>
              <a:t>BLOCK</a:t>
            </a:r>
            <a:r>
              <a:rPr sz="3950" spc="10" dirty="0"/>
              <a:t> </a:t>
            </a:r>
            <a:r>
              <a:rPr sz="3950" dirty="0"/>
              <a:t>DIAGRAM</a:t>
            </a:r>
            <a:r>
              <a:rPr sz="3950" spc="50" dirty="0"/>
              <a:t> </a:t>
            </a:r>
            <a:r>
              <a:rPr sz="3950" dirty="0"/>
              <a:t>OR</a:t>
            </a:r>
            <a:r>
              <a:rPr sz="3950" spc="45" dirty="0"/>
              <a:t> </a:t>
            </a:r>
            <a:r>
              <a:rPr sz="3950" dirty="0"/>
              <a:t>FLOW</a:t>
            </a:r>
            <a:r>
              <a:rPr sz="3950" spc="-125" dirty="0"/>
              <a:t> </a:t>
            </a:r>
            <a:r>
              <a:rPr sz="3950" spc="-10" dirty="0"/>
              <a:t>DIAGRAM</a:t>
            </a:r>
            <a:endParaRPr sz="3950"/>
          </a:p>
        </p:txBody>
      </p:sp>
      <p:pic>
        <p:nvPicPr>
          <p:cNvPr id="3" name="object 3"/>
          <p:cNvPicPr/>
          <p:nvPr/>
        </p:nvPicPr>
        <p:blipFill>
          <a:blip r:embed="rId2" cstate="print"/>
          <a:stretch>
            <a:fillRect/>
          </a:stretch>
        </p:blipFill>
        <p:spPr>
          <a:xfrm>
            <a:off x="1573474" y="1302148"/>
            <a:ext cx="3029695" cy="4852405"/>
          </a:xfrm>
          <a:prstGeom prst="rect">
            <a:avLst/>
          </a:prstGeom>
        </p:spPr>
      </p:pic>
      <p:pic>
        <p:nvPicPr>
          <p:cNvPr id="4" name="object 4"/>
          <p:cNvPicPr/>
          <p:nvPr/>
        </p:nvPicPr>
        <p:blipFill>
          <a:blip r:embed="rId3" cstate="print"/>
          <a:stretch>
            <a:fillRect/>
          </a:stretch>
        </p:blipFill>
        <p:spPr>
          <a:xfrm>
            <a:off x="5627303" y="1954452"/>
            <a:ext cx="5239517" cy="3547899"/>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7" name="object 7"/>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64130">
              <a:lnSpc>
                <a:spcPct val="100000"/>
              </a:lnSpc>
              <a:spcBef>
                <a:spcPts val="95"/>
              </a:spcBef>
            </a:pPr>
            <a:r>
              <a:rPr spc="-10" dirty="0"/>
              <a:t>METHODOLOGY</a:t>
            </a:r>
          </a:p>
        </p:txBody>
      </p:sp>
      <p:sp>
        <p:nvSpPr>
          <p:cNvPr id="3" name="object 3"/>
          <p:cNvSpPr txBox="1"/>
          <p:nvPr/>
        </p:nvSpPr>
        <p:spPr>
          <a:xfrm>
            <a:off x="280822" y="1608785"/>
            <a:ext cx="5334000" cy="3321685"/>
          </a:xfrm>
          <a:prstGeom prst="rect">
            <a:avLst/>
          </a:prstGeom>
        </p:spPr>
        <p:txBody>
          <a:bodyPr vert="horz" wrap="square" lIns="0" tIns="13970" rIns="0" bIns="0" rtlCol="0">
            <a:spAutoFit/>
          </a:bodyPr>
          <a:lstStyle/>
          <a:p>
            <a:pPr marL="12700">
              <a:lnSpc>
                <a:spcPct val="100000"/>
              </a:lnSpc>
              <a:spcBef>
                <a:spcPts val="110"/>
              </a:spcBef>
            </a:pPr>
            <a:r>
              <a:rPr sz="1600" b="1" dirty="0">
                <a:latin typeface="Times New Roman"/>
                <a:cs typeface="Times New Roman"/>
              </a:rPr>
              <a:t>Methods</a:t>
            </a:r>
            <a:r>
              <a:rPr sz="1600" b="1" spc="-35" dirty="0">
                <a:latin typeface="Times New Roman"/>
                <a:cs typeface="Times New Roman"/>
              </a:rPr>
              <a:t> </a:t>
            </a:r>
            <a:r>
              <a:rPr sz="1600" b="1" dirty="0">
                <a:latin typeface="Times New Roman"/>
                <a:cs typeface="Times New Roman"/>
              </a:rPr>
              <a:t>and</a:t>
            </a:r>
            <a:r>
              <a:rPr sz="1600" b="1" spc="-40" dirty="0">
                <a:latin typeface="Times New Roman"/>
                <a:cs typeface="Times New Roman"/>
              </a:rPr>
              <a:t> </a:t>
            </a:r>
            <a:r>
              <a:rPr sz="1600" b="1" dirty="0">
                <a:latin typeface="Times New Roman"/>
                <a:cs typeface="Times New Roman"/>
              </a:rPr>
              <a:t>Approaches</a:t>
            </a:r>
            <a:r>
              <a:rPr sz="1600" b="1" spc="-70" dirty="0">
                <a:latin typeface="Times New Roman"/>
                <a:cs typeface="Times New Roman"/>
              </a:rPr>
              <a:t> </a:t>
            </a:r>
            <a:r>
              <a:rPr sz="1600" b="1" dirty="0">
                <a:latin typeface="Times New Roman"/>
                <a:cs typeface="Times New Roman"/>
              </a:rPr>
              <a:t>(Hybrid</a:t>
            </a:r>
            <a:r>
              <a:rPr sz="1600" b="1" spc="-35" dirty="0">
                <a:latin typeface="Times New Roman"/>
                <a:cs typeface="Times New Roman"/>
              </a:rPr>
              <a:t> </a:t>
            </a:r>
            <a:r>
              <a:rPr sz="1600" b="1" dirty="0">
                <a:latin typeface="Times New Roman"/>
                <a:cs typeface="Times New Roman"/>
              </a:rPr>
              <a:t>BERT</a:t>
            </a:r>
            <a:r>
              <a:rPr sz="1600" b="1" spc="-50" dirty="0">
                <a:latin typeface="Times New Roman"/>
                <a:cs typeface="Times New Roman"/>
              </a:rPr>
              <a:t> </a:t>
            </a:r>
            <a:r>
              <a:rPr sz="1600" b="1" dirty="0">
                <a:latin typeface="Times New Roman"/>
                <a:cs typeface="Times New Roman"/>
              </a:rPr>
              <a:t>+</a:t>
            </a:r>
            <a:r>
              <a:rPr sz="1600" b="1" spc="-40" dirty="0">
                <a:latin typeface="Times New Roman"/>
                <a:cs typeface="Times New Roman"/>
              </a:rPr>
              <a:t> </a:t>
            </a:r>
            <a:r>
              <a:rPr sz="1600" b="1" dirty="0">
                <a:latin typeface="Times New Roman"/>
                <a:cs typeface="Times New Roman"/>
              </a:rPr>
              <a:t>Metadata</a:t>
            </a:r>
            <a:r>
              <a:rPr sz="1600" b="1" spc="-40" dirty="0">
                <a:latin typeface="Times New Roman"/>
                <a:cs typeface="Times New Roman"/>
              </a:rPr>
              <a:t> </a:t>
            </a:r>
            <a:r>
              <a:rPr sz="1600" b="1" spc="-10" dirty="0">
                <a:latin typeface="Times New Roman"/>
                <a:cs typeface="Times New Roman"/>
              </a:rPr>
              <a:t>Model)</a:t>
            </a:r>
            <a:endParaRPr sz="1600">
              <a:latin typeface="Times New Roman"/>
              <a:cs typeface="Times New Roman"/>
            </a:endParaRPr>
          </a:p>
          <a:p>
            <a:pPr marL="216535" indent="-203835">
              <a:lnSpc>
                <a:spcPct val="100000"/>
              </a:lnSpc>
              <a:buAutoNum type="arabicPeriod"/>
              <a:tabLst>
                <a:tab pos="216535" algn="l"/>
              </a:tabLst>
            </a:pPr>
            <a:r>
              <a:rPr sz="1600" b="1" spc="-10" dirty="0">
                <a:latin typeface="Times New Roman"/>
                <a:cs typeface="Times New Roman"/>
              </a:rPr>
              <a:t>Preprocessing</a:t>
            </a:r>
            <a:endParaRPr sz="1600">
              <a:latin typeface="Times New Roman"/>
              <a:cs typeface="Times New Roman"/>
            </a:endParaRPr>
          </a:p>
          <a:p>
            <a:pPr marL="12700" marR="191770">
              <a:lnSpc>
                <a:spcPct val="100000"/>
              </a:lnSpc>
            </a:pPr>
            <a:r>
              <a:rPr sz="1600" dirty="0">
                <a:latin typeface="Times New Roman"/>
                <a:cs typeface="Times New Roman"/>
              </a:rPr>
              <a:t>Cleaned</a:t>
            </a:r>
            <a:r>
              <a:rPr sz="1600" spc="-25" dirty="0">
                <a:latin typeface="Times New Roman"/>
                <a:cs typeface="Times New Roman"/>
              </a:rPr>
              <a:t> </a:t>
            </a:r>
            <a:r>
              <a:rPr sz="1600" dirty="0">
                <a:latin typeface="Times New Roman"/>
                <a:cs typeface="Times New Roman"/>
              </a:rPr>
              <a:t>null/duplicate</a:t>
            </a:r>
            <a:r>
              <a:rPr sz="1600" spc="-55" dirty="0">
                <a:latin typeface="Times New Roman"/>
                <a:cs typeface="Times New Roman"/>
              </a:rPr>
              <a:t> </a:t>
            </a:r>
            <a:r>
              <a:rPr sz="1600" dirty="0">
                <a:latin typeface="Times New Roman"/>
                <a:cs typeface="Times New Roman"/>
              </a:rPr>
              <a:t>entries</a:t>
            </a:r>
            <a:r>
              <a:rPr sz="1600" spc="10" dirty="0">
                <a:latin typeface="Times New Roman"/>
                <a:cs typeface="Times New Roman"/>
              </a:rPr>
              <a:t> </a:t>
            </a:r>
            <a:r>
              <a:rPr sz="1600" dirty="0">
                <a:latin typeface="Times New Roman"/>
                <a:cs typeface="Times New Roman"/>
              </a:rPr>
              <a:t>from</a:t>
            </a:r>
            <a:r>
              <a:rPr sz="1600" spc="5" dirty="0">
                <a:latin typeface="Times New Roman"/>
                <a:cs typeface="Times New Roman"/>
              </a:rPr>
              <a:t> </a:t>
            </a:r>
            <a:r>
              <a:rPr sz="1600" spc="-20" dirty="0">
                <a:latin typeface="Times New Roman"/>
                <a:cs typeface="Times New Roman"/>
              </a:rPr>
              <a:t>TwiBot-</a:t>
            </a:r>
            <a:r>
              <a:rPr sz="1600" dirty="0">
                <a:latin typeface="Times New Roman"/>
                <a:cs typeface="Times New Roman"/>
              </a:rPr>
              <a:t>20</a:t>
            </a:r>
            <a:r>
              <a:rPr sz="1600" spc="-25" dirty="0">
                <a:latin typeface="Times New Roman"/>
                <a:cs typeface="Times New Roman"/>
              </a:rPr>
              <a:t> </a:t>
            </a:r>
            <a:r>
              <a:rPr sz="1600" spc="-10" dirty="0">
                <a:latin typeface="Times New Roman"/>
                <a:cs typeface="Times New Roman"/>
              </a:rPr>
              <a:t>dataset. </a:t>
            </a:r>
            <a:r>
              <a:rPr sz="1600" dirty="0">
                <a:latin typeface="Times New Roman"/>
                <a:cs typeface="Times New Roman"/>
              </a:rPr>
              <a:t>Removed</a:t>
            </a:r>
            <a:r>
              <a:rPr sz="1600" spc="-10" dirty="0">
                <a:latin typeface="Times New Roman"/>
                <a:cs typeface="Times New Roman"/>
              </a:rPr>
              <a:t> </a:t>
            </a:r>
            <a:r>
              <a:rPr sz="1600" dirty="0">
                <a:latin typeface="Times New Roman"/>
                <a:cs typeface="Times New Roman"/>
              </a:rPr>
              <a:t>URLs,</a:t>
            </a:r>
            <a:r>
              <a:rPr sz="1600" spc="5" dirty="0">
                <a:latin typeface="Times New Roman"/>
                <a:cs typeface="Times New Roman"/>
              </a:rPr>
              <a:t> </a:t>
            </a:r>
            <a:r>
              <a:rPr sz="1600" dirty="0">
                <a:latin typeface="Times New Roman"/>
                <a:cs typeface="Times New Roman"/>
              </a:rPr>
              <a:t>hashtags,</a:t>
            </a:r>
            <a:r>
              <a:rPr sz="1600" spc="-75" dirty="0">
                <a:latin typeface="Times New Roman"/>
                <a:cs typeface="Times New Roman"/>
              </a:rPr>
              <a:t> </a:t>
            </a:r>
            <a:r>
              <a:rPr sz="1600" dirty="0">
                <a:latin typeface="Times New Roman"/>
                <a:cs typeface="Times New Roman"/>
              </a:rPr>
              <a:t>emojis,</a:t>
            </a:r>
            <a:r>
              <a:rPr sz="1600" spc="-15" dirty="0">
                <a:latin typeface="Times New Roman"/>
                <a:cs typeface="Times New Roman"/>
              </a:rPr>
              <a:t> </a:t>
            </a:r>
            <a:r>
              <a:rPr sz="1600" dirty="0">
                <a:latin typeface="Times New Roman"/>
                <a:cs typeface="Times New Roman"/>
              </a:rPr>
              <a:t>and</a:t>
            </a:r>
            <a:r>
              <a:rPr sz="1600" spc="-55" dirty="0">
                <a:latin typeface="Times New Roman"/>
                <a:cs typeface="Times New Roman"/>
              </a:rPr>
              <a:t> </a:t>
            </a:r>
            <a:r>
              <a:rPr sz="1600" spc="-10" dirty="0">
                <a:latin typeface="Times New Roman"/>
                <a:cs typeface="Times New Roman"/>
              </a:rPr>
              <a:t>non-</a:t>
            </a:r>
            <a:r>
              <a:rPr sz="1600" dirty="0">
                <a:latin typeface="Times New Roman"/>
                <a:cs typeface="Times New Roman"/>
              </a:rPr>
              <a:t>text</a:t>
            </a:r>
            <a:r>
              <a:rPr sz="1600" spc="-10" dirty="0">
                <a:latin typeface="Times New Roman"/>
                <a:cs typeface="Times New Roman"/>
              </a:rPr>
              <a:t> symbols. </a:t>
            </a:r>
            <a:r>
              <a:rPr sz="1600" dirty="0">
                <a:latin typeface="Times New Roman"/>
                <a:cs typeface="Times New Roman"/>
              </a:rPr>
              <a:t>Tokenized</a:t>
            </a:r>
            <a:r>
              <a:rPr sz="1600" spc="-5" dirty="0">
                <a:latin typeface="Times New Roman"/>
                <a:cs typeface="Times New Roman"/>
              </a:rPr>
              <a:t> </a:t>
            </a:r>
            <a:r>
              <a:rPr sz="1600" dirty="0">
                <a:latin typeface="Times New Roman"/>
                <a:cs typeface="Times New Roman"/>
              </a:rPr>
              <a:t>tweets</a:t>
            </a:r>
            <a:r>
              <a:rPr sz="1600" spc="20" dirty="0">
                <a:latin typeface="Times New Roman"/>
                <a:cs typeface="Times New Roman"/>
              </a:rPr>
              <a:t> </a:t>
            </a:r>
            <a:r>
              <a:rPr sz="1600" dirty="0">
                <a:latin typeface="Times New Roman"/>
                <a:cs typeface="Times New Roman"/>
              </a:rPr>
              <a:t>using</a:t>
            </a:r>
            <a:r>
              <a:rPr sz="1600" spc="-75" dirty="0">
                <a:latin typeface="Times New Roman"/>
                <a:cs typeface="Times New Roman"/>
              </a:rPr>
              <a:t> </a:t>
            </a:r>
            <a:r>
              <a:rPr sz="1600" spc="-10" dirty="0">
                <a:latin typeface="Times New Roman"/>
                <a:cs typeface="Times New Roman"/>
              </a:rPr>
              <a:t>bert-base-</a:t>
            </a:r>
            <a:r>
              <a:rPr sz="1600" dirty="0">
                <a:latin typeface="Times New Roman"/>
                <a:cs typeface="Times New Roman"/>
              </a:rPr>
              <a:t>uncased</a:t>
            </a:r>
            <a:r>
              <a:rPr sz="1600" spc="-25" dirty="0">
                <a:latin typeface="Times New Roman"/>
                <a:cs typeface="Times New Roman"/>
              </a:rPr>
              <a:t> </a:t>
            </a:r>
            <a:r>
              <a:rPr sz="1600" dirty="0">
                <a:latin typeface="Times New Roman"/>
                <a:cs typeface="Times New Roman"/>
              </a:rPr>
              <a:t>(max</a:t>
            </a:r>
            <a:r>
              <a:rPr sz="1600" spc="-30" dirty="0">
                <a:latin typeface="Times New Roman"/>
                <a:cs typeface="Times New Roman"/>
              </a:rPr>
              <a:t> </a:t>
            </a:r>
            <a:r>
              <a:rPr sz="1600" dirty="0">
                <a:latin typeface="Times New Roman"/>
                <a:cs typeface="Times New Roman"/>
              </a:rPr>
              <a:t>length</a:t>
            </a:r>
            <a:r>
              <a:rPr sz="1600" spc="-10" dirty="0">
                <a:latin typeface="Times New Roman"/>
                <a:cs typeface="Times New Roman"/>
              </a:rPr>
              <a:t> </a:t>
            </a:r>
            <a:r>
              <a:rPr sz="1600" dirty="0">
                <a:latin typeface="Times New Roman"/>
                <a:cs typeface="Times New Roman"/>
              </a:rPr>
              <a:t>=</a:t>
            </a:r>
            <a:r>
              <a:rPr sz="1600" spc="-40" dirty="0">
                <a:latin typeface="Times New Roman"/>
                <a:cs typeface="Times New Roman"/>
              </a:rPr>
              <a:t> </a:t>
            </a:r>
            <a:r>
              <a:rPr sz="1600" spc="-10" dirty="0">
                <a:latin typeface="Times New Roman"/>
                <a:cs typeface="Times New Roman"/>
              </a:rPr>
              <a:t>128). </a:t>
            </a:r>
            <a:r>
              <a:rPr sz="1600" dirty="0">
                <a:latin typeface="Times New Roman"/>
                <a:cs typeface="Times New Roman"/>
              </a:rPr>
              <a:t>Normalized</a:t>
            </a:r>
            <a:r>
              <a:rPr sz="1600" spc="10" dirty="0">
                <a:latin typeface="Times New Roman"/>
                <a:cs typeface="Times New Roman"/>
              </a:rPr>
              <a:t> </a:t>
            </a:r>
            <a:r>
              <a:rPr sz="1600" dirty="0">
                <a:latin typeface="Times New Roman"/>
                <a:cs typeface="Times New Roman"/>
              </a:rPr>
              <a:t>metadata</a:t>
            </a:r>
            <a:r>
              <a:rPr sz="1600" spc="-25" dirty="0">
                <a:latin typeface="Times New Roman"/>
                <a:cs typeface="Times New Roman"/>
              </a:rPr>
              <a:t> </a:t>
            </a:r>
            <a:r>
              <a:rPr sz="1600" dirty="0">
                <a:latin typeface="Times New Roman"/>
                <a:cs typeface="Times New Roman"/>
              </a:rPr>
              <a:t>using</a:t>
            </a:r>
            <a:r>
              <a:rPr sz="1600" spc="-75" dirty="0">
                <a:latin typeface="Times New Roman"/>
                <a:cs typeface="Times New Roman"/>
              </a:rPr>
              <a:t> </a:t>
            </a:r>
            <a:r>
              <a:rPr sz="1600" dirty="0">
                <a:latin typeface="Times New Roman"/>
                <a:cs typeface="Times New Roman"/>
              </a:rPr>
              <a:t>Min–Max</a:t>
            </a:r>
            <a:r>
              <a:rPr sz="1600" spc="-95" dirty="0">
                <a:latin typeface="Times New Roman"/>
                <a:cs typeface="Times New Roman"/>
              </a:rPr>
              <a:t> </a:t>
            </a:r>
            <a:r>
              <a:rPr sz="1600" spc="-10" dirty="0">
                <a:latin typeface="Times New Roman"/>
                <a:cs typeface="Times New Roman"/>
              </a:rPr>
              <a:t>scaling.</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1140"/>
              </a:spcBef>
            </a:pPr>
            <a:endParaRPr sz="1600">
              <a:latin typeface="Times New Roman"/>
              <a:cs typeface="Times New Roman"/>
            </a:endParaRPr>
          </a:p>
          <a:p>
            <a:pPr marL="424815" indent="-203835">
              <a:lnSpc>
                <a:spcPct val="100000"/>
              </a:lnSpc>
              <a:buAutoNum type="arabicPeriod" startAt="2"/>
              <a:tabLst>
                <a:tab pos="424815" algn="l"/>
              </a:tabLst>
            </a:pPr>
            <a:r>
              <a:rPr sz="1600" b="1" dirty="0">
                <a:latin typeface="Times New Roman"/>
                <a:cs typeface="Times New Roman"/>
              </a:rPr>
              <a:t>Exploratory</a:t>
            </a:r>
            <a:r>
              <a:rPr sz="1600" b="1" spc="-85" dirty="0">
                <a:latin typeface="Times New Roman"/>
                <a:cs typeface="Times New Roman"/>
              </a:rPr>
              <a:t> </a:t>
            </a:r>
            <a:r>
              <a:rPr sz="1600" b="1" dirty="0">
                <a:latin typeface="Times New Roman"/>
                <a:cs typeface="Times New Roman"/>
              </a:rPr>
              <a:t>Data</a:t>
            </a:r>
            <a:r>
              <a:rPr sz="1600" b="1" spc="-50" dirty="0">
                <a:latin typeface="Times New Roman"/>
                <a:cs typeface="Times New Roman"/>
              </a:rPr>
              <a:t> </a:t>
            </a:r>
            <a:r>
              <a:rPr sz="1600" b="1" dirty="0">
                <a:latin typeface="Times New Roman"/>
                <a:cs typeface="Times New Roman"/>
              </a:rPr>
              <a:t>Analysis</a:t>
            </a:r>
            <a:r>
              <a:rPr sz="1600" b="1" spc="-55" dirty="0">
                <a:latin typeface="Times New Roman"/>
                <a:cs typeface="Times New Roman"/>
              </a:rPr>
              <a:t> </a:t>
            </a:r>
            <a:r>
              <a:rPr sz="1600" b="1" spc="-20" dirty="0">
                <a:latin typeface="Times New Roman"/>
                <a:cs typeface="Times New Roman"/>
              </a:rPr>
              <a:t>(EDA)</a:t>
            </a:r>
            <a:endParaRPr sz="1600">
              <a:latin typeface="Times New Roman"/>
              <a:cs typeface="Times New Roman"/>
            </a:endParaRPr>
          </a:p>
          <a:p>
            <a:pPr marL="290195" lvl="1" indent="-79375">
              <a:lnSpc>
                <a:spcPct val="100000"/>
              </a:lnSpc>
              <a:buSzPct val="93750"/>
              <a:buFont typeface="Arial MT"/>
              <a:buChar char="•"/>
              <a:tabLst>
                <a:tab pos="290195" algn="l"/>
              </a:tabLst>
            </a:pPr>
            <a:r>
              <a:rPr sz="1600" dirty="0">
                <a:latin typeface="Times New Roman"/>
                <a:cs typeface="Times New Roman"/>
              </a:rPr>
              <a:t>Identified</a:t>
            </a:r>
            <a:r>
              <a:rPr sz="1600" spc="15" dirty="0">
                <a:latin typeface="Times New Roman"/>
                <a:cs typeface="Times New Roman"/>
              </a:rPr>
              <a:t> </a:t>
            </a:r>
            <a:r>
              <a:rPr sz="1600" dirty="0">
                <a:latin typeface="Times New Roman"/>
                <a:cs typeface="Times New Roman"/>
              </a:rPr>
              <a:t>class</a:t>
            </a:r>
            <a:r>
              <a:rPr sz="1600" spc="-20" dirty="0">
                <a:latin typeface="Times New Roman"/>
                <a:cs typeface="Times New Roman"/>
              </a:rPr>
              <a:t> </a:t>
            </a:r>
            <a:r>
              <a:rPr sz="1600" dirty="0">
                <a:latin typeface="Times New Roman"/>
                <a:cs typeface="Times New Roman"/>
              </a:rPr>
              <a:t>imbalance</a:t>
            </a:r>
            <a:r>
              <a:rPr sz="1600" spc="-65" dirty="0">
                <a:latin typeface="Times New Roman"/>
                <a:cs typeface="Times New Roman"/>
              </a:rPr>
              <a:t> </a:t>
            </a:r>
            <a:r>
              <a:rPr sz="1600" dirty="0">
                <a:latin typeface="Times New Roman"/>
                <a:cs typeface="Times New Roman"/>
              </a:rPr>
              <a:t>(bots</a:t>
            </a:r>
            <a:r>
              <a:rPr sz="1600" spc="-40" dirty="0">
                <a:latin typeface="Times New Roman"/>
                <a:cs typeface="Times New Roman"/>
              </a:rPr>
              <a:t> </a:t>
            </a:r>
            <a:r>
              <a:rPr sz="1600" dirty="0">
                <a:latin typeface="Times New Roman"/>
                <a:cs typeface="Times New Roman"/>
              </a:rPr>
              <a:t>&gt;</a:t>
            </a:r>
            <a:r>
              <a:rPr sz="1600" spc="-40" dirty="0">
                <a:latin typeface="Times New Roman"/>
                <a:cs typeface="Times New Roman"/>
              </a:rPr>
              <a:t> </a:t>
            </a:r>
            <a:r>
              <a:rPr sz="1600" spc="-10" dirty="0">
                <a:latin typeface="Times New Roman"/>
                <a:cs typeface="Times New Roman"/>
              </a:rPr>
              <a:t>humans).</a:t>
            </a:r>
            <a:endParaRPr sz="1600">
              <a:latin typeface="Times New Roman"/>
              <a:cs typeface="Times New Roman"/>
            </a:endParaRPr>
          </a:p>
          <a:p>
            <a:pPr marL="290195" lvl="1" indent="-79375">
              <a:lnSpc>
                <a:spcPct val="100000"/>
              </a:lnSpc>
              <a:buSzPct val="93750"/>
              <a:buFont typeface="Arial MT"/>
              <a:buChar char="•"/>
              <a:tabLst>
                <a:tab pos="290195" algn="l"/>
              </a:tabLst>
            </a:pPr>
            <a:r>
              <a:rPr sz="1600" dirty="0">
                <a:latin typeface="Times New Roman"/>
                <a:cs typeface="Times New Roman"/>
              </a:rPr>
              <a:t>Bots:</a:t>
            </a:r>
            <a:r>
              <a:rPr sz="1600" spc="-65" dirty="0">
                <a:latin typeface="Times New Roman"/>
                <a:cs typeface="Times New Roman"/>
              </a:rPr>
              <a:t> </a:t>
            </a:r>
            <a:r>
              <a:rPr sz="1600" dirty="0">
                <a:latin typeface="Times New Roman"/>
                <a:cs typeface="Times New Roman"/>
              </a:rPr>
              <a:t>higher</a:t>
            </a:r>
            <a:r>
              <a:rPr sz="1600" spc="-70" dirty="0">
                <a:latin typeface="Times New Roman"/>
                <a:cs typeface="Times New Roman"/>
              </a:rPr>
              <a:t> </a:t>
            </a:r>
            <a:r>
              <a:rPr sz="1600" dirty="0">
                <a:latin typeface="Times New Roman"/>
                <a:cs typeface="Times New Roman"/>
              </a:rPr>
              <a:t>tweet</a:t>
            </a:r>
            <a:r>
              <a:rPr sz="1600" spc="5" dirty="0">
                <a:latin typeface="Times New Roman"/>
                <a:cs typeface="Times New Roman"/>
              </a:rPr>
              <a:t> </a:t>
            </a:r>
            <a:r>
              <a:rPr sz="1600" dirty="0">
                <a:latin typeface="Times New Roman"/>
                <a:cs typeface="Times New Roman"/>
              </a:rPr>
              <a:t>frequency,</a:t>
            </a:r>
            <a:r>
              <a:rPr sz="1600" spc="-40" dirty="0">
                <a:latin typeface="Times New Roman"/>
                <a:cs typeface="Times New Roman"/>
              </a:rPr>
              <a:t> </a:t>
            </a:r>
            <a:r>
              <a:rPr sz="1600" dirty="0">
                <a:latin typeface="Times New Roman"/>
                <a:cs typeface="Times New Roman"/>
              </a:rPr>
              <a:t>fewer</a:t>
            </a:r>
            <a:r>
              <a:rPr sz="1600" spc="5" dirty="0">
                <a:latin typeface="Times New Roman"/>
                <a:cs typeface="Times New Roman"/>
              </a:rPr>
              <a:t> </a:t>
            </a:r>
            <a:r>
              <a:rPr sz="1600" spc="-10" dirty="0">
                <a:latin typeface="Times New Roman"/>
                <a:cs typeface="Times New Roman"/>
              </a:rPr>
              <a:t>followers.</a:t>
            </a:r>
            <a:endParaRPr sz="1600">
              <a:latin typeface="Times New Roman"/>
              <a:cs typeface="Times New Roman"/>
            </a:endParaRPr>
          </a:p>
          <a:p>
            <a:pPr marL="290195" lvl="1" indent="-79375">
              <a:lnSpc>
                <a:spcPct val="100000"/>
              </a:lnSpc>
              <a:buSzPct val="93750"/>
              <a:buFont typeface="Arial MT"/>
              <a:buChar char="•"/>
              <a:tabLst>
                <a:tab pos="290195" algn="l"/>
              </a:tabLst>
            </a:pPr>
            <a:r>
              <a:rPr sz="1600" dirty="0">
                <a:latin typeface="Times New Roman"/>
                <a:cs typeface="Times New Roman"/>
              </a:rPr>
              <a:t>Humans:</a:t>
            </a:r>
            <a:r>
              <a:rPr sz="1600" spc="-75" dirty="0">
                <a:latin typeface="Times New Roman"/>
                <a:cs typeface="Times New Roman"/>
              </a:rPr>
              <a:t> </a:t>
            </a:r>
            <a:r>
              <a:rPr sz="1600" dirty="0">
                <a:latin typeface="Times New Roman"/>
                <a:cs typeface="Times New Roman"/>
              </a:rPr>
              <a:t>richer</a:t>
            </a:r>
            <a:r>
              <a:rPr sz="1600" spc="-35" dirty="0">
                <a:latin typeface="Times New Roman"/>
                <a:cs typeface="Times New Roman"/>
              </a:rPr>
              <a:t> </a:t>
            </a:r>
            <a:r>
              <a:rPr sz="1600" dirty="0">
                <a:latin typeface="Times New Roman"/>
                <a:cs typeface="Times New Roman"/>
              </a:rPr>
              <a:t>vocabulary,</a:t>
            </a:r>
            <a:r>
              <a:rPr sz="1600" spc="-40" dirty="0">
                <a:latin typeface="Times New Roman"/>
                <a:cs typeface="Times New Roman"/>
              </a:rPr>
              <a:t> </a:t>
            </a:r>
            <a:r>
              <a:rPr sz="1600" dirty="0">
                <a:latin typeface="Times New Roman"/>
                <a:cs typeface="Times New Roman"/>
              </a:rPr>
              <a:t>more</a:t>
            </a:r>
            <a:r>
              <a:rPr sz="1600" spc="-25" dirty="0">
                <a:latin typeface="Times New Roman"/>
                <a:cs typeface="Times New Roman"/>
              </a:rPr>
              <a:t> </a:t>
            </a:r>
            <a:r>
              <a:rPr sz="1600" dirty="0">
                <a:latin typeface="Times New Roman"/>
                <a:cs typeface="Times New Roman"/>
              </a:rPr>
              <a:t>verified </a:t>
            </a:r>
            <a:r>
              <a:rPr sz="1600" spc="-10" dirty="0">
                <a:latin typeface="Times New Roman"/>
                <a:cs typeface="Times New Roman"/>
              </a:rPr>
              <a:t>accounts.</a:t>
            </a:r>
            <a:endParaRPr sz="1600">
              <a:latin typeface="Times New Roman"/>
              <a:cs typeface="Times New Roman"/>
            </a:endParaRPr>
          </a:p>
          <a:p>
            <a:pPr marL="290195" lvl="1" indent="-79375">
              <a:lnSpc>
                <a:spcPct val="100000"/>
              </a:lnSpc>
              <a:buSzPct val="93750"/>
              <a:buFont typeface="Arial MT"/>
              <a:buChar char="•"/>
              <a:tabLst>
                <a:tab pos="290195" algn="l"/>
              </a:tabLst>
            </a:pPr>
            <a:r>
              <a:rPr sz="1600" dirty="0">
                <a:latin typeface="Times New Roman"/>
                <a:cs typeface="Times New Roman"/>
              </a:rPr>
              <a:t>Used</a:t>
            </a:r>
            <a:r>
              <a:rPr sz="1600" spc="-30" dirty="0">
                <a:latin typeface="Times New Roman"/>
                <a:cs typeface="Times New Roman"/>
              </a:rPr>
              <a:t> </a:t>
            </a:r>
            <a:r>
              <a:rPr sz="1600" dirty="0">
                <a:latin typeface="Times New Roman"/>
                <a:cs typeface="Times New Roman"/>
              </a:rPr>
              <a:t>word</a:t>
            </a:r>
            <a:r>
              <a:rPr sz="1600" spc="-25" dirty="0">
                <a:latin typeface="Times New Roman"/>
                <a:cs typeface="Times New Roman"/>
              </a:rPr>
              <a:t> </a:t>
            </a:r>
            <a:r>
              <a:rPr sz="1600" dirty="0">
                <a:latin typeface="Times New Roman"/>
                <a:cs typeface="Times New Roman"/>
              </a:rPr>
              <a:t>clouds,</a:t>
            </a:r>
            <a:r>
              <a:rPr sz="1600" spc="-50" dirty="0">
                <a:latin typeface="Times New Roman"/>
                <a:cs typeface="Times New Roman"/>
              </a:rPr>
              <a:t> </a:t>
            </a:r>
            <a:r>
              <a:rPr sz="1600" dirty="0">
                <a:latin typeface="Times New Roman"/>
                <a:cs typeface="Times New Roman"/>
              </a:rPr>
              <a:t>histograms,</a:t>
            </a:r>
            <a:r>
              <a:rPr sz="1600" spc="-50" dirty="0">
                <a:latin typeface="Times New Roman"/>
                <a:cs typeface="Times New Roman"/>
              </a:rPr>
              <a:t> </a:t>
            </a:r>
            <a:r>
              <a:rPr sz="1600" dirty="0">
                <a:latin typeface="Times New Roman"/>
                <a:cs typeface="Times New Roman"/>
              </a:rPr>
              <a:t>and</a:t>
            </a:r>
            <a:r>
              <a:rPr sz="1600" spc="-65" dirty="0">
                <a:latin typeface="Times New Roman"/>
                <a:cs typeface="Times New Roman"/>
              </a:rPr>
              <a:t> </a:t>
            </a:r>
            <a:r>
              <a:rPr sz="1600" dirty="0">
                <a:latin typeface="Times New Roman"/>
                <a:cs typeface="Times New Roman"/>
              </a:rPr>
              <a:t>correlation</a:t>
            </a:r>
            <a:r>
              <a:rPr sz="1600" spc="5" dirty="0">
                <a:latin typeface="Times New Roman"/>
                <a:cs typeface="Times New Roman"/>
              </a:rPr>
              <a:t> </a:t>
            </a:r>
            <a:r>
              <a:rPr sz="1600" spc="-10" dirty="0">
                <a:latin typeface="Times New Roman"/>
                <a:cs typeface="Times New Roman"/>
              </a:rPr>
              <a:t>heatmaps.</a:t>
            </a:r>
            <a:endParaRPr sz="1600">
              <a:latin typeface="Times New Roman"/>
              <a:cs typeface="Times New Roman"/>
            </a:endParaRPr>
          </a:p>
        </p:txBody>
      </p:sp>
      <p:sp>
        <p:nvSpPr>
          <p:cNvPr id="4" name="object 4"/>
          <p:cNvSpPr txBox="1"/>
          <p:nvPr/>
        </p:nvSpPr>
        <p:spPr>
          <a:xfrm>
            <a:off x="5907785" y="1492123"/>
            <a:ext cx="5937250" cy="1490345"/>
          </a:xfrm>
          <a:prstGeom prst="rect">
            <a:avLst/>
          </a:prstGeom>
        </p:spPr>
        <p:txBody>
          <a:bodyPr vert="horz" wrap="square" lIns="0" tIns="13335" rIns="0" bIns="0" rtlCol="0">
            <a:spAutoFit/>
          </a:bodyPr>
          <a:lstStyle/>
          <a:p>
            <a:pPr marL="216535" indent="-203835">
              <a:lnSpc>
                <a:spcPct val="100000"/>
              </a:lnSpc>
              <a:spcBef>
                <a:spcPts val="105"/>
              </a:spcBef>
              <a:buAutoNum type="arabicPeriod" startAt="3"/>
              <a:tabLst>
                <a:tab pos="216535" algn="l"/>
              </a:tabLst>
            </a:pPr>
            <a:r>
              <a:rPr sz="1600" b="1" dirty="0">
                <a:latin typeface="Calibri"/>
                <a:cs typeface="Calibri"/>
              </a:rPr>
              <a:t>Model</a:t>
            </a:r>
            <a:r>
              <a:rPr sz="1600" b="1" spc="-65" dirty="0">
                <a:latin typeface="Calibri"/>
                <a:cs typeface="Calibri"/>
              </a:rPr>
              <a:t> </a:t>
            </a:r>
            <a:r>
              <a:rPr sz="1600" b="1" spc="-10" dirty="0">
                <a:latin typeface="Calibri"/>
                <a:cs typeface="Calibri"/>
              </a:rPr>
              <a:t>Framework</a:t>
            </a:r>
            <a:endParaRPr sz="1600">
              <a:latin typeface="Calibri"/>
              <a:cs typeface="Calibri"/>
            </a:endParaRPr>
          </a:p>
          <a:p>
            <a:pPr marL="81915" lvl="1" indent="-79375">
              <a:lnSpc>
                <a:spcPct val="100000"/>
              </a:lnSpc>
              <a:buSzPct val="93750"/>
              <a:buFont typeface="Arial MT"/>
              <a:buChar char="•"/>
              <a:tabLst>
                <a:tab pos="81915" algn="l"/>
              </a:tabLst>
            </a:pPr>
            <a:r>
              <a:rPr sz="1600" b="1" dirty="0">
                <a:latin typeface="Calibri"/>
                <a:cs typeface="Calibri"/>
              </a:rPr>
              <a:t>Text</a:t>
            </a:r>
            <a:r>
              <a:rPr sz="1600" b="1" spc="-45" dirty="0">
                <a:latin typeface="Calibri"/>
                <a:cs typeface="Calibri"/>
              </a:rPr>
              <a:t> </a:t>
            </a:r>
            <a:r>
              <a:rPr sz="1600" b="1" dirty="0">
                <a:latin typeface="Calibri"/>
                <a:cs typeface="Calibri"/>
              </a:rPr>
              <a:t>Encoder:</a:t>
            </a:r>
            <a:r>
              <a:rPr sz="1600" b="1" spc="-50" dirty="0">
                <a:latin typeface="Calibri"/>
                <a:cs typeface="Calibri"/>
              </a:rPr>
              <a:t> </a:t>
            </a:r>
            <a:r>
              <a:rPr sz="1600" dirty="0">
                <a:latin typeface="Calibri"/>
                <a:cs typeface="Calibri"/>
              </a:rPr>
              <a:t>BERT</a:t>
            </a:r>
            <a:r>
              <a:rPr sz="1600" spc="-5" dirty="0">
                <a:latin typeface="Calibri"/>
                <a:cs typeface="Calibri"/>
              </a:rPr>
              <a:t> </a:t>
            </a:r>
            <a:r>
              <a:rPr sz="1600" dirty="0">
                <a:latin typeface="Calibri"/>
                <a:cs typeface="Calibri"/>
              </a:rPr>
              <a:t>extracts semantic</a:t>
            </a:r>
            <a:r>
              <a:rPr sz="1600" spc="-25" dirty="0">
                <a:latin typeface="Calibri"/>
                <a:cs typeface="Calibri"/>
              </a:rPr>
              <a:t> </a:t>
            </a:r>
            <a:r>
              <a:rPr sz="1600" dirty="0">
                <a:latin typeface="Calibri"/>
                <a:cs typeface="Calibri"/>
              </a:rPr>
              <a:t>embeddings</a:t>
            </a:r>
            <a:r>
              <a:rPr sz="1600" spc="-45" dirty="0">
                <a:latin typeface="Calibri"/>
                <a:cs typeface="Calibri"/>
              </a:rPr>
              <a:t> </a:t>
            </a:r>
            <a:r>
              <a:rPr sz="1600" spc="-10" dirty="0">
                <a:latin typeface="Calibri"/>
                <a:cs typeface="Calibri"/>
              </a:rPr>
              <a:t>(768-</a:t>
            </a:r>
            <a:r>
              <a:rPr sz="1600" spc="-25" dirty="0">
                <a:latin typeface="Calibri"/>
                <a:cs typeface="Calibri"/>
              </a:rPr>
              <a:t>d).</a:t>
            </a:r>
            <a:endParaRPr sz="1600">
              <a:latin typeface="Calibri"/>
              <a:cs typeface="Calibri"/>
            </a:endParaRPr>
          </a:p>
          <a:p>
            <a:pPr marL="12700" marR="5715" lvl="1" indent="-10160">
              <a:lnSpc>
                <a:spcPct val="100000"/>
              </a:lnSpc>
              <a:spcBef>
                <a:spcPts val="5"/>
              </a:spcBef>
              <a:buSzPct val="93750"/>
              <a:buFont typeface="Arial MT"/>
              <a:buChar char="•"/>
              <a:tabLst>
                <a:tab pos="81915" algn="l"/>
              </a:tabLst>
            </a:pPr>
            <a:r>
              <a:rPr sz="1600" b="1" dirty="0">
                <a:latin typeface="Calibri"/>
                <a:cs typeface="Calibri"/>
              </a:rPr>
              <a:t>	Metadata</a:t>
            </a:r>
            <a:r>
              <a:rPr sz="1600" b="1" spc="375" dirty="0">
                <a:latin typeface="Calibri"/>
                <a:cs typeface="Calibri"/>
              </a:rPr>
              <a:t> </a:t>
            </a:r>
            <a:r>
              <a:rPr sz="1600" b="1" dirty="0">
                <a:latin typeface="Calibri"/>
                <a:cs typeface="Calibri"/>
              </a:rPr>
              <a:t>Network:</a:t>
            </a:r>
            <a:r>
              <a:rPr sz="1600" b="1" spc="360" dirty="0">
                <a:latin typeface="Calibri"/>
                <a:cs typeface="Calibri"/>
              </a:rPr>
              <a:t> </a:t>
            </a:r>
            <a:r>
              <a:rPr sz="1600" dirty="0">
                <a:latin typeface="Calibri"/>
                <a:cs typeface="Calibri"/>
              </a:rPr>
              <a:t>MLP</a:t>
            </a:r>
            <a:r>
              <a:rPr sz="1600" spc="380" dirty="0">
                <a:latin typeface="Calibri"/>
                <a:cs typeface="Calibri"/>
              </a:rPr>
              <a:t> </a:t>
            </a:r>
            <a:r>
              <a:rPr sz="1600" dirty="0">
                <a:latin typeface="Calibri"/>
                <a:cs typeface="Calibri"/>
              </a:rPr>
              <a:t>processes</a:t>
            </a:r>
            <a:r>
              <a:rPr sz="1600" spc="395" dirty="0">
                <a:latin typeface="Calibri"/>
                <a:cs typeface="Calibri"/>
              </a:rPr>
              <a:t> </a:t>
            </a:r>
            <a:r>
              <a:rPr sz="1600" dirty="0">
                <a:latin typeface="Calibri"/>
                <a:cs typeface="Calibri"/>
              </a:rPr>
              <a:t>5</a:t>
            </a:r>
            <a:r>
              <a:rPr sz="1600" spc="375" dirty="0">
                <a:latin typeface="Calibri"/>
                <a:cs typeface="Calibri"/>
              </a:rPr>
              <a:t> </a:t>
            </a:r>
            <a:r>
              <a:rPr sz="1600" dirty="0">
                <a:latin typeface="Calibri"/>
                <a:cs typeface="Calibri"/>
              </a:rPr>
              <a:t>numeric</a:t>
            </a:r>
            <a:r>
              <a:rPr sz="1600" spc="390" dirty="0">
                <a:latin typeface="Calibri"/>
                <a:cs typeface="Calibri"/>
              </a:rPr>
              <a:t> </a:t>
            </a:r>
            <a:r>
              <a:rPr sz="1600" dirty="0">
                <a:latin typeface="Calibri"/>
                <a:cs typeface="Calibri"/>
              </a:rPr>
              <a:t>features</a:t>
            </a:r>
            <a:r>
              <a:rPr sz="1600" spc="390" dirty="0">
                <a:latin typeface="Calibri"/>
                <a:cs typeface="Calibri"/>
              </a:rPr>
              <a:t> </a:t>
            </a:r>
            <a:r>
              <a:rPr sz="1600" spc="-10" dirty="0">
                <a:latin typeface="Calibri"/>
                <a:cs typeface="Calibri"/>
              </a:rPr>
              <a:t>(followers, </a:t>
            </a:r>
            <a:r>
              <a:rPr sz="1600" dirty="0">
                <a:latin typeface="Calibri"/>
                <a:cs typeface="Calibri"/>
              </a:rPr>
              <a:t>friends,</a:t>
            </a:r>
            <a:r>
              <a:rPr sz="1600" spc="-35" dirty="0">
                <a:latin typeface="Calibri"/>
                <a:cs typeface="Calibri"/>
              </a:rPr>
              <a:t> </a:t>
            </a:r>
            <a:r>
              <a:rPr sz="1600" dirty="0">
                <a:latin typeface="Calibri"/>
                <a:cs typeface="Calibri"/>
              </a:rPr>
              <a:t>statuses,</a:t>
            </a:r>
            <a:r>
              <a:rPr sz="1600" spc="-55" dirty="0">
                <a:latin typeface="Calibri"/>
                <a:cs typeface="Calibri"/>
              </a:rPr>
              <a:t> </a:t>
            </a:r>
            <a:r>
              <a:rPr sz="1600" dirty="0">
                <a:latin typeface="Calibri"/>
                <a:cs typeface="Calibri"/>
              </a:rPr>
              <a:t>listed,</a:t>
            </a:r>
            <a:r>
              <a:rPr sz="1600" spc="-30" dirty="0">
                <a:latin typeface="Calibri"/>
                <a:cs typeface="Calibri"/>
              </a:rPr>
              <a:t> </a:t>
            </a:r>
            <a:r>
              <a:rPr sz="1600" spc="-10" dirty="0">
                <a:latin typeface="Calibri"/>
                <a:cs typeface="Calibri"/>
              </a:rPr>
              <a:t>verified).</a:t>
            </a:r>
            <a:endParaRPr sz="1600">
              <a:latin typeface="Calibri"/>
              <a:cs typeface="Calibri"/>
            </a:endParaRPr>
          </a:p>
          <a:p>
            <a:pPr marL="81915" lvl="1" indent="-79375">
              <a:lnSpc>
                <a:spcPct val="100000"/>
              </a:lnSpc>
              <a:buSzPct val="93750"/>
              <a:buFont typeface="Arial MT"/>
              <a:buChar char="•"/>
              <a:tabLst>
                <a:tab pos="81915" algn="l"/>
              </a:tabLst>
            </a:pPr>
            <a:r>
              <a:rPr sz="1600" b="1" dirty="0">
                <a:latin typeface="Calibri"/>
                <a:cs typeface="Calibri"/>
              </a:rPr>
              <a:t>Fusion</a:t>
            </a:r>
            <a:r>
              <a:rPr sz="1600" b="1" spc="310" dirty="0">
                <a:latin typeface="Calibri"/>
                <a:cs typeface="Calibri"/>
              </a:rPr>
              <a:t> </a:t>
            </a:r>
            <a:r>
              <a:rPr sz="1600" b="1" dirty="0">
                <a:latin typeface="Calibri"/>
                <a:cs typeface="Calibri"/>
              </a:rPr>
              <a:t>Layer:</a:t>
            </a:r>
            <a:r>
              <a:rPr sz="1600" b="1" spc="275" dirty="0">
                <a:latin typeface="Calibri"/>
                <a:cs typeface="Calibri"/>
              </a:rPr>
              <a:t> </a:t>
            </a:r>
            <a:r>
              <a:rPr sz="1600" dirty="0">
                <a:latin typeface="Calibri"/>
                <a:cs typeface="Calibri"/>
              </a:rPr>
              <a:t>Combines</a:t>
            </a:r>
            <a:r>
              <a:rPr sz="1600" spc="310" dirty="0">
                <a:latin typeface="Calibri"/>
                <a:cs typeface="Calibri"/>
              </a:rPr>
              <a:t> </a:t>
            </a:r>
            <a:r>
              <a:rPr sz="1600" dirty="0">
                <a:latin typeface="Calibri"/>
                <a:cs typeface="Calibri"/>
              </a:rPr>
              <a:t>BERT</a:t>
            </a:r>
            <a:r>
              <a:rPr sz="1600" spc="320" dirty="0">
                <a:latin typeface="Calibri"/>
                <a:cs typeface="Calibri"/>
              </a:rPr>
              <a:t> </a:t>
            </a:r>
            <a:r>
              <a:rPr sz="1600" dirty="0">
                <a:latin typeface="Calibri"/>
                <a:cs typeface="Calibri"/>
              </a:rPr>
              <a:t>+</a:t>
            </a:r>
            <a:r>
              <a:rPr sz="1600" spc="300" dirty="0">
                <a:latin typeface="Calibri"/>
                <a:cs typeface="Calibri"/>
              </a:rPr>
              <a:t> </a:t>
            </a:r>
            <a:r>
              <a:rPr sz="1600" dirty="0">
                <a:latin typeface="Calibri"/>
                <a:cs typeface="Calibri"/>
              </a:rPr>
              <a:t>metadata</a:t>
            </a:r>
            <a:r>
              <a:rPr sz="1600" spc="315" dirty="0">
                <a:latin typeface="Calibri"/>
                <a:cs typeface="Calibri"/>
              </a:rPr>
              <a:t> </a:t>
            </a:r>
            <a:r>
              <a:rPr sz="1600" dirty="0">
                <a:latin typeface="Calibri"/>
                <a:cs typeface="Calibri"/>
              </a:rPr>
              <a:t>features</a:t>
            </a:r>
            <a:r>
              <a:rPr sz="1600" spc="305" dirty="0">
                <a:latin typeface="Calibri"/>
                <a:cs typeface="Calibri"/>
              </a:rPr>
              <a:t> </a:t>
            </a:r>
            <a:r>
              <a:rPr sz="1600" dirty="0">
                <a:latin typeface="Calibri"/>
                <a:cs typeface="Calibri"/>
              </a:rPr>
              <a:t>→</a:t>
            </a:r>
            <a:r>
              <a:rPr sz="1600" spc="320" dirty="0">
                <a:latin typeface="Calibri"/>
                <a:cs typeface="Calibri"/>
              </a:rPr>
              <a:t> </a:t>
            </a:r>
            <a:r>
              <a:rPr sz="1600" spc="-10" dirty="0">
                <a:latin typeface="Calibri"/>
                <a:cs typeface="Calibri"/>
              </a:rPr>
              <a:t>classification</a:t>
            </a:r>
            <a:endParaRPr sz="1600">
              <a:latin typeface="Calibri"/>
              <a:cs typeface="Calibri"/>
            </a:endParaRPr>
          </a:p>
          <a:p>
            <a:pPr marL="12700">
              <a:lnSpc>
                <a:spcPct val="100000"/>
              </a:lnSpc>
            </a:pPr>
            <a:r>
              <a:rPr sz="1600" spc="-10" dirty="0">
                <a:latin typeface="Calibri"/>
                <a:cs typeface="Calibri"/>
              </a:rPr>
              <a:t>head.</a:t>
            </a:r>
            <a:endParaRPr sz="1600">
              <a:latin typeface="Calibri"/>
              <a:cs typeface="Calibri"/>
            </a:endParaRPr>
          </a:p>
        </p:txBody>
      </p:sp>
      <p:sp>
        <p:nvSpPr>
          <p:cNvPr id="8" name="object 8"/>
          <p:cNvSpPr txBox="1"/>
          <p:nvPr/>
        </p:nvSpPr>
        <p:spPr>
          <a:xfrm>
            <a:off x="5907785" y="3684270"/>
            <a:ext cx="5216525" cy="1246505"/>
          </a:xfrm>
          <a:prstGeom prst="rect">
            <a:avLst/>
          </a:prstGeom>
        </p:spPr>
        <p:txBody>
          <a:bodyPr vert="horz" wrap="square" lIns="0" tIns="13335" rIns="0" bIns="0" rtlCol="0">
            <a:spAutoFit/>
          </a:bodyPr>
          <a:lstStyle/>
          <a:p>
            <a:pPr marL="216535" indent="-203835">
              <a:lnSpc>
                <a:spcPct val="100000"/>
              </a:lnSpc>
              <a:spcBef>
                <a:spcPts val="105"/>
              </a:spcBef>
              <a:buAutoNum type="arabicPeriod" startAt="4"/>
              <a:tabLst>
                <a:tab pos="216535" algn="l"/>
              </a:tabLst>
            </a:pPr>
            <a:r>
              <a:rPr sz="1600" b="1" dirty="0">
                <a:latin typeface="Times New Roman"/>
                <a:cs typeface="Times New Roman"/>
              </a:rPr>
              <a:t>Algorithms</a:t>
            </a:r>
            <a:r>
              <a:rPr sz="1600" b="1" spc="-45" dirty="0">
                <a:latin typeface="Times New Roman"/>
                <a:cs typeface="Times New Roman"/>
              </a:rPr>
              <a:t> </a:t>
            </a:r>
            <a:r>
              <a:rPr sz="1600" b="1" dirty="0">
                <a:latin typeface="Times New Roman"/>
                <a:cs typeface="Times New Roman"/>
              </a:rPr>
              <a:t>&amp;</a:t>
            </a:r>
            <a:r>
              <a:rPr sz="1600" b="1" spc="-25" dirty="0">
                <a:latin typeface="Times New Roman"/>
                <a:cs typeface="Times New Roman"/>
              </a:rPr>
              <a:t> </a:t>
            </a:r>
            <a:r>
              <a:rPr sz="1600" b="1" spc="-10" dirty="0">
                <a:latin typeface="Times New Roman"/>
                <a:cs typeface="Times New Roman"/>
              </a:rPr>
              <a:t>Training</a:t>
            </a:r>
            <a:endParaRPr sz="1600">
              <a:latin typeface="Times New Roman"/>
              <a:cs typeface="Times New Roman"/>
            </a:endParaRPr>
          </a:p>
          <a:p>
            <a:pPr marL="81915" lvl="1" indent="-79375">
              <a:lnSpc>
                <a:spcPct val="100000"/>
              </a:lnSpc>
              <a:buSzPct val="93750"/>
              <a:buFont typeface="Arial MT"/>
              <a:buChar char="•"/>
              <a:tabLst>
                <a:tab pos="81915" algn="l"/>
              </a:tabLst>
            </a:pPr>
            <a:r>
              <a:rPr sz="1600" dirty="0">
                <a:latin typeface="Times New Roman"/>
                <a:cs typeface="Times New Roman"/>
              </a:rPr>
              <a:t>Loss:</a:t>
            </a:r>
            <a:r>
              <a:rPr sz="1600" spc="20" dirty="0">
                <a:latin typeface="Times New Roman"/>
                <a:cs typeface="Times New Roman"/>
              </a:rPr>
              <a:t> </a:t>
            </a:r>
            <a:r>
              <a:rPr sz="1600" b="1" spc="-10" dirty="0">
                <a:latin typeface="Times New Roman"/>
                <a:cs typeface="Times New Roman"/>
              </a:rPr>
              <a:t>BCEWithLogitsLoss</a:t>
            </a:r>
            <a:r>
              <a:rPr sz="1600" b="1" spc="-65" dirty="0">
                <a:latin typeface="Times New Roman"/>
                <a:cs typeface="Times New Roman"/>
              </a:rPr>
              <a:t> </a:t>
            </a:r>
            <a:r>
              <a:rPr sz="1600" dirty="0">
                <a:latin typeface="Times New Roman"/>
                <a:cs typeface="Times New Roman"/>
              </a:rPr>
              <a:t>with</a:t>
            </a:r>
            <a:r>
              <a:rPr sz="1600" spc="5" dirty="0">
                <a:latin typeface="Times New Roman"/>
                <a:cs typeface="Times New Roman"/>
              </a:rPr>
              <a:t> </a:t>
            </a:r>
            <a:r>
              <a:rPr sz="1600" dirty="0">
                <a:latin typeface="Times New Roman"/>
                <a:cs typeface="Times New Roman"/>
              </a:rPr>
              <a:t>pos_weight</a:t>
            </a:r>
            <a:r>
              <a:rPr sz="1600" spc="-15" dirty="0">
                <a:latin typeface="Times New Roman"/>
                <a:cs typeface="Times New Roman"/>
              </a:rPr>
              <a:t> </a:t>
            </a:r>
            <a:r>
              <a:rPr sz="1600" dirty="0">
                <a:latin typeface="Times New Roman"/>
                <a:cs typeface="Times New Roman"/>
              </a:rPr>
              <a:t>to</a:t>
            </a:r>
            <a:r>
              <a:rPr sz="1600" spc="-20" dirty="0">
                <a:latin typeface="Times New Roman"/>
                <a:cs typeface="Times New Roman"/>
              </a:rPr>
              <a:t> </a:t>
            </a:r>
            <a:r>
              <a:rPr sz="1600" dirty="0">
                <a:latin typeface="Times New Roman"/>
                <a:cs typeface="Times New Roman"/>
              </a:rPr>
              <a:t>fix</a:t>
            </a:r>
            <a:r>
              <a:rPr sz="1600" spc="-20" dirty="0">
                <a:latin typeface="Times New Roman"/>
                <a:cs typeface="Times New Roman"/>
              </a:rPr>
              <a:t> </a:t>
            </a:r>
            <a:r>
              <a:rPr sz="1600" spc="-10" dirty="0">
                <a:latin typeface="Times New Roman"/>
                <a:cs typeface="Times New Roman"/>
              </a:rPr>
              <a:t>imbalance.</a:t>
            </a:r>
            <a:endParaRPr sz="1600">
              <a:latin typeface="Times New Roman"/>
              <a:cs typeface="Times New Roman"/>
            </a:endParaRPr>
          </a:p>
          <a:p>
            <a:pPr marL="81915" lvl="1" indent="-79375">
              <a:lnSpc>
                <a:spcPct val="100000"/>
              </a:lnSpc>
              <a:buSzPct val="93750"/>
              <a:buFont typeface="Arial MT"/>
              <a:buChar char="•"/>
              <a:tabLst>
                <a:tab pos="81915" algn="l"/>
              </a:tabLst>
            </a:pPr>
            <a:r>
              <a:rPr sz="1600" dirty="0">
                <a:latin typeface="Times New Roman"/>
                <a:cs typeface="Times New Roman"/>
              </a:rPr>
              <a:t>Optimizer:</a:t>
            </a:r>
            <a:r>
              <a:rPr sz="1600" spc="-25" dirty="0">
                <a:latin typeface="Times New Roman"/>
                <a:cs typeface="Times New Roman"/>
              </a:rPr>
              <a:t> </a:t>
            </a:r>
            <a:r>
              <a:rPr sz="1600" b="1" dirty="0">
                <a:latin typeface="Times New Roman"/>
                <a:cs typeface="Times New Roman"/>
              </a:rPr>
              <a:t>AdamW</a:t>
            </a:r>
            <a:r>
              <a:rPr sz="1600" b="1" spc="-35" dirty="0">
                <a:latin typeface="Times New Roman"/>
                <a:cs typeface="Times New Roman"/>
              </a:rPr>
              <a:t> </a:t>
            </a:r>
            <a:r>
              <a:rPr sz="1600" dirty="0">
                <a:latin typeface="Times New Roman"/>
                <a:cs typeface="Times New Roman"/>
              </a:rPr>
              <a:t>(lr</a:t>
            </a:r>
            <a:r>
              <a:rPr sz="1600" spc="-15" dirty="0">
                <a:latin typeface="Times New Roman"/>
                <a:cs typeface="Times New Roman"/>
              </a:rPr>
              <a:t> </a:t>
            </a:r>
            <a:r>
              <a:rPr sz="1600" dirty="0">
                <a:latin typeface="Times New Roman"/>
                <a:cs typeface="Times New Roman"/>
              </a:rPr>
              <a:t>=</a:t>
            </a:r>
            <a:r>
              <a:rPr sz="1600" spc="-50" dirty="0">
                <a:latin typeface="Times New Roman"/>
                <a:cs typeface="Times New Roman"/>
              </a:rPr>
              <a:t> </a:t>
            </a:r>
            <a:r>
              <a:rPr sz="1600" spc="-10" dirty="0">
                <a:latin typeface="Times New Roman"/>
                <a:cs typeface="Times New Roman"/>
              </a:rPr>
              <a:t>2e-</a:t>
            </a:r>
            <a:r>
              <a:rPr sz="1600" spc="-25" dirty="0">
                <a:latin typeface="Times New Roman"/>
                <a:cs typeface="Times New Roman"/>
              </a:rPr>
              <a:t>5).</a:t>
            </a:r>
            <a:endParaRPr sz="1600">
              <a:latin typeface="Times New Roman"/>
              <a:cs typeface="Times New Roman"/>
            </a:endParaRPr>
          </a:p>
          <a:p>
            <a:pPr marL="81915" lvl="1" indent="-79375">
              <a:lnSpc>
                <a:spcPct val="100000"/>
              </a:lnSpc>
              <a:spcBef>
                <a:spcPts val="5"/>
              </a:spcBef>
              <a:buSzPct val="93750"/>
              <a:buFont typeface="Arial MT"/>
              <a:buChar char="•"/>
              <a:tabLst>
                <a:tab pos="81915" algn="l"/>
              </a:tabLst>
            </a:pPr>
            <a:r>
              <a:rPr sz="1600" dirty="0">
                <a:latin typeface="Times New Roman"/>
                <a:cs typeface="Times New Roman"/>
              </a:rPr>
              <a:t>Early</a:t>
            </a:r>
            <a:r>
              <a:rPr sz="1600" spc="-20" dirty="0">
                <a:latin typeface="Times New Roman"/>
                <a:cs typeface="Times New Roman"/>
              </a:rPr>
              <a:t> </a:t>
            </a:r>
            <a:r>
              <a:rPr sz="1600" dirty="0">
                <a:latin typeface="Times New Roman"/>
                <a:cs typeface="Times New Roman"/>
              </a:rPr>
              <a:t>stopping</a:t>
            </a:r>
            <a:r>
              <a:rPr sz="1600" spc="-55" dirty="0">
                <a:latin typeface="Times New Roman"/>
                <a:cs typeface="Times New Roman"/>
              </a:rPr>
              <a:t> </a:t>
            </a:r>
            <a:r>
              <a:rPr sz="1600" dirty="0">
                <a:latin typeface="Times New Roman"/>
                <a:cs typeface="Times New Roman"/>
              </a:rPr>
              <a:t>based</a:t>
            </a:r>
            <a:r>
              <a:rPr sz="1600" spc="-20" dirty="0">
                <a:latin typeface="Times New Roman"/>
                <a:cs typeface="Times New Roman"/>
              </a:rPr>
              <a:t> </a:t>
            </a:r>
            <a:r>
              <a:rPr sz="1600" dirty="0">
                <a:latin typeface="Times New Roman"/>
                <a:cs typeface="Times New Roman"/>
              </a:rPr>
              <a:t>on</a:t>
            </a:r>
            <a:r>
              <a:rPr sz="1600" spc="-15" dirty="0">
                <a:latin typeface="Times New Roman"/>
                <a:cs typeface="Times New Roman"/>
              </a:rPr>
              <a:t> </a:t>
            </a:r>
            <a:r>
              <a:rPr sz="1600" b="1" dirty="0">
                <a:latin typeface="Times New Roman"/>
                <a:cs typeface="Times New Roman"/>
              </a:rPr>
              <a:t>Dev</a:t>
            </a:r>
            <a:r>
              <a:rPr sz="1600" b="1" spc="-20" dirty="0">
                <a:latin typeface="Times New Roman"/>
                <a:cs typeface="Times New Roman"/>
              </a:rPr>
              <a:t> </a:t>
            </a:r>
            <a:r>
              <a:rPr sz="1600" b="1" dirty="0">
                <a:latin typeface="Times New Roman"/>
                <a:cs typeface="Times New Roman"/>
              </a:rPr>
              <a:t>F1</a:t>
            </a:r>
            <a:r>
              <a:rPr sz="1600" b="1" spc="-20" dirty="0">
                <a:latin typeface="Times New Roman"/>
                <a:cs typeface="Times New Roman"/>
              </a:rPr>
              <a:t> </a:t>
            </a:r>
            <a:r>
              <a:rPr sz="1600" b="1" spc="-10" dirty="0">
                <a:latin typeface="Times New Roman"/>
                <a:cs typeface="Times New Roman"/>
              </a:rPr>
              <a:t>score</a:t>
            </a:r>
            <a:r>
              <a:rPr sz="1600" spc="-10" dirty="0">
                <a:latin typeface="Times New Roman"/>
                <a:cs typeface="Times New Roman"/>
              </a:rPr>
              <a:t>.</a:t>
            </a:r>
            <a:endParaRPr sz="1600">
              <a:latin typeface="Times New Roman"/>
              <a:cs typeface="Times New Roman"/>
            </a:endParaRPr>
          </a:p>
          <a:p>
            <a:pPr marL="81915" lvl="1" indent="-79375">
              <a:lnSpc>
                <a:spcPct val="100000"/>
              </a:lnSpc>
              <a:buSzPct val="93750"/>
              <a:buFont typeface="Arial MT"/>
              <a:buChar char="•"/>
              <a:tabLst>
                <a:tab pos="81915" algn="l"/>
              </a:tabLst>
            </a:pPr>
            <a:r>
              <a:rPr sz="1600" dirty="0">
                <a:latin typeface="Times New Roman"/>
                <a:cs typeface="Times New Roman"/>
              </a:rPr>
              <a:t>Metrics:</a:t>
            </a:r>
            <a:r>
              <a:rPr sz="1600" spc="-60" dirty="0">
                <a:latin typeface="Times New Roman"/>
                <a:cs typeface="Times New Roman"/>
              </a:rPr>
              <a:t> </a:t>
            </a:r>
            <a:r>
              <a:rPr sz="1600" dirty="0">
                <a:latin typeface="Times New Roman"/>
                <a:cs typeface="Times New Roman"/>
              </a:rPr>
              <a:t>Accuracy,</a:t>
            </a:r>
            <a:r>
              <a:rPr sz="1600" spc="-30" dirty="0">
                <a:latin typeface="Times New Roman"/>
                <a:cs typeface="Times New Roman"/>
              </a:rPr>
              <a:t> </a:t>
            </a:r>
            <a:r>
              <a:rPr sz="1600" dirty="0">
                <a:latin typeface="Times New Roman"/>
                <a:cs typeface="Times New Roman"/>
              </a:rPr>
              <a:t>F1,</a:t>
            </a:r>
            <a:r>
              <a:rPr sz="1600" spc="-40" dirty="0">
                <a:latin typeface="Times New Roman"/>
                <a:cs typeface="Times New Roman"/>
              </a:rPr>
              <a:t> </a:t>
            </a:r>
            <a:r>
              <a:rPr sz="1600" dirty="0">
                <a:latin typeface="Times New Roman"/>
                <a:cs typeface="Times New Roman"/>
              </a:rPr>
              <a:t>AUC,</a:t>
            </a:r>
            <a:r>
              <a:rPr sz="1600" spc="-55" dirty="0">
                <a:latin typeface="Times New Roman"/>
                <a:cs typeface="Times New Roman"/>
              </a:rPr>
              <a:t> </a:t>
            </a:r>
            <a:r>
              <a:rPr sz="1600" dirty="0">
                <a:latin typeface="Times New Roman"/>
                <a:cs typeface="Times New Roman"/>
              </a:rPr>
              <a:t>Precision,</a:t>
            </a:r>
            <a:r>
              <a:rPr sz="1600" spc="-30" dirty="0">
                <a:latin typeface="Times New Roman"/>
                <a:cs typeface="Times New Roman"/>
              </a:rPr>
              <a:t> </a:t>
            </a:r>
            <a:r>
              <a:rPr sz="1600" spc="-10" dirty="0">
                <a:latin typeface="Times New Roman"/>
                <a:cs typeface="Times New Roman"/>
              </a:rPr>
              <a:t>Recall.</a:t>
            </a:r>
            <a:endParaRPr sz="1600">
              <a:latin typeface="Times New Roman"/>
              <a:cs typeface="Times New Roman"/>
            </a:endParaRPr>
          </a:p>
        </p:txBody>
      </p:sp>
      <p:grpSp>
        <p:nvGrpSpPr>
          <p:cNvPr id="9" name="object 9"/>
          <p:cNvGrpSpPr/>
          <p:nvPr/>
        </p:nvGrpSpPr>
        <p:grpSpPr>
          <a:xfrm>
            <a:off x="1523" y="1292352"/>
            <a:ext cx="12192000" cy="4048125"/>
            <a:chOff x="1523" y="1292352"/>
            <a:chExt cx="12192000" cy="4048125"/>
          </a:xfrm>
        </p:grpSpPr>
        <p:sp>
          <p:nvSpPr>
            <p:cNvPr id="10" name="object 10"/>
            <p:cNvSpPr/>
            <p:nvPr/>
          </p:nvSpPr>
          <p:spPr>
            <a:xfrm>
              <a:off x="1523" y="1296924"/>
              <a:ext cx="12192000" cy="0"/>
            </a:xfrm>
            <a:custGeom>
              <a:avLst/>
              <a:gdLst/>
              <a:ahLst/>
              <a:cxnLst/>
              <a:rect l="l" t="t" r="r" b="b"/>
              <a:pathLst>
                <a:path w="12192000">
                  <a:moveTo>
                    <a:pt x="0" y="0"/>
                  </a:moveTo>
                  <a:lnTo>
                    <a:pt x="12192000" y="0"/>
                  </a:lnTo>
                </a:path>
              </a:pathLst>
            </a:custGeom>
            <a:ln w="9144">
              <a:solidFill>
                <a:srgbClr val="000000"/>
              </a:solidFill>
            </a:ln>
          </p:spPr>
          <p:txBody>
            <a:bodyPr wrap="square" lIns="0" tIns="0" rIns="0" bIns="0" rtlCol="0"/>
            <a:lstStyle/>
            <a:p>
              <a:endParaRPr/>
            </a:p>
          </p:txBody>
        </p:sp>
        <p:sp>
          <p:nvSpPr>
            <p:cNvPr id="11" name="object 11"/>
            <p:cNvSpPr/>
            <p:nvPr/>
          </p:nvSpPr>
          <p:spPr>
            <a:xfrm>
              <a:off x="56388" y="5330952"/>
              <a:ext cx="12136120" cy="9525"/>
            </a:xfrm>
            <a:custGeom>
              <a:avLst/>
              <a:gdLst/>
              <a:ahLst/>
              <a:cxnLst/>
              <a:rect l="l" t="t" r="r" b="b"/>
              <a:pathLst>
                <a:path w="12136120" h="9525">
                  <a:moveTo>
                    <a:pt x="12135612" y="0"/>
                  </a:moveTo>
                  <a:lnTo>
                    <a:pt x="0" y="0"/>
                  </a:lnTo>
                  <a:lnTo>
                    <a:pt x="0" y="9144"/>
                  </a:lnTo>
                  <a:lnTo>
                    <a:pt x="12135612" y="9144"/>
                  </a:lnTo>
                  <a:lnTo>
                    <a:pt x="12135612" y="0"/>
                  </a:lnTo>
                  <a:close/>
                </a:path>
              </a:pathLst>
            </a:custGeom>
            <a:solidFill>
              <a:srgbClr val="000000"/>
            </a:solidFill>
          </p:spPr>
          <p:txBody>
            <a:bodyPr wrap="square" lIns="0" tIns="0" rIns="0" bIns="0" rtlCol="0"/>
            <a:lstStyle/>
            <a:p>
              <a:endParaRPr/>
            </a:p>
          </p:txBody>
        </p:sp>
        <p:sp>
          <p:nvSpPr>
            <p:cNvPr id="12" name="object 12"/>
            <p:cNvSpPr/>
            <p:nvPr/>
          </p:nvSpPr>
          <p:spPr>
            <a:xfrm>
              <a:off x="1523" y="3396996"/>
              <a:ext cx="12192000" cy="0"/>
            </a:xfrm>
            <a:custGeom>
              <a:avLst/>
              <a:gdLst/>
              <a:ahLst/>
              <a:cxnLst/>
              <a:rect l="l" t="t" r="r" b="b"/>
              <a:pathLst>
                <a:path w="12192000">
                  <a:moveTo>
                    <a:pt x="0" y="0"/>
                  </a:moveTo>
                  <a:lnTo>
                    <a:pt x="12192000" y="0"/>
                  </a:lnTo>
                </a:path>
              </a:pathLst>
            </a:custGeom>
            <a:ln w="9144">
              <a:solidFill>
                <a:srgbClr val="497DBA"/>
              </a:solidFill>
            </a:ln>
          </p:spPr>
          <p:txBody>
            <a:bodyPr wrap="square" lIns="0" tIns="0" rIns="0" bIns="0" rtlCol="0"/>
            <a:lstStyle/>
            <a:p>
              <a:endParaRPr/>
            </a:p>
          </p:txBody>
        </p:sp>
        <p:sp>
          <p:nvSpPr>
            <p:cNvPr id="13" name="object 13"/>
            <p:cNvSpPr/>
            <p:nvPr/>
          </p:nvSpPr>
          <p:spPr>
            <a:xfrm>
              <a:off x="5737859" y="1296924"/>
              <a:ext cx="0" cy="4038600"/>
            </a:xfrm>
            <a:custGeom>
              <a:avLst/>
              <a:gdLst/>
              <a:ahLst/>
              <a:cxnLst/>
              <a:rect l="l" t="t" r="r" b="b"/>
              <a:pathLst>
                <a:path h="4038600">
                  <a:moveTo>
                    <a:pt x="0" y="0"/>
                  </a:moveTo>
                  <a:lnTo>
                    <a:pt x="0" y="4038600"/>
                  </a:lnTo>
                </a:path>
              </a:pathLst>
            </a:custGeom>
            <a:ln w="9144">
              <a:solidFill>
                <a:srgbClr val="000000"/>
              </a:solidFill>
            </a:ln>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16" name="object 1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16</a:t>
            </a:fld>
            <a:endParaRPr spc="-25" dirty="0"/>
          </a:p>
        </p:txBody>
      </p:sp>
      <p:sp>
        <p:nvSpPr>
          <p:cNvPr id="19" name="TextBox 18">
            <a:extLst>
              <a:ext uri="{FF2B5EF4-FFF2-40B4-BE49-F238E27FC236}">
                <a16:creationId xmlns:a16="http://schemas.microsoft.com/office/drawing/2014/main" id="{BDA1CC0E-442C-9812-AE03-DA5900E556E0}"/>
              </a:ext>
            </a:extLst>
          </p:cNvPr>
          <p:cNvSpPr txBox="1"/>
          <p:nvPr/>
        </p:nvSpPr>
        <p:spPr>
          <a:xfrm>
            <a:off x="7543800" y="2977372"/>
            <a:ext cx="6099048" cy="369332"/>
          </a:xfrm>
          <a:prstGeom prst="rect">
            <a:avLst/>
          </a:prstGeom>
          <a:noFill/>
        </p:spPr>
        <p:txBody>
          <a:bodyPr wrap="square">
            <a:spAutoFit/>
          </a:bodyPr>
          <a:lstStyle/>
          <a:p>
            <a:r>
              <a:rPr lang="en-US" dirty="0"/>
              <a:t>𝑦 =𝜎 (𝑊𝑓 ℎ𝑡𝑒𝑥𝑡 ℎ𝑚𝑒𝑡𝑎 +𝑏f)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0548" y="410413"/>
            <a:ext cx="5277485" cy="695325"/>
          </a:xfrm>
          <a:prstGeom prst="rect">
            <a:avLst/>
          </a:prstGeom>
        </p:spPr>
        <p:txBody>
          <a:bodyPr vert="horz" wrap="square" lIns="0" tIns="12065" rIns="0" bIns="0" rtlCol="0">
            <a:spAutoFit/>
          </a:bodyPr>
          <a:lstStyle/>
          <a:p>
            <a:pPr marL="12700">
              <a:lnSpc>
                <a:spcPct val="100000"/>
              </a:lnSpc>
              <a:spcBef>
                <a:spcPts val="95"/>
              </a:spcBef>
            </a:pPr>
            <a:r>
              <a:rPr spc="-55" dirty="0"/>
              <a:t>IMPLEMENTATION</a:t>
            </a:r>
          </a:p>
        </p:txBody>
      </p:sp>
      <p:sp>
        <p:nvSpPr>
          <p:cNvPr id="3" name="object 3"/>
          <p:cNvSpPr txBox="1">
            <a:spLocks noGrp="1"/>
          </p:cNvSpPr>
          <p:nvPr>
            <p:ph sz="half" idx="2"/>
          </p:nvPr>
        </p:nvSpPr>
        <p:spPr>
          <a:xfrm>
            <a:off x="304800" y="1275714"/>
            <a:ext cx="5630771" cy="4387215"/>
          </a:xfrm>
          <a:prstGeom prst="rect">
            <a:avLst/>
          </a:prstGeom>
        </p:spPr>
        <p:txBody>
          <a:bodyPr vert="horz" wrap="square" lIns="0" tIns="13335" rIns="0" bIns="0" rtlCol="0">
            <a:spAutoFit/>
          </a:bodyPr>
          <a:lstStyle/>
          <a:p>
            <a:pPr marL="12700">
              <a:lnSpc>
                <a:spcPct val="100000"/>
              </a:lnSpc>
              <a:spcBef>
                <a:spcPts val="105"/>
              </a:spcBef>
            </a:pPr>
            <a:r>
              <a:rPr spc="-10" dirty="0"/>
              <a:t>Implementation:</a:t>
            </a:r>
          </a:p>
          <a:p>
            <a:pPr marL="12700">
              <a:lnSpc>
                <a:spcPct val="100000"/>
              </a:lnSpc>
            </a:pPr>
            <a:r>
              <a:rPr b="0" dirty="0">
                <a:latin typeface="Times New Roman"/>
                <a:cs typeface="Times New Roman"/>
              </a:rPr>
              <a:t>Built</a:t>
            </a:r>
            <a:r>
              <a:rPr b="0" spc="100" dirty="0">
                <a:latin typeface="Times New Roman"/>
                <a:cs typeface="Times New Roman"/>
              </a:rPr>
              <a:t> </a:t>
            </a:r>
            <a:r>
              <a:rPr b="0" dirty="0">
                <a:latin typeface="Times New Roman"/>
                <a:cs typeface="Times New Roman"/>
              </a:rPr>
              <a:t>on</a:t>
            </a:r>
            <a:r>
              <a:rPr b="0" spc="60" dirty="0">
                <a:latin typeface="Times New Roman"/>
                <a:cs typeface="Times New Roman"/>
              </a:rPr>
              <a:t> </a:t>
            </a:r>
            <a:r>
              <a:rPr dirty="0"/>
              <a:t>Google</a:t>
            </a:r>
            <a:r>
              <a:rPr spc="95" dirty="0"/>
              <a:t> </a:t>
            </a:r>
            <a:r>
              <a:rPr dirty="0"/>
              <a:t>Colab</a:t>
            </a:r>
            <a:r>
              <a:rPr spc="80" dirty="0"/>
              <a:t> </a:t>
            </a:r>
            <a:r>
              <a:rPr dirty="0"/>
              <a:t>(Python,</a:t>
            </a:r>
            <a:r>
              <a:rPr spc="70" dirty="0"/>
              <a:t> </a:t>
            </a:r>
            <a:r>
              <a:rPr spc="-10" dirty="0"/>
              <a:t>PyTorch)</a:t>
            </a:r>
          </a:p>
          <a:p>
            <a:pPr marL="12700">
              <a:lnSpc>
                <a:spcPct val="100000"/>
              </a:lnSpc>
              <a:spcBef>
                <a:spcPts val="5"/>
              </a:spcBef>
            </a:pPr>
            <a:r>
              <a:rPr b="0" dirty="0">
                <a:latin typeface="Times New Roman"/>
                <a:cs typeface="Times New Roman"/>
              </a:rPr>
              <a:t>using</a:t>
            </a:r>
            <a:r>
              <a:rPr b="0" spc="-30" dirty="0">
                <a:latin typeface="Times New Roman"/>
                <a:cs typeface="Times New Roman"/>
              </a:rPr>
              <a:t> </a:t>
            </a:r>
            <a:r>
              <a:rPr dirty="0"/>
              <a:t>TwiBot-20</a:t>
            </a:r>
            <a:r>
              <a:rPr spc="-50" dirty="0"/>
              <a:t> </a:t>
            </a:r>
            <a:r>
              <a:rPr b="0" spc="-10" dirty="0">
                <a:latin typeface="Times New Roman"/>
                <a:cs typeface="Times New Roman"/>
              </a:rPr>
              <a:t>dataset.</a:t>
            </a:r>
          </a:p>
          <a:p>
            <a:pPr marL="12700">
              <a:lnSpc>
                <a:spcPct val="100000"/>
              </a:lnSpc>
              <a:tabLst>
                <a:tab pos="1350645" algn="l"/>
                <a:tab pos="2313940" algn="l"/>
                <a:tab pos="2844800" algn="l"/>
                <a:tab pos="3469640" algn="l"/>
                <a:tab pos="3829050" algn="l"/>
                <a:tab pos="4655185" algn="l"/>
              </a:tabLst>
            </a:pPr>
            <a:r>
              <a:rPr b="0" spc="-10" dirty="0">
                <a:latin typeface="Times New Roman"/>
                <a:cs typeface="Times New Roman"/>
              </a:rPr>
              <a:t>Integrated</a:t>
            </a:r>
            <a:r>
              <a:rPr b="0" dirty="0">
                <a:latin typeface="Times New Roman"/>
                <a:cs typeface="Times New Roman"/>
              </a:rPr>
              <a:t>	</a:t>
            </a:r>
            <a:r>
              <a:rPr spc="-20" dirty="0"/>
              <a:t>BERT</a:t>
            </a:r>
            <a:r>
              <a:rPr dirty="0"/>
              <a:t>	</a:t>
            </a:r>
            <a:r>
              <a:rPr b="0" spc="-25" dirty="0">
                <a:latin typeface="Times New Roman"/>
                <a:cs typeface="Times New Roman"/>
              </a:rPr>
              <a:t>for</a:t>
            </a:r>
            <a:r>
              <a:rPr b="0" dirty="0">
                <a:latin typeface="Times New Roman"/>
                <a:cs typeface="Times New Roman"/>
              </a:rPr>
              <a:t>	</a:t>
            </a:r>
            <a:r>
              <a:rPr b="0" spc="-20" dirty="0">
                <a:latin typeface="Times New Roman"/>
                <a:cs typeface="Times New Roman"/>
              </a:rPr>
              <a:t>text</a:t>
            </a:r>
            <a:r>
              <a:rPr b="0" dirty="0">
                <a:latin typeface="Times New Roman"/>
                <a:cs typeface="Times New Roman"/>
              </a:rPr>
              <a:t>	</a:t>
            </a:r>
            <a:r>
              <a:rPr b="0" spc="-50" dirty="0">
                <a:latin typeface="Times New Roman"/>
                <a:cs typeface="Times New Roman"/>
              </a:rPr>
              <a:t>+</a:t>
            </a:r>
            <a:r>
              <a:rPr b="0" dirty="0">
                <a:latin typeface="Times New Roman"/>
                <a:cs typeface="Times New Roman"/>
              </a:rPr>
              <a:t>	</a:t>
            </a:r>
            <a:r>
              <a:rPr spc="-25" dirty="0"/>
              <a:t>MLP</a:t>
            </a:r>
            <a:r>
              <a:rPr dirty="0"/>
              <a:t>	</a:t>
            </a:r>
            <a:r>
              <a:rPr b="0" spc="-25" dirty="0">
                <a:latin typeface="Times New Roman"/>
                <a:cs typeface="Times New Roman"/>
              </a:rPr>
              <a:t>for</a:t>
            </a:r>
          </a:p>
          <a:p>
            <a:pPr marL="12700">
              <a:lnSpc>
                <a:spcPct val="100000"/>
              </a:lnSpc>
            </a:pPr>
            <a:r>
              <a:rPr b="0" dirty="0">
                <a:latin typeface="Times New Roman"/>
                <a:cs typeface="Times New Roman"/>
              </a:rPr>
              <a:t>metadata</a:t>
            </a:r>
            <a:r>
              <a:rPr b="0" spc="-35" dirty="0">
                <a:latin typeface="Times New Roman"/>
                <a:cs typeface="Times New Roman"/>
              </a:rPr>
              <a:t> </a:t>
            </a:r>
            <a:r>
              <a:rPr b="0" spc="-10" dirty="0">
                <a:latin typeface="Times New Roman"/>
                <a:cs typeface="Times New Roman"/>
              </a:rPr>
              <a:t>fusion.</a:t>
            </a:r>
          </a:p>
          <a:p>
            <a:pPr marL="12700">
              <a:lnSpc>
                <a:spcPct val="100000"/>
              </a:lnSpc>
              <a:tabLst>
                <a:tab pos="948055" algn="l"/>
                <a:tab pos="1999614" algn="l"/>
                <a:tab pos="3295650" algn="l"/>
                <a:tab pos="3905250" algn="l"/>
                <a:tab pos="4747260" algn="l"/>
              </a:tabLst>
            </a:pPr>
            <a:r>
              <a:rPr b="0" spc="-10" dirty="0">
                <a:latin typeface="Times New Roman"/>
                <a:cs typeface="Times New Roman"/>
              </a:rPr>
              <a:t>Model</a:t>
            </a:r>
            <a:r>
              <a:rPr b="0" dirty="0">
                <a:latin typeface="Times New Roman"/>
                <a:cs typeface="Times New Roman"/>
              </a:rPr>
              <a:t>	</a:t>
            </a:r>
            <a:r>
              <a:rPr b="0" spc="-10" dirty="0">
                <a:latin typeface="Times New Roman"/>
                <a:cs typeface="Times New Roman"/>
              </a:rPr>
              <a:t>trained,</a:t>
            </a:r>
            <a:r>
              <a:rPr b="0" dirty="0">
                <a:latin typeface="Times New Roman"/>
                <a:cs typeface="Times New Roman"/>
              </a:rPr>
              <a:t>	</a:t>
            </a:r>
            <a:r>
              <a:rPr b="0" spc="-10" dirty="0">
                <a:latin typeface="Times New Roman"/>
                <a:cs typeface="Times New Roman"/>
              </a:rPr>
              <a:t>validated,</a:t>
            </a:r>
            <a:r>
              <a:rPr b="0" dirty="0">
                <a:latin typeface="Times New Roman"/>
                <a:cs typeface="Times New Roman"/>
              </a:rPr>
              <a:t>	</a:t>
            </a:r>
            <a:r>
              <a:rPr b="0" spc="-25" dirty="0">
                <a:latin typeface="Times New Roman"/>
                <a:cs typeface="Times New Roman"/>
              </a:rPr>
              <a:t>and</a:t>
            </a:r>
            <a:r>
              <a:rPr b="0" dirty="0">
                <a:latin typeface="Times New Roman"/>
                <a:cs typeface="Times New Roman"/>
              </a:rPr>
              <a:t>	</a:t>
            </a:r>
            <a:r>
              <a:rPr b="0" spc="-10" dirty="0">
                <a:latin typeface="Times New Roman"/>
                <a:cs typeface="Times New Roman"/>
              </a:rPr>
              <a:t>saved</a:t>
            </a:r>
            <a:r>
              <a:rPr b="0" dirty="0">
                <a:latin typeface="Times New Roman"/>
                <a:cs typeface="Times New Roman"/>
              </a:rPr>
              <a:t>	</a:t>
            </a:r>
            <a:r>
              <a:rPr b="0" spc="-25" dirty="0">
                <a:latin typeface="Times New Roman"/>
                <a:cs typeface="Times New Roman"/>
              </a:rPr>
              <a:t>as</a:t>
            </a:r>
          </a:p>
          <a:p>
            <a:pPr marL="12700">
              <a:lnSpc>
                <a:spcPct val="100000"/>
              </a:lnSpc>
              <a:spcBef>
                <a:spcPts val="5"/>
              </a:spcBef>
            </a:pPr>
            <a:r>
              <a:rPr b="0" spc="-10" dirty="0">
                <a:latin typeface="Times New Roman"/>
                <a:cs typeface="Times New Roman"/>
              </a:rPr>
              <a:t>hybrid_model.pth.</a:t>
            </a:r>
          </a:p>
          <a:p>
            <a:pPr>
              <a:lnSpc>
                <a:spcPct val="100000"/>
              </a:lnSpc>
              <a:spcBef>
                <a:spcPts val="110"/>
              </a:spcBef>
            </a:pPr>
            <a:endParaRPr b="0" spc="-10" dirty="0">
              <a:latin typeface="Times New Roman"/>
              <a:cs typeface="Times New Roman"/>
            </a:endParaRPr>
          </a:p>
          <a:p>
            <a:pPr marL="12700">
              <a:lnSpc>
                <a:spcPct val="100000"/>
              </a:lnSpc>
            </a:pPr>
            <a:r>
              <a:rPr dirty="0"/>
              <a:t>Software</a:t>
            </a:r>
            <a:r>
              <a:rPr spc="-50" dirty="0"/>
              <a:t> </a:t>
            </a:r>
            <a:r>
              <a:rPr spc="-10" dirty="0"/>
              <a:t>Specs:</a:t>
            </a:r>
          </a:p>
          <a:p>
            <a:pPr marL="12700">
              <a:lnSpc>
                <a:spcPct val="100000"/>
              </a:lnSpc>
            </a:pPr>
            <a:r>
              <a:rPr b="0" dirty="0">
                <a:latin typeface="Times New Roman"/>
                <a:cs typeface="Times New Roman"/>
              </a:rPr>
              <a:t>OS:</a:t>
            </a:r>
            <a:r>
              <a:rPr b="0" spc="-10" dirty="0">
                <a:latin typeface="Times New Roman"/>
                <a:cs typeface="Times New Roman"/>
              </a:rPr>
              <a:t> </a:t>
            </a:r>
            <a:r>
              <a:rPr b="0" dirty="0">
                <a:latin typeface="Times New Roman"/>
                <a:cs typeface="Times New Roman"/>
              </a:rPr>
              <a:t>Colab</a:t>
            </a:r>
            <a:r>
              <a:rPr b="0" spc="-55" dirty="0">
                <a:latin typeface="Times New Roman"/>
                <a:cs typeface="Times New Roman"/>
              </a:rPr>
              <a:t> </a:t>
            </a:r>
            <a:r>
              <a:rPr b="0" spc="-10" dirty="0">
                <a:latin typeface="Times New Roman"/>
                <a:cs typeface="Times New Roman"/>
              </a:rPr>
              <a:t>(Linux)</a:t>
            </a:r>
          </a:p>
          <a:p>
            <a:pPr marL="12700">
              <a:lnSpc>
                <a:spcPct val="100000"/>
              </a:lnSpc>
              <a:spcBef>
                <a:spcPts val="5"/>
              </a:spcBef>
              <a:tabLst>
                <a:tab pos="1929764" algn="l"/>
                <a:tab pos="3402329" algn="l"/>
              </a:tabLst>
            </a:pPr>
            <a:r>
              <a:rPr b="0" spc="-10" dirty="0">
                <a:latin typeface="Times New Roman"/>
                <a:cs typeface="Times New Roman"/>
              </a:rPr>
              <a:t>Frameworks:PyTorch,HuggingFace,</a:t>
            </a:r>
          </a:p>
          <a:p>
            <a:pPr marL="12700">
              <a:lnSpc>
                <a:spcPct val="100000"/>
              </a:lnSpc>
            </a:pPr>
            <a:r>
              <a:rPr b="0" spc="-10" dirty="0">
                <a:latin typeface="Times New Roman"/>
                <a:cs typeface="Times New Roman"/>
              </a:rPr>
              <a:t>Scikit-</a:t>
            </a:r>
            <a:r>
              <a:rPr b="0" spc="-20" dirty="0">
                <a:latin typeface="Times New Roman"/>
                <a:cs typeface="Times New Roman"/>
              </a:rPr>
              <a:t>learn</a:t>
            </a:r>
          </a:p>
          <a:p>
            <a:pPr marL="12700">
              <a:lnSpc>
                <a:spcPct val="100000"/>
              </a:lnSpc>
            </a:pPr>
            <a:r>
              <a:rPr b="0" dirty="0">
                <a:latin typeface="Times New Roman"/>
                <a:cs typeface="Times New Roman"/>
              </a:rPr>
              <a:t>Tools:</a:t>
            </a:r>
            <a:r>
              <a:rPr b="0" spc="-90" dirty="0">
                <a:latin typeface="Times New Roman"/>
                <a:cs typeface="Times New Roman"/>
              </a:rPr>
              <a:t> </a:t>
            </a:r>
            <a:r>
              <a:rPr b="0" dirty="0">
                <a:latin typeface="Times New Roman"/>
                <a:cs typeface="Times New Roman"/>
              </a:rPr>
              <a:t>Pandas,</a:t>
            </a:r>
            <a:r>
              <a:rPr b="0" spc="-40" dirty="0">
                <a:latin typeface="Times New Roman"/>
                <a:cs typeface="Times New Roman"/>
              </a:rPr>
              <a:t> </a:t>
            </a:r>
            <a:r>
              <a:rPr b="0" dirty="0">
                <a:latin typeface="Times New Roman"/>
                <a:cs typeface="Times New Roman"/>
              </a:rPr>
              <a:t>NumPy,</a:t>
            </a:r>
            <a:r>
              <a:rPr b="0" spc="30" dirty="0">
                <a:latin typeface="Times New Roman"/>
                <a:cs typeface="Times New Roman"/>
              </a:rPr>
              <a:t> </a:t>
            </a:r>
            <a:r>
              <a:rPr b="0" spc="-10" dirty="0">
                <a:latin typeface="Times New Roman"/>
                <a:cs typeface="Times New Roman"/>
              </a:rPr>
              <a:t>Matplotlib</a:t>
            </a:r>
          </a:p>
        </p:txBody>
      </p:sp>
      <p:sp>
        <p:nvSpPr>
          <p:cNvPr id="4" name="object 4"/>
          <p:cNvSpPr txBox="1"/>
          <p:nvPr/>
        </p:nvSpPr>
        <p:spPr>
          <a:xfrm>
            <a:off x="6060440" y="1319606"/>
            <a:ext cx="5405120" cy="3381375"/>
          </a:xfrm>
          <a:prstGeom prst="rect">
            <a:avLst/>
          </a:prstGeom>
        </p:spPr>
        <p:txBody>
          <a:bodyPr vert="horz" wrap="square" lIns="0" tIns="13970" rIns="0" bIns="0" rtlCol="0">
            <a:spAutoFit/>
          </a:bodyPr>
          <a:lstStyle/>
          <a:p>
            <a:pPr marL="12700">
              <a:lnSpc>
                <a:spcPct val="100000"/>
              </a:lnSpc>
              <a:spcBef>
                <a:spcPts val="110"/>
              </a:spcBef>
            </a:pPr>
            <a:r>
              <a:rPr sz="2200" b="1" dirty="0">
                <a:latin typeface="Times New Roman"/>
                <a:cs typeface="Times New Roman"/>
              </a:rPr>
              <a:t>Hardware</a:t>
            </a:r>
            <a:r>
              <a:rPr sz="2200" b="1" spc="-55" dirty="0">
                <a:latin typeface="Times New Roman"/>
                <a:cs typeface="Times New Roman"/>
              </a:rPr>
              <a:t> </a:t>
            </a:r>
            <a:r>
              <a:rPr sz="2200" b="1" spc="-10" dirty="0">
                <a:latin typeface="Times New Roman"/>
                <a:cs typeface="Times New Roman"/>
              </a:rPr>
              <a:t>Specs:</a:t>
            </a:r>
            <a:endParaRPr sz="2200">
              <a:latin typeface="Times New Roman"/>
              <a:cs typeface="Times New Roman"/>
            </a:endParaRPr>
          </a:p>
          <a:p>
            <a:pPr marL="12700">
              <a:lnSpc>
                <a:spcPct val="100000"/>
              </a:lnSpc>
            </a:pPr>
            <a:r>
              <a:rPr sz="2200" dirty="0">
                <a:latin typeface="Times New Roman"/>
                <a:cs typeface="Times New Roman"/>
              </a:rPr>
              <a:t>GPU:</a:t>
            </a:r>
            <a:r>
              <a:rPr sz="2200" spc="-15" dirty="0">
                <a:latin typeface="Times New Roman"/>
                <a:cs typeface="Times New Roman"/>
              </a:rPr>
              <a:t> </a:t>
            </a:r>
            <a:r>
              <a:rPr sz="2200" dirty="0">
                <a:latin typeface="Times New Roman"/>
                <a:cs typeface="Times New Roman"/>
              </a:rPr>
              <a:t>NVIDIA</a:t>
            </a:r>
            <a:r>
              <a:rPr sz="2200" spc="45" dirty="0">
                <a:latin typeface="Times New Roman"/>
                <a:cs typeface="Times New Roman"/>
              </a:rPr>
              <a:t> </a:t>
            </a:r>
            <a:r>
              <a:rPr sz="2200" dirty="0">
                <a:latin typeface="Times New Roman"/>
                <a:cs typeface="Times New Roman"/>
              </a:rPr>
              <a:t>Tesla</a:t>
            </a:r>
            <a:r>
              <a:rPr sz="2200" spc="-85" dirty="0">
                <a:latin typeface="Times New Roman"/>
                <a:cs typeface="Times New Roman"/>
              </a:rPr>
              <a:t> </a:t>
            </a:r>
            <a:r>
              <a:rPr sz="2200" dirty="0">
                <a:latin typeface="Times New Roman"/>
                <a:cs typeface="Times New Roman"/>
              </a:rPr>
              <a:t>T4</a:t>
            </a:r>
            <a:r>
              <a:rPr sz="2200" spc="-45" dirty="0">
                <a:latin typeface="Times New Roman"/>
                <a:cs typeface="Times New Roman"/>
              </a:rPr>
              <a:t> </a:t>
            </a:r>
            <a:r>
              <a:rPr sz="2200" dirty="0">
                <a:latin typeface="Times New Roman"/>
                <a:cs typeface="Times New Roman"/>
              </a:rPr>
              <a:t>/</a:t>
            </a:r>
            <a:r>
              <a:rPr sz="2200" spc="-10" dirty="0">
                <a:latin typeface="Times New Roman"/>
                <a:cs typeface="Times New Roman"/>
              </a:rPr>
              <a:t> </a:t>
            </a:r>
            <a:r>
              <a:rPr sz="2200" dirty="0">
                <a:latin typeface="Times New Roman"/>
                <a:cs typeface="Times New Roman"/>
              </a:rPr>
              <a:t>A100</a:t>
            </a:r>
            <a:r>
              <a:rPr sz="2200" spc="-45" dirty="0">
                <a:latin typeface="Times New Roman"/>
                <a:cs typeface="Times New Roman"/>
              </a:rPr>
              <a:t> </a:t>
            </a:r>
            <a:r>
              <a:rPr sz="2200" dirty="0">
                <a:latin typeface="Times New Roman"/>
                <a:cs typeface="Times New Roman"/>
              </a:rPr>
              <a:t>(16</a:t>
            </a:r>
            <a:r>
              <a:rPr sz="2200" spc="-40" dirty="0">
                <a:latin typeface="Times New Roman"/>
                <a:cs typeface="Times New Roman"/>
              </a:rPr>
              <a:t> </a:t>
            </a:r>
            <a:r>
              <a:rPr sz="2200" spc="-25" dirty="0">
                <a:latin typeface="Times New Roman"/>
                <a:cs typeface="Times New Roman"/>
              </a:rPr>
              <a:t>GB)</a:t>
            </a:r>
            <a:endParaRPr sz="2200">
              <a:latin typeface="Times New Roman"/>
              <a:cs typeface="Times New Roman"/>
            </a:endParaRPr>
          </a:p>
          <a:p>
            <a:pPr marL="12700">
              <a:lnSpc>
                <a:spcPct val="100000"/>
              </a:lnSpc>
            </a:pPr>
            <a:r>
              <a:rPr sz="2200" dirty="0">
                <a:latin typeface="Times New Roman"/>
                <a:cs typeface="Times New Roman"/>
              </a:rPr>
              <a:t>RAM:</a:t>
            </a:r>
            <a:r>
              <a:rPr sz="2200" spc="-30" dirty="0">
                <a:latin typeface="Times New Roman"/>
                <a:cs typeface="Times New Roman"/>
              </a:rPr>
              <a:t> </a:t>
            </a:r>
            <a:r>
              <a:rPr sz="2200" dirty="0">
                <a:latin typeface="Times New Roman"/>
                <a:cs typeface="Times New Roman"/>
              </a:rPr>
              <a:t>25</a:t>
            </a:r>
            <a:r>
              <a:rPr sz="2200" spc="-40" dirty="0">
                <a:latin typeface="Times New Roman"/>
                <a:cs typeface="Times New Roman"/>
              </a:rPr>
              <a:t> </a:t>
            </a:r>
            <a:r>
              <a:rPr sz="2200" dirty="0">
                <a:latin typeface="Times New Roman"/>
                <a:cs typeface="Times New Roman"/>
              </a:rPr>
              <a:t>GB</a:t>
            </a:r>
            <a:r>
              <a:rPr sz="2200" spc="-25" dirty="0">
                <a:latin typeface="Times New Roman"/>
                <a:cs typeface="Times New Roman"/>
              </a:rPr>
              <a:t> </a:t>
            </a:r>
            <a:r>
              <a:rPr sz="2200" dirty="0">
                <a:latin typeface="Times New Roman"/>
                <a:cs typeface="Times New Roman"/>
              </a:rPr>
              <a:t>| Storage:</a:t>
            </a:r>
            <a:r>
              <a:rPr sz="2200" spc="-55" dirty="0">
                <a:latin typeface="Times New Roman"/>
                <a:cs typeface="Times New Roman"/>
              </a:rPr>
              <a:t> </a:t>
            </a:r>
            <a:r>
              <a:rPr sz="2200" dirty="0">
                <a:latin typeface="Times New Roman"/>
                <a:cs typeface="Times New Roman"/>
              </a:rPr>
              <a:t>100</a:t>
            </a:r>
            <a:r>
              <a:rPr sz="2200" spc="-20" dirty="0">
                <a:latin typeface="Times New Roman"/>
                <a:cs typeface="Times New Roman"/>
              </a:rPr>
              <a:t> </a:t>
            </a:r>
            <a:r>
              <a:rPr sz="2200" dirty="0">
                <a:latin typeface="Times New Roman"/>
                <a:cs typeface="Times New Roman"/>
              </a:rPr>
              <a:t>GB</a:t>
            </a:r>
            <a:r>
              <a:rPr sz="2200" spc="-25" dirty="0">
                <a:latin typeface="Times New Roman"/>
                <a:cs typeface="Times New Roman"/>
              </a:rPr>
              <a:t> </a:t>
            </a:r>
            <a:r>
              <a:rPr sz="2200" dirty="0">
                <a:latin typeface="Times New Roman"/>
                <a:cs typeface="Times New Roman"/>
              </a:rPr>
              <a:t>(Google</a:t>
            </a:r>
            <a:r>
              <a:rPr sz="2200" spc="-30" dirty="0">
                <a:latin typeface="Times New Roman"/>
                <a:cs typeface="Times New Roman"/>
              </a:rPr>
              <a:t> </a:t>
            </a:r>
            <a:r>
              <a:rPr sz="2200" spc="-10" dirty="0">
                <a:latin typeface="Times New Roman"/>
                <a:cs typeface="Times New Roman"/>
              </a:rPr>
              <a:t>Drive)</a:t>
            </a:r>
            <a:endParaRPr sz="2200">
              <a:latin typeface="Times New Roman"/>
              <a:cs typeface="Times New Roman"/>
            </a:endParaRPr>
          </a:p>
          <a:p>
            <a:pPr>
              <a:lnSpc>
                <a:spcPct val="100000"/>
              </a:lnSpc>
            </a:pPr>
            <a:endParaRPr sz="2200">
              <a:latin typeface="Times New Roman"/>
              <a:cs typeface="Times New Roman"/>
            </a:endParaRPr>
          </a:p>
          <a:p>
            <a:pPr>
              <a:lnSpc>
                <a:spcPct val="100000"/>
              </a:lnSpc>
              <a:spcBef>
                <a:spcPts val="225"/>
              </a:spcBef>
            </a:pPr>
            <a:endParaRPr sz="2200">
              <a:latin typeface="Times New Roman"/>
              <a:cs typeface="Times New Roman"/>
            </a:endParaRPr>
          </a:p>
          <a:p>
            <a:pPr marL="12700">
              <a:lnSpc>
                <a:spcPct val="100000"/>
              </a:lnSpc>
            </a:pPr>
            <a:r>
              <a:rPr sz="2200" b="1" dirty="0">
                <a:latin typeface="Times New Roman"/>
                <a:cs typeface="Times New Roman"/>
              </a:rPr>
              <a:t>Challenges</a:t>
            </a:r>
            <a:r>
              <a:rPr sz="2200" b="1" spc="-35" dirty="0">
                <a:latin typeface="Times New Roman"/>
                <a:cs typeface="Times New Roman"/>
              </a:rPr>
              <a:t> </a:t>
            </a:r>
            <a:r>
              <a:rPr sz="2200" b="1" dirty="0">
                <a:latin typeface="Times New Roman"/>
                <a:cs typeface="Times New Roman"/>
              </a:rPr>
              <a:t>&amp;</a:t>
            </a:r>
            <a:r>
              <a:rPr sz="2200" b="1" spc="-15" dirty="0">
                <a:latin typeface="Times New Roman"/>
                <a:cs typeface="Times New Roman"/>
              </a:rPr>
              <a:t> </a:t>
            </a:r>
            <a:r>
              <a:rPr sz="2200" b="1" spc="-10" dirty="0">
                <a:latin typeface="Times New Roman"/>
                <a:cs typeface="Times New Roman"/>
              </a:rPr>
              <a:t>Solutions:</a:t>
            </a:r>
            <a:endParaRPr sz="2200">
              <a:latin typeface="Times New Roman"/>
              <a:cs typeface="Times New Roman"/>
            </a:endParaRPr>
          </a:p>
          <a:p>
            <a:pPr marL="12700" marR="41910">
              <a:lnSpc>
                <a:spcPct val="100000"/>
              </a:lnSpc>
            </a:pPr>
            <a:r>
              <a:rPr sz="2200" b="1" dirty="0">
                <a:latin typeface="Times New Roman"/>
                <a:cs typeface="Times New Roman"/>
              </a:rPr>
              <a:t>Data</a:t>
            </a:r>
            <a:r>
              <a:rPr sz="2200" b="1" spc="-40" dirty="0">
                <a:latin typeface="Times New Roman"/>
                <a:cs typeface="Times New Roman"/>
              </a:rPr>
              <a:t> </a:t>
            </a:r>
            <a:r>
              <a:rPr sz="2200" b="1" dirty="0">
                <a:latin typeface="Times New Roman"/>
                <a:cs typeface="Times New Roman"/>
              </a:rPr>
              <a:t>imbalance</a:t>
            </a:r>
            <a:r>
              <a:rPr sz="2200" b="1" spc="-35" dirty="0">
                <a:latin typeface="Times New Roman"/>
                <a:cs typeface="Times New Roman"/>
              </a:rPr>
              <a:t> </a:t>
            </a:r>
            <a:r>
              <a:rPr sz="2200" b="1" dirty="0">
                <a:latin typeface="Times New Roman"/>
                <a:cs typeface="Times New Roman"/>
              </a:rPr>
              <a:t>→</a:t>
            </a:r>
            <a:r>
              <a:rPr sz="2200" b="1" spc="-10" dirty="0">
                <a:latin typeface="Times New Roman"/>
                <a:cs typeface="Times New Roman"/>
              </a:rPr>
              <a:t> </a:t>
            </a:r>
            <a:r>
              <a:rPr sz="2200" dirty="0">
                <a:latin typeface="Times New Roman"/>
                <a:cs typeface="Times New Roman"/>
              </a:rPr>
              <a:t>Weighted</a:t>
            </a:r>
            <a:r>
              <a:rPr sz="2200" spc="-40" dirty="0">
                <a:latin typeface="Times New Roman"/>
                <a:cs typeface="Times New Roman"/>
              </a:rPr>
              <a:t> </a:t>
            </a:r>
            <a:r>
              <a:rPr sz="2200" dirty="0">
                <a:latin typeface="Times New Roman"/>
                <a:cs typeface="Times New Roman"/>
              </a:rPr>
              <a:t>loss</a:t>
            </a:r>
            <a:r>
              <a:rPr sz="2200" spc="-45" dirty="0">
                <a:latin typeface="Times New Roman"/>
                <a:cs typeface="Times New Roman"/>
              </a:rPr>
              <a:t> </a:t>
            </a:r>
            <a:r>
              <a:rPr sz="2200" dirty="0">
                <a:latin typeface="Times New Roman"/>
                <a:cs typeface="Times New Roman"/>
              </a:rPr>
              <a:t>&amp;</a:t>
            </a:r>
            <a:r>
              <a:rPr sz="2200" spc="-15" dirty="0">
                <a:latin typeface="Times New Roman"/>
                <a:cs typeface="Times New Roman"/>
              </a:rPr>
              <a:t> </a:t>
            </a:r>
            <a:r>
              <a:rPr sz="2200" spc="-10" dirty="0">
                <a:latin typeface="Times New Roman"/>
                <a:cs typeface="Times New Roman"/>
              </a:rPr>
              <a:t>sampler </a:t>
            </a:r>
            <a:r>
              <a:rPr sz="2200" b="1" dirty="0">
                <a:latin typeface="Times New Roman"/>
                <a:cs typeface="Times New Roman"/>
              </a:rPr>
              <a:t>Noisy</a:t>
            </a:r>
            <a:r>
              <a:rPr sz="2200" b="1" spc="-10" dirty="0">
                <a:latin typeface="Times New Roman"/>
                <a:cs typeface="Times New Roman"/>
              </a:rPr>
              <a:t> </a:t>
            </a:r>
            <a:r>
              <a:rPr sz="2200" b="1" dirty="0">
                <a:latin typeface="Times New Roman"/>
                <a:cs typeface="Times New Roman"/>
              </a:rPr>
              <a:t>tweets</a:t>
            </a:r>
            <a:r>
              <a:rPr sz="2200" b="1" spc="-75" dirty="0">
                <a:latin typeface="Times New Roman"/>
                <a:cs typeface="Times New Roman"/>
              </a:rPr>
              <a:t> </a:t>
            </a:r>
            <a:r>
              <a:rPr sz="2200" b="1" dirty="0">
                <a:latin typeface="Times New Roman"/>
                <a:cs typeface="Times New Roman"/>
              </a:rPr>
              <a:t>→</a:t>
            </a:r>
            <a:r>
              <a:rPr sz="2200" b="1" spc="-10" dirty="0">
                <a:latin typeface="Times New Roman"/>
                <a:cs typeface="Times New Roman"/>
              </a:rPr>
              <a:t> </a:t>
            </a:r>
            <a:r>
              <a:rPr sz="2200" dirty="0">
                <a:latin typeface="Times New Roman"/>
                <a:cs typeface="Times New Roman"/>
              </a:rPr>
              <a:t>Text cleaning</a:t>
            </a:r>
            <a:r>
              <a:rPr sz="2200" spc="-55" dirty="0">
                <a:latin typeface="Times New Roman"/>
                <a:cs typeface="Times New Roman"/>
              </a:rPr>
              <a:t> </a:t>
            </a:r>
            <a:r>
              <a:rPr sz="2200" dirty="0">
                <a:latin typeface="Times New Roman"/>
                <a:cs typeface="Times New Roman"/>
              </a:rPr>
              <a:t>&amp;</a:t>
            </a:r>
            <a:r>
              <a:rPr sz="2200" spc="-5" dirty="0">
                <a:latin typeface="Times New Roman"/>
                <a:cs typeface="Times New Roman"/>
              </a:rPr>
              <a:t> </a:t>
            </a:r>
            <a:r>
              <a:rPr sz="2200" spc="-10" dirty="0">
                <a:latin typeface="Times New Roman"/>
                <a:cs typeface="Times New Roman"/>
              </a:rPr>
              <a:t>normalization </a:t>
            </a:r>
            <a:r>
              <a:rPr sz="2200" b="1" dirty="0">
                <a:latin typeface="Times New Roman"/>
                <a:cs typeface="Times New Roman"/>
              </a:rPr>
              <a:t>Overfitting</a:t>
            </a:r>
            <a:r>
              <a:rPr sz="2200" b="1" spc="-85" dirty="0">
                <a:latin typeface="Times New Roman"/>
                <a:cs typeface="Times New Roman"/>
              </a:rPr>
              <a:t> </a:t>
            </a:r>
            <a:r>
              <a:rPr sz="2200" b="1" dirty="0">
                <a:latin typeface="Times New Roman"/>
                <a:cs typeface="Times New Roman"/>
              </a:rPr>
              <a:t>→</a:t>
            </a:r>
            <a:r>
              <a:rPr sz="2200" b="1" spc="5" dirty="0">
                <a:latin typeface="Times New Roman"/>
                <a:cs typeface="Times New Roman"/>
              </a:rPr>
              <a:t> </a:t>
            </a:r>
            <a:r>
              <a:rPr sz="2200" dirty="0">
                <a:latin typeface="Times New Roman"/>
                <a:cs typeface="Times New Roman"/>
              </a:rPr>
              <a:t>Early</a:t>
            </a:r>
            <a:r>
              <a:rPr sz="2200" spc="-10" dirty="0">
                <a:latin typeface="Times New Roman"/>
                <a:cs typeface="Times New Roman"/>
              </a:rPr>
              <a:t> </a:t>
            </a:r>
            <a:r>
              <a:rPr sz="2200" dirty="0">
                <a:latin typeface="Times New Roman"/>
                <a:cs typeface="Times New Roman"/>
              </a:rPr>
              <a:t>stopping</a:t>
            </a:r>
            <a:r>
              <a:rPr sz="2200" spc="-60" dirty="0">
                <a:latin typeface="Times New Roman"/>
                <a:cs typeface="Times New Roman"/>
              </a:rPr>
              <a:t> </a:t>
            </a:r>
            <a:r>
              <a:rPr sz="2200" dirty="0">
                <a:latin typeface="Times New Roman"/>
                <a:cs typeface="Times New Roman"/>
              </a:rPr>
              <a:t>&amp;</a:t>
            </a:r>
            <a:r>
              <a:rPr sz="2200" spc="20" dirty="0">
                <a:latin typeface="Times New Roman"/>
                <a:cs typeface="Times New Roman"/>
              </a:rPr>
              <a:t> </a:t>
            </a:r>
            <a:r>
              <a:rPr sz="2200" spc="-10" dirty="0">
                <a:latin typeface="Times New Roman"/>
                <a:cs typeface="Times New Roman"/>
              </a:rPr>
              <a:t>dropout</a:t>
            </a:r>
            <a:endParaRPr sz="2200">
              <a:latin typeface="Times New Roman"/>
              <a:cs typeface="Times New Roman"/>
            </a:endParaRPr>
          </a:p>
          <a:p>
            <a:pPr marL="12700">
              <a:lnSpc>
                <a:spcPct val="100000"/>
              </a:lnSpc>
              <a:spcBef>
                <a:spcPts val="5"/>
              </a:spcBef>
            </a:pPr>
            <a:r>
              <a:rPr sz="2200" b="1" dirty="0">
                <a:latin typeface="Times New Roman"/>
                <a:cs typeface="Times New Roman"/>
              </a:rPr>
              <a:t>Slow</a:t>
            </a:r>
            <a:r>
              <a:rPr sz="2200" b="1" spc="-30" dirty="0">
                <a:latin typeface="Times New Roman"/>
                <a:cs typeface="Times New Roman"/>
              </a:rPr>
              <a:t> </a:t>
            </a:r>
            <a:r>
              <a:rPr sz="2200" b="1" dirty="0">
                <a:latin typeface="Times New Roman"/>
                <a:cs typeface="Times New Roman"/>
              </a:rPr>
              <a:t>training</a:t>
            </a:r>
            <a:r>
              <a:rPr sz="2200" b="1" spc="-15" dirty="0">
                <a:latin typeface="Times New Roman"/>
                <a:cs typeface="Times New Roman"/>
              </a:rPr>
              <a:t> </a:t>
            </a:r>
            <a:r>
              <a:rPr sz="2200" b="1" dirty="0">
                <a:latin typeface="Times New Roman"/>
                <a:cs typeface="Times New Roman"/>
              </a:rPr>
              <a:t>→</a:t>
            </a:r>
            <a:r>
              <a:rPr sz="2200" b="1" spc="-30" dirty="0">
                <a:latin typeface="Times New Roman"/>
                <a:cs typeface="Times New Roman"/>
              </a:rPr>
              <a:t> </a:t>
            </a:r>
            <a:r>
              <a:rPr sz="2200" dirty="0">
                <a:latin typeface="Times New Roman"/>
                <a:cs typeface="Times New Roman"/>
              </a:rPr>
              <a:t>GPU</a:t>
            </a:r>
            <a:r>
              <a:rPr sz="2200" spc="-15" dirty="0">
                <a:latin typeface="Times New Roman"/>
                <a:cs typeface="Times New Roman"/>
              </a:rPr>
              <a:t> </a:t>
            </a:r>
            <a:r>
              <a:rPr sz="2200" spc="-10" dirty="0">
                <a:latin typeface="Times New Roman"/>
                <a:cs typeface="Times New Roman"/>
              </a:rPr>
              <a:t>acceleration</a:t>
            </a:r>
            <a:endParaRPr sz="2200">
              <a:latin typeface="Times New Roman"/>
              <a:cs typeface="Times New Roman"/>
            </a:endParaRPr>
          </a:p>
        </p:txBody>
      </p:sp>
      <p:grpSp>
        <p:nvGrpSpPr>
          <p:cNvPr id="5" name="object 5"/>
          <p:cNvGrpSpPr/>
          <p:nvPr/>
        </p:nvGrpSpPr>
        <p:grpSpPr>
          <a:xfrm>
            <a:off x="1523" y="1139952"/>
            <a:ext cx="12192635" cy="4805680"/>
            <a:chOff x="1523" y="1139952"/>
            <a:chExt cx="12192635" cy="4805680"/>
          </a:xfrm>
        </p:grpSpPr>
        <p:sp>
          <p:nvSpPr>
            <p:cNvPr id="6" name="object 6"/>
            <p:cNvSpPr/>
            <p:nvPr/>
          </p:nvSpPr>
          <p:spPr>
            <a:xfrm>
              <a:off x="1523" y="1144524"/>
              <a:ext cx="12192000" cy="0"/>
            </a:xfrm>
            <a:custGeom>
              <a:avLst/>
              <a:gdLst/>
              <a:ahLst/>
              <a:cxnLst/>
              <a:rect l="l" t="t" r="r" b="b"/>
              <a:pathLst>
                <a:path w="12192000">
                  <a:moveTo>
                    <a:pt x="0" y="0"/>
                  </a:moveTo>
                  <a:lnTo>
                    <a:pt x="12192000" y="0"/>
                  </a:lnTo>
                </a:path>
              </a:pathLst>
            </a:custGeom>
            <a:ln w="9144">
              <a:solidFill>
                <a:srgbClr val="000000"/>
              </a:solidFill>
            </a:ln>
          </p:spPr>
          <p:txBody>
            <a:bodyPr wrap="square" lIns="0" tIns="0" rIns="0" bIns="0" rtlCol="0"/>
            <a:lstStyle/>
            <a:p>
              <a:endParaRPr/>
            </a:p>
          </p:txBody>
        </p:sp>
        <p:sp>
          <p:nvSpPr>
            <p:cNvPr id="7" name="object 7"/>
            <p:cNvSpPr/>
            <p:nvPr/>
          </p:nvSpPr>
          <p:spPr>
            <a:xfrm>
              <a:off x="1523" y="5788152"/>
              <a:ext cx="12190730" cy="9525"/>
            </a:xfrm>
            <a:custGeom>
              <a:avLst/>
              <a:gdLst/>
              <a:ahLst/>
              <a:cxnLst/>
              <a:rect l="l" t="t" r="r" b="b"/>
              <a:pathLst>
                <a:path w="12190730" h="9525">
                  <a:moveTo>
                    <a:pt x="12190476" y="0"/>
                  </a:moveTo>
                  <a:lnTo>
                    <a:pt x="0" y="0"/>
                  </a:lnTo>
                  <a:lnTo>
                    <a:pt x="0" y="9144"/>
                  </a:lnTo>
                  <a:lnTo>
                    <a:pt x="12190476" y="9144"/>
                  </a:lnTo>
                  <a:lnTo>
                    <a:pt x="12190476" y="0"/>
                  </a:lnTo>
                  <a:close/>
                </a:path>
              </a:pathLst>
            </a:custGeom>
            <a:solidFill>
              <a:srgbClr val="000000"/>
            </a:solidFill>
          </p:spPr>
          <p:txBody>
            <a:bodyPr wrap="square" lIns="0" tIns="0" rIns="0" bIns="0" rtlCol="0"/>
            <a:lstStyle/>
            <a:p>
              <a:endParaRPr/>
            </a:p>
          </p:txBody>
        </p:sp>
        <p:sp>
          <p:nvSpPr>
            <p:cNvPr id="8" name="object 8"/>
            <p:cNvSpPr/>
            <p:nvPr/>
          </p:nvSpPr>
          <p:spPr>
            <a:xfrm>
              <a:off x="5829300" y="1144524"/>
              <a:ext cx="0" cy="4800600"/>
            </a:xfrm>
            <a:custGeom>
              <a:avLst/>
              <a:gdLst/>
              <a:ahLst/>
              <a:cxnLst/>
              <a:rect l="l" t="t" r="r" b="b"/>
              <a:pathLst>
                <a:path h="4800600">
                  <a:moveTo>
                    <a:pt x="0" y="0"/>
                  </a:moveTo>
                  <a:lnTo>
                    <a:pt x="0" y="4800600"/>
                  </a:lnTo>
                </a:path>
              </a:pathLst>
            </a:custGeom>
            <a:ln w="9144">
              <a:solidFill>
                <a:srgbClr val="000000"/>
              </a:solidFill>
            </a:ln>
          </p:spPr>
          <p:txBody>
            <a:bodyPr wrap="square" lIns="0" tIns="0" rIns="0" bIns="0" rtlCol="0"/>
            <a:lstStyle/>
            <a:p>
              <a:endParaRPr/>
            </a:p>
          </p:txBody>
        </p:sp>
        <p:sp>
          <p:nvSpPr>
            <p:cNvPr id="9" name="object 9"/>
            <p:cNvSpPr/>
            <p:nvPr/>
          </p:nvSpPr>
          <p:spPr>
            <a:xfrm>
              <a:off x="1523" y="2744724"/>
              <a:ext cx="12192635" cy="990600"/>
            </a:xfrm>
            <a:custGeom>
              <a:avLst/>
              <a:gdLst/>
              <a:ahLst/>
              <a:cxnLst/>
              <a:rect l="l" t="t" r="r" b="b"/>
              <a:pathLst>
                <a:path w="12192635" h="990600">
                  <a:moveTo>
                    <a:pt x="0" y="990600"/>
                  </a:moveTo>
                  <a:lnTo>
                    <a:pt x="5827395" y="990600"/>
                  </a:lnTo>
                </a:path>
                <a:path w="12192635" h="990600">
                  <a:moveTo>
                    <a:pt x="5827776" y="0"/>
                  </a:moveTo>
                  <a:lnTo>
                    <a:pt x="12192381" y="0"/>
                  </a:lnTo>
                </a:path>
              </a:pathLst>
            </a:custGeom>
            <a:ln w="9144">
              <a:solidFill>
                <a:srgbClr val="497DBA"/>
              </a:solidFill>
            </a:ln>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12" name="object 12"/>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884680">
              <a:lnSpc>
                <a:spcPct val="100000"/>
              </a:lnSpc>
              <a:spcBef>
                <a:spcPts val="95"/>
              </a:spcBef>
            </a:pPr>
            <a:r>
              <a:rPr spc="-35" dirty="0"/>
              <a:t>R</a:t>
            </a:r>
            <a:r>
              <a:rPr spc="45" dirty="0"/>
              <a:t>E</a:t>
            </a:r>
            <a:r>
              <a:rPr spc="-45" dirty="0"/>
              <a:t>S</a:t>
            </a:r>
            <a:r>
              <a:rPr spc="20" dirty="0"/>
              <a:t>U</a:t>
            </a:r>
            <a:r>
              <a:rPr spc="-484" dirty="0"/>
              <a:t>L</a:t>
            </a:r>
            <a:r>
              <a:rPr spc="-30" dirty="0"/>
              <a:t>T</a:t>
            </a:r>
            <a:r>
              <a:rPr spc="-20" dirty="0"/>
              <a:t>S</a:t>
            </a:r>
            <a:r>
              <a:rPr spc="-145" dirty="0"/>
              <a:t> </a:t>
            </a:r>
            <a:r>
              <a:rPr spc="-45" dirty="0"/>
              <a:t>&amp;</a:t>
            </a:r>
            <a:r>
              <a:rPr spc="-300" dirty="0"/>
              <a:t> </a:t>
            </a:r>
            <a:r>
              <a:rPr spc="-10" dirty="0"/>
              <a:t>ANALYSIS</a:t>
            </a:r>
          </a:p>
        </p:txBody>
      </p:sp>
      <p:pic>
        <p:nvPicPr>
          <p:cNvPr id="3" name="object 3"/>
          <p:cNvPicPr/>
          <p:nvPr/>
        </p:nvPicPr>
        <p:blipFill>
          <a:blip r:embed="rId2" cstate="print"/>
          <a:stretch>
            <a:fillRect/>
          </a:stretch>
        </p:blipFill>
        <p:spPr>
          <a:xfrm>
            <a:off x="402336" y="1438723"/>
            <a:ext cx="5029200" cy="3980554"/>
          </a:xfrm>
          <a:prstGeom prst="rect">
            <a:avLst/>
          </a:prstGeom>
        </p:spPr>
      </p:pic>
      <p:sp>
        <p:nvSpPr>
          <p:cNvPr id="4" name="object 4"/>
          <p:cNvSpPr txBox="1"/>
          <p:nvPr/>
        </p:nvSpPr>
        <p:spPr>
          <a:xfrm>
            <a:off x="5719064" y="1508251"/>
            <a:ext cx="5937885" cy="4598670"/>
          </a:xfrm>
          <a:prstGeom prst="rect">
            <a:avLst/>
          </a:prstGeom>
        </p:spPr>
        <p:txBody>
          <a:bodyPr vert="horz" wrap="square" lIns="0" tIns="11430" rIns="0" bIns="0" rtlCol="0">
            <a:spAutoFit/>
          </a:bodyPr>
          <a:lstStyle/>
          <a:p>
            <a:pPr marL="264795" indent="-252095">
              <a:lnSpc>
                <a:spcPct val="100000"/>
              </a:lnSpc>
              <a:spcBef>
                <a:spcPts val="90"/>
              </a:spcBef>
              <a:buAutoNum type="arabicPeriod" startAt="2"/>
              <a:tabLst>
                <a:tab pos="264795" algn="l"/>
              </a:tabLst>
            </a:pPr>
            <a:r>
              <a:rPr sz="2000" b="1" dirty="0">
                <a:latin typeface="Times New Roman"/>
                <a:cs typeface="Times New Roman"/>
              </a:rPr>
              <a:t>Training</a:t>
            </a:r>
            <a:r>
              <a:rPr sz="2000" b="1" spc="-25" dirty="0">
                <a:latin typeface="Times New Roman"/>
                <a:cs typeface="Times New Roman"/>
              </a:rPr>
              <a:t> </a:t>
            </a:r>
            <a:r>
              <a:rPr sz="2000" b="1" spc="-10" dirty="0">
                <a:latin typeface="Times New Roman"/>
                <a:cs typeface="Times New Roman"/>
              </a:rPr>
              <a:t>Progress</a:t>
            </a:r>
            <a:endParaRPr sz="2000">
              <a:latin typeface="Times New Roman"/>
              <a:cs typeface="Times New Roman"/>
            </a:endParaRPr>
          </a:p>
          <a:p>
            <a:pPr marL="100330" lvl="1" indent="-96520">
              <a:lnSpc>
                <a:spcPct val="100000"/>
              </a:lnSpc>
              <a:buSzPct val="95000"/>
              <a:buFont typeface="Arial MT"/>
              <a:buChar char="•"/>
              <a:tabLst>
                <a:tab pos="100330" algn="l"/>
              </a:tabLst>
            </a:pPr>
            <a:r>
              <a:rPr sz="2000" dirty="0">
                <a:latin typeface="Times New Roman"/>
                <a:cs typeface="Times New Roman"/>
              </a:rPr>
              <a:t>The</a:t>
            </a:r>
            <a:r>
              <a:rPr sz="2000" spc="310" dirty="0">
                <a:latin typeface="Times New Roman"/>
                <a:cs typeface="Times New Roman"/>
              </a:rPr>
              <a:t> </a:t>
            </a:r>
            <a:r>
              <a:rPr sz="2000" b="1" dirty="0">
                <a:latin typeface="Times New Roman"/>
                <a:cs typeface="Times New Roman"/>
              </a:rPr>
              <a:t>training</a:t>
            </a:r>
            <a:r>
              <a:rPr sz="2000" b="1" spc="325" dirty="0">
                <a:latin typeface="Times New Roman"/>
                <a:cs typeface="Times New Roman"/>
              </a:rPr>
              <a:t> </a:t>
            </a:r>
            <a:r>
              <a:rPr sz="2000" b="1" dirty="0">
                <a:latin typeface="Times New Roman"/>
                <a:cs typeface="Times New Roman"/>
              </a:rPr>
              <a:t>and</a:t>
            </a:r>
            <a:r>
              <a:rPr sz="2000" b="1" spc="300" dirty="0">
                <a:latin typeface="Times New Roman"/>
                <a:cs typeface="Times New Roman"/>
              </a:rPr>
              <a:t> </a:t>
            </a:r>
            <a:r>
              <a:rPr sz="2000" b="1" dirty="0">
                <a:latin typeface="Times New Roman"/>
                <a:cs typeface="Times New Roman"/>
              </a:rPr>
              <a:t>validation</a:t>
            </a:r>
            <a:r>
              <a:rPr sz="2000" b="1" spc="295" dirty="0">
                <a:latin typeface="Times New Roman"/>
                <a:cs typeface="Times New Roman"/>
              </a:rPr>
              <a:t> </a:t>
            </a:r>
            <a:r>
              <a:rPr sz="2000" b="1" dirty="0">
                <a:latin typeface="Times New Roman"/>
                <a:cs typeface="Times New Roman"/>
              </a:rPr>
              <a:t>curves</a:t>
            </a:r>
            <a:r>
              <a:rPr sz="2000" b="1" spc="300" dirty="0">
                <a:latin typeface="Times New Roman"/>
                <a:cs typeface="Times New Roman"/>
              </a:rPr>
              <a:t> </a:t>
            </a:r>
            <a:r>
              <a:rPr sz="2000" dirty="0">
                <a:latin typeface="Times New Roman"/>
                <a:cs typeface="Times New Roman"/>
              </a:rPr>
              <a:t>show</a:t>
            </a:r>
            <a:r>
              <a:rPr sz="2000" spc="310" dirty="0">
                <a:latin typeface="Times New Roman"/>
                <a:cs typeface="Times New Roman"/>
              </a:rPr>
              <a:t> </a:t>
            </a:r>
            <a:r>
              <a:rPr sz="2000" dirty="0">
                <a:latin typeface="Times New Roman"/>
                <a:cs typeface="Times New Roman"/>
              </a:rPr>
              <a:t>how</a:t>
            </a:r>
            <a:r>
              <a:rPr sz="2000" spc="305" dirty="0">
                <a:latin typeface="Times New Roman"/>
                <a:cs typeface="Times New Roman"/>
              </a:rPr>
              <a:t> </a:t>
            </a:r>
            <a:r>
              <a:rPr sz="2000" spc="-10" dirty="0">
                <a:latin typeface="Times New Roman"/>
                <a:cs typeface="Times New Roman"/>
              </a:rPr>
              <a:t>model</a:t>
            </a:r>
            <a:endParaRPr sz="2000">
              <a:latin typeface="Times New Roman"/>
              <a:cs typeface="Times New Roman"/>
            </a:endParaRPr>
          </a:p>
          <a:p>
            <a:pPr marL="12700">
              <a:lnSpc>
                <a:spcPct val="100000"/>
              </a:lnSpc>
              <a:spcBef>
                <a:spcPts val="5"/>
              </a:spcBef>
            </a:pPr>
            <a:r>
              <a:rPr sz="2000" dirty="0">
                <a:latin typeface="Times New Roman"/>
                <a:cs typeface="Times New Roman"/>
              </a:rPr>
              <a:t>performance</a:t>
            </a:r>
            <a:r>
              <a:rPr sz="2000" spc="-40" dirty="0">
                <a:latin typeface="Times New Roman"/>
                <a:cs typeface="Times New Roman"/>
              </a:rPr>
              <a:t> </a:t>
            </a:r>
            <a:r>
              <a:rPr sz="2000" dirty="0">
                <a:latin typeface="Times New Roman"/>
                <a:cs typeface="Times New Roman"/>
              </a:rPr>
              <a:t>improved</a:t>
            </a:r>
            <a:r>
              <a:rPr sz="2000" spc="-35" dirty="0">
                <a:latin typeface="Times New Roman"/>
                <a:cs typeface="Times New Roman"/>
              </a:rPr>
              <a:t> </a:t>
            </a:r>
            <a:r>
              <a:rPr sz="2000" dirty="0">
                <a:latin typeface="Times New Roman"/>
                <a:cs typeface="Times New Roman"/>
              </a:rPr>
              <a:t>over</a:t>
            </a:r>
            <a:r>
              <a:rPr sz="2000" spc="-85" dirty="0">
                <a:latin typeface="Times New Roman"/>
                <a:cs typeface="Times New Roman"/>
              </a:rPr>
              <a:t> </a:t>
            </a:r>
            <a:r>
              <a:rPr sz="2000" spc="-10" dirty="0">
                <a:latin typeface="Times New Roman"/>
                <a:cs typeface="Times New Roman"/>
              </a:rPr>
              <a:t>epochs.</a:t>
            </a:r>
            <a:endParaRPr sz="2000">
              <a:latin typeface="Times New Roman"/>
              <a:cs typeface="Times New Roman"/>
            </a:endParaRPr>
          </a:p>
          <a:p>
            <a:pPr marL="100330" lvl="1" indent="-97155">
              <a:lnSpc>
                <a:spcPct val="100000"/>
              </a:lnSpc>
              <a:buSzPct val="95000"/>
              <a:buFont typeface="Arial MT"/>
              <a:buChar char="•"/>
              <a:tabLst>
                <a:tab pos="100330" algn="l"/>
              </a:tabLst>
            </a:pPr>
            <a:r>
              <a:rPr sz="2000" b="1" dirty="0">
                <a:latin typeface="Times New Roman"/>
                <a:cs typeface="Times New Roman"/>
              </a:rPr>
              <a:t>Loss</a:t>
            </a:r>
            <a:r>
              <a:rPr sz="2000" b="1" spc="-30" dirty="0">
                <a:latin typeface="Times New Roman"/>
                <a:cs typeface="Times New Roman"/>
              </a:rPr>
              <a:t> </a:t>
            </a:r>
            <a:r>
              <a:rPr sz="2000" b="1" dirty="0">
                <a:latin typeface="Times New Roman"/>
                <a:cs typeface="Times New Roman"/>
              </a:rPr>
              <a:t>Curve:</a:t>
            </a:r>
            <a:r>
              <a:rPr sz="2000" b="1" spc="-35" dirty="0">
                <a:latin typeface="Times New Roman"/>
                <a:cs typeface="Times New Roman"/>
              </a:rPr>
              <a:t> </a:t>
            </a:r>
            <a:r>
              <a:rPr sz="2000" dirty="0">
                <a:latin typeface="Times New Roman"/>
                <a:cs typeface="Times New Roman"/>
              </a:rPr>
              <a:t>Gradual</a:t>
            </a:r>
            <a:r>
              <a:rPr sz="2000" spc="-35" dirty="0">
                <a:latin typeface="Times New Roman"/>
                <a:cs typeface="Times New Roman"/>
              </a:rPr>
              <a:t> </a:t>
            </a:r>
            <a:r>
              <a:rPr sz="2000" dirty="0">
                <a:latin typeface="Times New Roman"/>
                <a:cs typeface="Times New Roman"/>
              </a:rPr>
              <a:t>decrease</a:t>
            </a:r>
            <a:r>
              <a:rPr sz="2000" spc="-5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effective</a:t>
            </a:r>
            <a:r>
              <a:rPr sz="2000" spc="5" dirty="0">
                <a:latin typeface="Times New Roman"/>
                <a:cs typeface="Times New Roman"/>
              </a:rPr>
              <a:t> </a:t>
            </a:r>
            <a:r>
              <a:rPr sz="2000" spc="-10" dirty="0">
                <a:latin typeface="Times New Roman"/>
                <a:cs typeface="Times New Roman"/>
              </a:rPr>
              <a:t>learning.</a:t>
            </a:r>
            <a:endParaRPr sz="2000">
              <a:latin typeface="Times New Roman"/>
              <a:cs typeface="Times New Roman"/>
            </a:endParaRPr>
          </a:p>
          <a:p>
            <a:pPr marL="12700" marR="7620" lvl="1" indent="-9525">
              <a:lnSpc>
                <a:spcPct val="100000"/>
              </a:lnSpc>
              <a:buSzPct val="95000"/>
              <a:buFont typeface="Arial MT"/>
              <a:buChar char="•"/>
              <a:tabLst>
                <a:tab pos="100330" algn="l"/>
                <a:tab pos="1311275" algn="l"/>
                <a:tab pos="2308225" algn="l"/>
                <a:tab pos="3512185" algn="l"/>
                <a:tab pos="4530090" algn="l"/>
                <a:tab pos="5018405" algn="l"/>
              </a:tabLst>
            </a:pPr>
            <a:r>
              <a:rPr sz="2000" b="1" spc="-10" dirty="0">
                <a:latin typeface="Times New Roman"/>
                <a:cs typeface="Times New Roman"/>
              </a:rPr>
              <a:t>	F1-Score</a:t>
            </a:r>
            <a:r>
              <a:rPr sz="2000" b="1" dirty="0">
                <a:latin typeface="Times New Roman"/>
                <a:cs typeface="Times New Roman"/>
              </a:rPr>
              <a:t>	</a:t>
            </a:r>
            <a:r>
              <a:rPr sz="2000" b="1" spc="-10" dirty="0">
                <a:latin typeface="Times New Roman"/>
                <a:cs typeface="Times New Roman"/>
              </a:rPr>
              <a:t>Curve:</a:t>
            </a:r>
            <a:r>
              <a:rPr sz="2000" b="1" dirty="0">
                <a:latin typeface="Times New Roman"/>
                <a:cs typeface="Times New Roman"/>
              </a:rPr>
              <a:t>	</a:t>
            </a:r>
            <a:r>
              <a:rPr sz="2000" spc="-10" dirty="0">
                <a:latin typeface="Times New Roman"/>
                <a:cs typeface="Times New Roman"/>
              </a:rPr>
              <a:t>Increased</a:t>
            </a:r>
            <a:r>
              <a:rPr sz="2000" dirty="0">
                <a:latin typeface="Times New Roman"/>
                <a:cs typeface="Times New Roman"/>
              </a:rPr>
              <a:t>	</a:t>
            </a:r>
            <a:r>
              <a:rPr sz="2000" spc="-10" dirty="0">
                <a:latin typeface="Times New Roman"/>
                <a:cs typeface="Times New Roman"/>
              </a:rPr>
              <a:t>steadily</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a:t>
            </a:r>
            <a:r>
              <a:rPr sz="2000" spc="-10" dirty="0">
                <a:latin typeface="Times New Roman"/>
                <a:cs typeface="Times New Roman"/>
              </a:rPr>
              <a:t>balanced accuracy.</a:t>
            </a:r>
            <a:endParaRPr sz="2000">
              <a:latin typeface="Times New Roman"/>
              <a:cs typeface="Times New Roman"/>
            </a:endParaRPr>
          </a:p>
          <a:p>
            <a:pPr marL="100330" lvl="1" indent="-96520">
              <a:lnSpc>
                <a:spcPct val="100000"/>
              </a:lnSpc>
              <a:buSzPct val="95000"/>
              <a:buFont typeface="Arial MT"/>
              <a:buChar char="•"/>
              <a:tabLst>
                <a:tab pos="100330" algn="l"/>
                <a:tab pos="838200" algn="l"/>
                <a:tab pos="1905635" algn="l"/>
                <a:tab pos="2847340" algn="l"/>
                <a:tab pos="3234690" algn="l"/>
                <a:tab pos="4185920" algn="l"/>
                <a:tab pos="5445125" algn="l"/>
              </a:tabLst>
            </a:pPr>
            <a:r>
              <a:rPr sz="2000" spc="-10" dirty="0">
                <a:latin typeface="Times New Roman"/>
                <a:cs typeface="Times New Roman"/>
              </a:rPr>
              <a:t>Early</a:t>
            </a:r>
            <a:r>
              <a:rPr sz="2000" dirty="0">
                <a:latin typeface="Times New Roman"/>
                <a:cs typeface="Times New Roman"/>
              </a:rPr>
              <a:t>	</a:t>
            </a:r>
            <a:r>
              <a:rPr sz="2000" spc="-10" dirty="0">
                <a:latin typeface="Times New Roman"/>
                <a:cs typeface="Times New Roman"/>
              </a:rPr>
              <a:t>stopping</a:t>
            </a:r>
            <a:r>
              <a:rPr sz="2000" dirty="0">
                <a:latin typeface="Times New Roman"/>
                <a:cs typeface="Times New Roman"/>
              </a:rPr>
              <a:t>	</a:t>
            </a:r>
            <a:r>
              <a:rPr sz="2000" spc="-10" dirty="0">
                <a:latin typeface="Times New Roman"/>
                <a:cs typeface="Times New Roman"/>
              </a:rPr>
              <a:t>applied</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prevent</a:t>
            </a:r>
            <a:r>
              <a:rPr sz="2000" dirty="0">
                <a:latin typeface="Times New Roman"/>
                <a:cs typeface="Times New Roman"/>
              </a:rPr>
              <a:t>	</a:t>
            </a:r>
            <a:r>
              <a:rPr sz="2000" spc="-10" dirty="0">
                <a:latin typeface="Times New Roman"/>
                <a:cs typeface="Times New Roman"/>
              </a:rPr>
              <a:t>overfitting</a:t>
            </a:r>
            <a:r>
              <a:rPr sz="2000" dirty="0">
                <a:latin typeface="Times New Roman"/>
                <a:cs typeface="Times New Roman"/>
              </a:rPr>
              <a:t>	</a:t>
            </a:r>
            <a:r>
              <a:rPr sz="2000" spc="-20" dirty="0">
                <a:latin typeface="Times New Roman"/>
                <a:cs typeface="Times New Roman"/>
              </a:rPr>
              <a:t>once</a:t>
            </a:r>
            <a:endParaRPr sz="2000">
              <a:latin typeface="Times New Roman"/>
              <a:cs typeface="Times New Roman"/>
            </a:endParaRPr>
          </a:p>
          <a:p>
            <a:pPr marL="12700">
              <a:lnSpc>
                <a:spcPct val="100000"/>
              </a:lnSpc>
              <a:spcBef>
                <a:spcPts val="5"/>
              </a:spcBef>
            </a:pPr>
            <a:r>
              <a:rPr sz="2000" dirty="0">
                <a:latin typeface="Times New Roman"/>
                <a:cs typeface="Times New Roman"/>
              </a:rPr>
              <a:t>validation</a:t>
            </a:r>
            <a:r>
              <a:rPr sz="2000" spc="-50" dirty="0">
                <a:latin typeface="Times New Roman"/>
                <a:cs typeface="Times New Roman"/>
              </a:rPr>
              <a:t> </a:t>
            </a:r>
            <a:r>
              <a:rPr sz="2000" dirty="0">
                <a:latin typeface="Times New Roman"/>
                <a:cs typeface="Times New Roman"/>
              </a:rPr>
              <a:t>loss</a:t>
            </a:r>
            <a:r>
              <a:rPr sz="2000" spc="-55" dirty="0">
                <a:latin typeface="Times New Roman"/>
                <a:cs typeface="Times New Roman"/>
              </a:rPr>
              <a:t> </a:t>
            </a:r>
            <a:r>
              <a:rPr sz="2000" spc="-10" dirty="0">
                <a:latin typeface="Times New Roman"/>
                <a:cs typeface="Times New Roman"/>
              </a:rPr>
              <a:t>plateaued.</a:t>
            </a:r>
            <a:endParaRPr sz="2000">
              <a:latin typeface="Times New Roman"/>
              <a:cs typeface="Times New Roman"/>
            </a:endParaRPr>
          </a:p>
          <a:p>
            <a:pPr marL="100330" lvl="1" indent="-96520">
              <a:lnSpc>
                <a:spcPct val="100000"/>
              </a:lnSpc>
              <a:buSzPct val="95000"/>
              <a:buFont typeface="Arial MT"/>
              <a:buChar char="•"/>
              <a:tabLst>
                <a:tab pos="100330" algn="l"/>
                <a:tab pos="753110" algn="l"/>
                <a:tab pos="1155700" algn="l"/>
                <a:tab pos="1826260" algn="l"/>
                <a:tab pos="2860040" algn="l"/>
                <a:tab pos="3695065" algn="l"/>
                <a:tab pos="4469130" algn="l"/>
                <a:tab pos="5469255" algn="l"/>
              </a:tabLst>
            </a:pPr>
            <a:r>
              <a:rPr sz="2000" spc="-10" dirty="0">
                <a:latin typeface="Times New Roman"/>
                <a:cs typeface="Times New Roman"/>
              </a:rPr>
              <a:t>Final</a:t>
            </a:r>
            <a:r>
              <a:rPr sz="2000" dirty="0">
                <a:latin typeface="Times New Roman"/>
                <a:cs typeface="Times New Roman"/>
              </a:rPr>
              <a:t>	</a:t>
            </a:r>
            <a:r>
              <a:rPr sz="2000" spc="-25" dirty="0">
                <a:latin typeface="Times New Roman"/>
                <a:cs typeface="Times New Roman"/>
              </a:rPr>
              <a:t>F1</a:t>
            </a:r>
            <a:r>
              <a:rPr sz="2000" dirty="0">
                <a:latin typeface="Times New Roman"/>
                <a:cs typeface="Times New Roman"/>
              </a:rPr>
              <a:t>	</a:t>
            </a:r>
            <a:r>
              <a:rPr sz="2000" spc="-20" dirty="0">
                <a:latin typeface="Times New Roman"/>
                <a:cs typeface="Times New Roman"/>
              </a:rPr>
              <a:t>score</a:t>
            </a:r>
            <a:r>
              <a:rPr sz="2000" dirty="0">
                <a:latin typeface="Times New Roman"/>
                <a:cs typeface="Times New Roman"/>
              </a:rPr>
              <a:t>	</a:t>
            </a:r>
            <a:r>
              <a:rPr sz="2000" spc="-10" dirty="0">
                <a:latin typeface="Times New Roman"/>
                <a:cs typeface="Times New Roman"/>
              </a:rPr>
              <a:t>achieved</a:t>
            </a:r>
            <a:r>
              <a:rPr sz="2000" dirty="0">
                <a:latin typeface="Times New Roman"/>
                <a:cs typeface="Times New Roman"/>
              </a:rPr>
              <a:t>	</a:t>
            </a:r>
            <a:r>
              <a:rPr sz="2000" spc="-10" dirty="0">
                <a:latin typeface="Times New Roman"/>
                <a:cs typeface="Times New Roman"/>
              </a:rPr>
              <a:t>around</a:t>
            </a:r>
            <a:r>
              <a:rPr sz="2000" dirty="0">
                <a:latin typeface="Times New Roman"/>
                <a:cs typeface="Times New Roman"/>
              </a:rPr>
              <a:t>	</a:t>
            </a:r>
            <a:r>
              <a:rPr sz="2000" b="1" spc="-10" dirty="0">
                <a:latin typeface="Times New Roman"/>
                <a:cs typeface="Times New Roman"/>
              </a:rPr>
              <a:t>0.935</a:t>
            </a:r>
            <a:r>
              <a:rPr sz="2000" spc="-10" dirty="0">
                <a:latin typeface="Times New Roman"/>
                <a:cs typeface="Times New Roman"/>
              </a:rPr>
              <a:t>,</a:t>
            </a:r>
            <a:r>
              <a:rPr sz="2000" dirty="0">
                <a:latin typeface="Times New Roman"/>
                <a:cs typeface="Times New Roman"/>
              </a:rPr>
              <a:t>	</a:t>
            </a:r>
            <a:r>
              <a:rPr sz="2000" spc="-10" dirty="0">
                <a:latin typeface="Times New Roman"/>
                <a:cs typeface="Times New Roman"/>
              </a:rPr>
              <a:t>ensuring</a:t>
            </a:r>
            <a:r>
              <a:rPr sz="2000" dirty="0">
                <a:latin typeface="Times New Roman"/>
                <a:cs typeface="Times New Roman"/>
              </a:rPr>
              <a:t>	</a:t>
            </a:r>
            <a:r>
              <a:rPr sz="2000" spc="-20" dirty="0">
                <a:latin typeface="Times New Roman"/>
                <a:cs typeface="Times New Roman"/>
              </a:rPr>
              <a:t>both</a:t>
            </a:r>
            <a:endParaRPr sz="2000">
              <a:latin typeface="Times New Roman"/>
              <a:cs typeface="Times New Roman"/>
            </a:endParaRPr>
          </a:p>
          <a:p>
            <a:pPr marL="12700">
              <a:lnSpc>
                <a:spcPct val="100000"/>
              </a:lnSpc>
            </a:pPr>
            <a:r>
              <a:rPr sz="2000" dirty="0">
                <a:latin typeface="Times New Roman"/>
                <a:cs typeface="Times New Roman"/>
              </a:rPr>
              <a:t>precision</a:t>
            </a:r>
            <a:r>
              <a:rPr sz="2000" spc="-3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recall</a:t>
            </a:r>
            <a:r>
              <a:rPr sz="2000" spc="-35" dirty="0">
                <a:latin typeface="Times New Roman"/>
                <a:cs typeface="Times New Roman"/>
              </a:rPr>
              <a:t> </a:t>
            </a:r>
            <a:r>
              <a:rPr sz="2000" spc="-10" dirty="0">
                <a:latin typeface="Times New Roman"/>
                <a:cs typeface="Times New Roman"/>
              </a:rPr>
              <a:t>stability.</a:t>
            </a:r>
            <a:endParaRPr sz="2000">
              <a:latin typeface="Times New Roman"/>
              <a:cs typeface="Times New Roman"/>
            </a:endParaRPr>
          </a:p>
          <a:p>
            <a:pPr marL="12700">
              <a:lnSpc>
                <a:spcPts val="2390"/>
              </a:lnSpc>
              <a:spcBef>
                <a:spcPts val="25"/>
              </a:spcBef>
            </a:pPr>
            <a:r>
              <a:rPr sz="2000" dirty="0">
                <a:latin typeface="Segoe UI Symbol"/>
                <a:cs typeface="Segoe UI Symbol"/>
              </a:rPr>
              <a:t>📈</a:t>
            </a:r>
            <a:r>
              <a:rPr sz="2000" spc="-90" dirty="0">
                <a:latin typeface="Segoe UI Symbol"/>
                <a:cs typeface="Segoe UI Symbol"/>
              </a:rPr>
              <a:t> </a:t>
            </a:r>
            <a:r>
              <a:rPr sz="2000" b="1" i="1" dirty="0">
                <a:latin typeface="Times New Roman"/>
                <a:cs typeface="Times New Roman"/>
              </a:rPr>
              <a:t>Visual</a:t>
            </a:r>
            <a:r>
              <a:rPr sz="2000" b="1" i="1" spc="-10" dirty="0">
                <a:latin typeface="Times New Roman"/>
                <a:cs typeface="Times New Roman"/>
              </a:rPr>
              <a:t> Insight</a:t>
            </a:r>
            <a:r>
              <a:rPr sz="2000" i="1" spc="-10" dirty="0">
                <a:latin typeface="Times New Roman"/>
                <a:cs typeface="Times New Roman"/>
              </a:rPr>
              <a:t>:</a:t>
            </a:r>
            <a:endParaRPr sz="2000">
              <a:latin typeface="Times New Roman"/>
              <a:cs typeface="Times New Roman"/>
            </a:endParaRPr>
          </a:p>
          <a:p>
            <a:pPr marL="100330" lvl="1" indent="-97155">
              <a:lnSpc>
                <a:spcPts val="2390"/>
              </a:lnSpc>
              <a:buSzPct val="95000"/>
              <a:buFont typeface="Arial MT"/>
              <a:buChar char="•"/>
              <a:tabLst>
                <a:tab pos="100330" algn="l"/>
                <a:tab pos="1128395" algn="l"/>
                <a:tab pos="2649220" algn="l"/>
                <a:tab pos="3100705" algn="l"/>
                <a:tab pos="3737610" algn="l"/>
                <a:tab pos="4539615" algn="l"/>
                <a:tab pos="5414645" algn="l"/>
              </a:tabLst>
            </a:pPr>
            <a:r>
              <a:rPr sz="2000" spc="-10" dirty="0">
                <a:latin typeface="Times New Roman"/>
                <a:cs typeface="Times New Roman"/>
              </a:rPr>
              <a:t>Smooth</a:t>
            </a:r>
            <a:r>
              <a:rPr sz="2000" dirty="0">
                <a:latin typeface="Times New Roman"/>
                <a:cs typeface="Times New Roman"/>
              </a:rPr>
              <a:t>	</a:t>
            </a:r>
            <a:r>
              <a:rPr sz="2000" spc="-10" dirty="0">
                <a:latin typeface="Times New Roman"/>
                <a:cs typeface="Times New Roman"/>
              </a:rPr>
              <a:t>convergence</a:t>
            </a:r>
            <a:r>
              <a:rPr sz="2000" dirty="0">
                <a:latin typeface="Times New Roman"/>
                <a:cs typeface="Times New Roman"/>
              </a:rPr>
              <a:t>	</a:t>
            </a:r>
            <a:r>
              <a:rPr sz="2000" spc="-25" dirty="0">
                <a:latin typeface="Times New Roman"/>
                <a:cs typeface="Times New Roman"/>
              </a:rPr>
              <a:t>of</a:t>
            </a:r>
            <a:r>
              <a:rPr sz="2000" dirty="0">
                <a:latin typeface="Times New Roman"/>
                <a:cs typeface="Times New Roman"/>
              </a:rPr>
              <a:t>	</a:t>
            </a:r>
            <a:r>
              <a:rPr sz="2000" spc="-20" dirty="0">
                <a:latin typeface="Times New Roman"/>
                <a:cs typeface="Times New Roman"/>
              </a:rPr>
              <a:t>loss</a:t>
            </a:r>
            <a:r>
              <a:rPr sz="2000" dirty="0">
                <a:latin typeface="Times New Roman"/>
                <a:cs typeface="Times New Roman"/>
              </a:rPr>
              <a:t>	</a:t>
            </a:r>
            <a:r>
              <a:rPr sz="2000" spc="-10" dirty="0">
                <a:latin typeface="Times New Roman"/>
                <a:cs typeface="Times New Roman"/>
              </a:rPr>
              <a:t>curve</a:t>
            </a:r>
            <a:r>
              <a:rPr sz="2000" dirty="0">
                <a:latin typeface="Times New Roman"/>
                <a:cs typeface="Times New Roman"/>
              </a:rPr>
              <a:t>	</a:t>
            </a:r>
            <a:r>
              <a:rPr sz="2000" spc="-10" dirty="0">
                <a:latin typeface="Times New Roman"/>
                <a:cs typeface="Times New Roman"/>
              </a:rPr>
              <a:t>shows</a:t>
            </a:r>
            <a:r>
              <a:rPr sz="2000" dirty="0">
                <a:latin typeface="Times New Roman"/>
                <a:cs typeface="Times New Roman"/>
              </a:rPr>
              <a:t>	</a:t>
            </a:r>
            <a:r>
              <a:rPr sz="2000" spc="-20" dirty="0">
                <a:latin typeface="Times New Roman"/>
                <a:cs typeface="Times New Roman"/>
              </a:rPr>
              <a:t>good</a:t>
            </a:r>
            <a:endParaRPr sz="2000">
              <a:latin typeface="Times New Roman"/>
              <a:cs typeface="Times New Roman"/>
            </a:endParaRPr>
          </a:p>
          <a:p>
            <a:pPr marL="12700">
              <a:lnSpc>
                <a:spcPct val="100000"/>
              </a:lnSpc>
            </a:pPr>
            <a:r>
              <a:rPr sz="2000" spc="-10" dirty="0">
                <a:latin typeface="Times New Roman"/>
                <a:cs typeface="Times New Roman"/>
              </a:rPr>
              <a:t>generalization.</a:t>
            </a:r>
            <a:endParaRPr sz="2000">
              <a:latin typeface="Times New Roman"/>
              <a:cs typeface="Times New Roman"/>
            </a:endParaRPr>
          </a:p>
          <a:p>
            <a:pPr marL="100330" lvl="1" indent="-97155">
              <a:lnSpc>
                <a:spcPct val="100000"/>
              </a:lnSpc>
              <a:buSzPct val="95000"/>
              <a:buFont typeface="Arial MT"/>
              <a:buChar char="•"/>
              <a:tabLst>
                <a:tab pos="100330" algn="l"/>
                <a:tab pos="1012190" algn="l"/>
                <a:tab pos="1515110" algn="l"/>
                <a:tab pos="1847214" algn="l"/>
                <a:tab pos="2997200" algn="l"/>
                <a:tab pos="3877945" algn="l"/>
                <a:tab pos="4914900" algn="l"/>
              </a:tabLst>
            </a:pPr>
            <a:r>
              <a:rPr sz="2000" spc="-10" dirty="0">
                <a:latin typeface="Times New Roman"/>
                <a:cs typeface="Times New Roman"/>
              </a:rPr>
              <a:t>Parallel</a:t>
            </a:r>
            <a:r>
              <a:rPr sz="2000" dirty="0">
                <a:latin typeface="Times New Roman"/>
                <a:cs typeface="Times New Roman"/>
              </a:rPr>
              <a:t>	</a:t>
            </a:r>
            <a:r>
              <a:rPr sz="2000" spc="-20" dirty="0">
                <a:latin typeface="Times New Roman"/>
                <a:cs typeface="Times New Roman"/>
              </a:rPr>
              <a:t>rise</a:t>
            </a:r>
            <a:r>
              <a:rPr sz="2000" dirty="0">
                <a:latin typeface="Times New Roman"/>
                <a:cs typeface="Times New Roman"/>
              </a:rPr>
              <a:t>	</a:t>
            </a:r>
            <a:r>
              <a:rPr sz="2000" spc="-25" dirty="0">
                <a:latin typeface="Times New Roman"/>
                <a:cs typeface="Times New Roman"/>
              </a:rPr>
              <a:t>in</a:t>
            </a:r>
            <a:r>
              <a:rPr sz="2000" dirty="0">
                <a:latin typeface="Times New Roman"/>
                <a:cs typeface="Times New Roman"/>
              </a:rPr>
              <a:t>	</a:t>
            </a:r>
            <a:r>
              <a:rPr sz="2000" spc="-10" dirty="0">
                <a:latin typeface="Times New Roman"/>
                <a:cs typeface="Times New Roman"/>
              </a:rPr>
              <a:t>validation</a:t>
            </a:r>
            <a:r>
              <a:rPr sz="2000" dirty="0">
                <a:latin typeface="Times New Roman"/>
                <a:cs typeface="Times New Roman"/>
              </a:rPr>
              <a:t>	</a:t>
            </a:r>
            <a:r>
              <a:rPr sz="2000" spc="-10" dirty="0">
                <a:latin typeface="Times New Roman"/>
                <a:cs typeface="Times New Roman"/>
              </a:rPr>
              <a:t>metrics</a:t>
            </a:r>
            <a:r>
              <a:rPr sz="2000" dirty="0">
                <a:latin typeface="Times New Roman"/>
                <a:cs typeface="Times New Roman"/>
              </a:rPr>
              <a:t>	</a:t>
            </a:r>
            <a:r>
              <a:rPr sz="2000" spc="-10" dirty="0">
                <a:latin typeface="Times New Roman"/>
                <a:cs typeface="Times New Roman"/>
              </a:rPr>
              <a:t>indicates</a:t>
            </a:r>
            <a:r>
              <a:rPr sz="2000" dirty="0">
                <a:latin typeface="Times New Roman"/>
                <a:cs typeface="Times New Roman"/>
              </a:rPr>
              <a:t>	</a:t>
            </a:r>
            <a:r>
              <a:rPr sz="2000" spc="-10" dirty="0">
                <a:latin typeface="Times New Roman"/>
                <a:cs typeface="Times New Roman"/>
              </a:rPr>
              <a:t>consistent</a:t>
            </a:r>
            <a:endParaRPr sz="2000">
              <a:latin typeface="Times New Roman"/>
              <a:cs typeface="Times New Roman"/>
            </a:endParaRPr>
          </a:p>
          <a:p>
            <a:pPr marL="12700">
              <a:lnSpc>
                <a:spcPct val="100000"/>
              </a:lnSpc>
            </a:pPr>
            <a:r>
              <a:rPr sz="2000" spc="-10" dirty="0">
                <a:latin typeface="Times New Roman"/>
                <a:cs typeface="Times New Roman"/>
              </a:rPr>
              <a:t>learning.</a:t>
            </a:r>
            <a:endParaRPr sz="2000">
              <a:latin typeface="Times New Roman"/>
              <a:cs typeface="Times New Roman"/>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7" name="object 7"/>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884680">
              <a:lnSpc>
                <a:spcPct val="100000"/>
              </a:lnSpc>
              <a:spcBef>
                <a:spcPts val="95"/>
              </a:spcBef>
            </a:pPr>
            <a:r>
              <a:rPr spc="-35" dirty="0"/>
              <a:t>R</a:t>
            </a:r>
            <a:r>
              <a:rPr spc="45" dirty="0"/>
              <a:t>E</a:t>
            </a:r>
            <a:r>
              <a:rPr spc="-45" dirty="0"/>
              <a:t>S</a:t>
            </a:r>
            <a:r>
              <a:rPr spc="20" dirty="0"/>
              <a:t>U</a:t>
            </a:r>
            <a:r>
              <a:rPr spc="-484" dirty="0"/>
              <a:t>L</a:t>
            </a:r>
            <a:r>
              <a:rPr spc="-30" dirty="0"/>
              <a:t>T</a:t>
            </a:r>
            <a:r>
              <a:rPr spc="-20" dirty="0"/>
              <a:t>S</a:t>
            </a:r>
            <a:r>
              <a:rPr spc="-145" dirty="0"/>
              <a:t> </a:t>
            </a:r>
            <a:r>
              <a:rPr spc="-45" dirty="0"/>
              <a:t>&amp;</a:t>
            </a:r>
            <a:r>
              <a:rPr spc="-300" dirty="0"/>
              <a:t> </a:t>
            </a:r>
            <a:r>
              <a:rPr spc="-10" dirty="0"/>
              <a:t>ANALYSIS</a:t>
            </a:r>
          </a:p>
        </p:txBody>
      </p:sp>
      <p:pic>
        <p:nvPicPr>
          <p:cNvPr id="3" name="object 3"/>
          <p:cNvPicPr/>
          <p:nvPr/>
        </p:nvPicPr>
        <p:blipFill>
          <a:blip r:embed="rId2" cstate="print"/>
          <a:stretch>
            <a:fillRect/>
          </a:stretch>
        </p:blipFill>
        <p:spPr>
          <a:xfrm>
            <a:off x="590640" y="1754971"/>
            <a:ext cx="3949562" cy="3147947"/>
          </a:xfrm>
          <a:prstGeom prst="rect">
            <a:avLst/>
          </a:prstGeom>
        </p:spPr>
      </p:pic>
      <p:sp>
        <p:nvSpPr>
          <p:cNvPr id="4" name="object 4"/>
          <p:cNvSpPr txBox="1">
            <a:spLocks noGrp="1"/>
          </p:cNvSpPr>
          <p:nvPr>
            <p:ph type="body" idx="1"/>
          </p:nvPr>
        </p:nvSpPr>
        <p:spPr>
          <a:prstGeom prst="rect">
            <a:avLst/>
          </a:prstGeom>
        </p:spPr>
        <p:txBody>
          <a:bodyPr vert="horz" wrap="square" lIns="0" tIns="11430" rIns="0" bIns="0" rtlCol="0">
            <a:spAutoFit/>
          </a:bodyPr>
          <a:lstStyle/>
          <a:p>
            <a:pPr marL="100330" indent="-97155">
              <a:lnSpc>
                <a:spcPct val="100000"/>
              </a:lnSpc>
              <a:spcBef>
                <a:spcPts val="90"/>
              </a:spcBef>
              <a:buSzPct val="95000"/>
              <a:buFont typeface="Arial MT"/>
              <a:buChar char="•"/>
              <a:tabLst>
                <a:tab pos="100330" algn="l"/>
              </a:tabLst>
            </a:pPr>
            <a:r>
              <a:rPr dirty="0"/>
              <a:t>The</a:t>
            </a:r>
            <a:r>
              <a:rPr spc="285" dirty="0"/>
              <a:t> </a:t>
            </a:r>
            <a:r>
              <a:rPr b="1" dirty="0">
                <a:latin typeface="Times New Roman"/>
                <a:cs typeface="Times New Roman"/>
              </a:rPr>
              <a:t>ROC</a:t>
            </a:r>
            <a:r>
              <a:rPr b="1" spc="290" dirty="0">
                <a:latin typeface="Times New Roman"/>
                <a:cs typeface="Times New Roman"/>
              </a:rPr>
              <a:t> </a:t>
            </a:r>
            <a:r>
              <a:rPr b="1" dirty="0">
                <a:latin typeface="Times New Roman"/>
                <a:cs typeface="Times New Roman"/>
              </a:rPr>
              <a:t>curve</a:t>
            </a:r>
            <a:r>
              <a:rPr b="1" spc="285" dirty="0">
                <a:latin typeface="Times New Roman"/>
                <a:cs typeface="Times New Roman"/>
              </a:rPr>
              <a:t> </a:t>
            </a:r>
            <a:r>
              <a:rPr dirty="0"/>
              <a:t>evaluates</a:t>
            </a:r>
            <a:r>
              <a:rPr spc="310" dirty="0"/>
              <a:t> </a:t>
            </a:r>
            <a:r>
              <a:rPr dirty="0"/>
              <a:t>how</a:t>
            </a:r>
            <a:r>
              <a:rPr spc="285" dirty="0"/>
              <a:t> </a:t>
            </a:r>
            <a:r>
              <a:rPr dirty="0"/>
              <a:t>well</a:t>
            </a:r>
            <a:r>
              <a:rPr spc="285" dirty="0"/>
              <a:t> </a:t>
            </a:r>
            <a:r>
              <a:rPr dirty="0"/>
              <a:t>the</a:t>
            </a:r>
            <a:r>
              <a:rPr spc="310" dirty="0"/>
              <a:t> </a:t>
            </a:r>
            <a:r>
              <a:rPr dirty="0"/>
              <a:t>model</a:t>
            </a:r>
            <a:r>
              <a:rPr spc="290" dirty="0"/>
              <a:t> </a:t>
            </a:r>
            <a:r>
              <a:rPr spc="-10" dirty="0"/>
              <a:t>distinguishes</a:t>
            </a:r>
          </a:p>
          <a:p>
            <a:pPr marL="12700">
              <a:lnSpc>
                <a:spcPct val="100000"/>
              </a:lnSpc>
            </a:pPr>
            <a:r>
              <a:rPr dirty="0"/>
              <a:t>between</a:t>
            </a:r>
            <a:r>
              <a:rPr spc="-15" dirty="0"/>
              <a:t> </a:t>
            </a:r>
            <a:r>
              <a:rPr b="1" dirty="0">
                <a:latin typeface="Times New Roman"/>
                <a:cs typeface="Times New Roman"/>
              </a:rPr>
              <a:t>bots</a:t>
            </a:r>
            <a:r>
              <a:rPr b="1" spc="-60" dirty="0">
                <a:latin typeface="Times New Roman"/>
                <a:cs typeface="Times New Roman"/>
              </a:rPr>
              <a:t> </a:t>
            </a:r>
            <a:r>
              <a:rPr dirty="0"/>
              <a:t>and</a:t>
            </a:r>
            <a:r>
              <a:rPr spc="-45" dirty="0"/>
              <a:t> </a:t>
            </a:r>
            <a:r>
              <a:rPr b="1" spc="-10" dirty="0">
                <a:latin typeface="Times New Roman"/>
                <a:cs typeface="Times New Roman"/>
              </a:rPr>
              <a:t>humans</a:t>
            </a:r>
            <a:r>
              <a:rPr spc="-10" dirty="0"/>
              <a:t>.</a:t>
            </a:r>
          </a:p>
          <a:p>
            <a:pPr marL="100330" indent="-97155">
              <a:lnSpc>
                <a:spcPct val="100000"/>
              </a:lnSpc>
              <a:buSzPct val="95000"/>
              <a:buFont typeface="Arial MT"/>
              <a:buChar char="•"/>
              <a:tabLst>
                <a:tab pos="100330" algn="l"/>
              </a:tabLst>
            </a:pPr>
            <a:r>
              <a:rPr b="1" spc="-10" dirty="0">
                <a:latin typeface="Times New Roman"/>
                <a:cs typeface="Times New Roman"/>
              </a:rPr>
              <a:t>X-</a:t>
            </a:r>
            <a:r>
              <a:rPr b="1" dirty="0">
                <a:latin typeface="Times New Roman"/>
                <a:cs typeface="Times New Roman"/>
              </a:rPr>
              <a:t>axis:</a:t>
            </a:r>
            <a:r>
              <a:rPr b="1" spc="-30" dirty="0">
                <a:latin typeface="Times New Roman"/>
                <a:cs typeface="Times New Roman"/>
              </a:rPr>
              <a:t> </a:t>
            </a:r>
            <a:r>
              <a:rPr dirty="0"/>
              <a:t>False</a:t>
            </a:r>
            <a:r>
              <a:rPr spc="-35" dirty="0"/>
              <a:t> </a:t>
            </a:r>
            <a:r>
              <a:rPr dirty="0"/>
              <a:t>Positive</a:t>
            </a:r>
            <a:r>
              <a:rPr spc="-30" dirty="0"/>
              <a:t> </a:t>
            </a:r>
            <a:r>
              <a:rPr dirty="0"/>
              <a:t>Rate</a:t>
            </a:r>
            <a:r>
              <a:rPr spc="-35" dirty="0"/>
              <a:t> </a:t>
            </a:r>
            <a:r>
              <a:rPr spc="-10" dirty="0"/>
              <a:t>(FPR)</a:t>
            </a:r>
          </a:p>
          <a:p>
            <a:pPr marL="100330" indent="-96520">
              <a:lnSpc>
                <a:spcPct val="100000"/>
              </a:lnSpc>
              <a:buSzPct val="95000"/>
              <a:buFont typeface="Arial MT"/>
              <a:buChar char="•"/>
              <a:tabLst>
                <a:tab pos="100330" algn="l"/>
              </a:tabLst>
            </a:pPr>
            <a:r>
              <a:rPr b="1" spc="-10" dirty="0">
                <a:latin typeface="Times New Roman"/>
                <a:cs typeface="Times New Roman"/>
              </a:rPr>
              <a:t>Y-</a:t>
            </a:r>
            <a:r>
              <a:rPr b="1" dirty="0">
                <a:latin typeface="Times New Roman"/>
                <a:cs typeface="Times New Roman"/>
              </a:rPr>
              <a:t>axis:</a:t>
            </a:r>
            <a:r>
              <a:rPr b="1" spc="-30" dirty="0">
                <a:latin typeface="Times New Roman"/>
                <a:cs typeface="Times New Roman"/>
              </a:rPr>
              <a:t> </a:t>
            </a:r>
            <a:r>
              <a:rPr dirty="0"/>
              <a:t>True</a:t>
            </a:r>
            <a:r>
              <a:rPr spc="-55" dirty="0"/>
              <a:t> </a:t>
            </a:r>
            <a:r>
              <a:rPr dirty="0"/>
              <a:t>Positive</a:t>
            </a:r>
            <a:r>
              <a:rPr spc="-25" dirty="0"/>
              <a:t> </a:t>
            </a:r>
            <a:r>
              <a:rPr dirty="0"/>
              <a:t>Rate</a:t>
            </a:r>
            <a:r>
              <a:rPr spc="-35" dirty="0"/>
              <a:t> </a:t>
            </a:r>
            <a:r>
              <a:rPr spc="-10" dirty="0"/>
              <a:t>(TPR)</a:t>
            </a:r>
          </a:p>
          <a:p>
            <a:pPr marL="100330" indent="-97155">
              <a:lnSpc>
                <a:spcPct val="100000"/>
              </a:lnSpc>
              <a:spcBef>
                <a:spcPts val="5"/>
              </a:spcBef>
              <a:buSzPct val="95000"/>
              <a:buFont typeface="Arial MT"/>
              <a:buChar char="•"/>
              <a:tabLst>
                <a:tab pos="100330" algn="l"/>
              </a:tabLst>
            </a:pPr>
            <a:r>
              <a:rPr dirty="0"/>
              <a:t>The</a:t>
            </a:r>
            <a:r>
              <a:rPr spc="320" dirty="0"/>
              <a:t> </a:t>
            </a:r>
            <a:r>
              <a:rPr b="1" dirty="0">
                <a:latin typeface="Times New Roman"/>
                <a:cs typeface="Times New Roman"/>
              </a:rPr>
              <a:t>AUC</a:t>
            </a:r>
            <a:r>
              <a:rPr b="1" spc="325" dirty="0">
                <a:latin typeface="Times New Roman"/>
                <a:cs typeface="Times New Roman"/>
              </a:rPr>
              <a:t> </a:t>
            </a:r>
            <a:r>
              <a:rPr b="1" dirty="0">
                <a:latin typeface="Times New Roman"/>
                <a:cs typeface="Times New Roman"/>
              </a:rPr>
              <a:t>(Area</a:t>
            </a:r>
            <a:r>
              <a:rPr b="1" spc="340" dirty="0">
                <a:latin typeface="Times New Roman"/>
                <a:cs typeface="Times New Roman"/>
              </a:rPr>
              <a:t> </a:t>
            </a:r>
            <a:r>
              <a:rPr b="1" dirty="0">
                <a:latin typeface="Times New Roman"/>
                <a:cs typeface="Times New Roman"/>
              </a:rPr>
              <a:t>Under</a:t>
            </a:r>
            <a:r>
              <a:rPr b="1" spc="325" dirty="0">
                <a:latin typeface="Times New Roman"/>
                <a:cs typeface="Times New Roman"/>
              </a:rPr>
              <a:t> </a:t>
            </a:r>
            <a:r>
              <a:rPr b="1" dirty="0">
                <a:latin typeface="Times New Roman"/>
                <a:cs typeface="Times New Roman"/>
              </a:rPr>
              <a:t>Curve)</a:t>
            </a:r>
            <a:r>
              <a:rPr b="1" spc="340" dirty="0">
                <a:latin typeface="Times New Roman"/>
                <a:cs typeface="Times New Roman"/>
              </a:rPr>
              <a:t> </a:t>
            </a:r>
            <a:r>
              <a:rPr dirty="0"/>
              <a:t>value</a:t>
            </a:r>
            <a:r>
              <a:rPr spc="320" dirty="0"/>
              <a:t> </a:t>
            </a:r>
            <a:r>
              <a:rPr dirty="0"/>
              <a:t>close</a:t>
            </a:r>
            <a:r>
              <a:rPr spc="330" dirty="0"/>
              <a:t> </a:t>
            </a:r>
            <a:r>
              <a:rPr dirty="0"/>
              <a:t>to</a:t>
            </a:r>
            <a:r>
              <a:rPr spc="335" dirty="0"/>
              <a:t> </a:t>
            </a:r>
            <a:r>
              <a:rPr b="1" dirty="0">
                <a:latin typeface="Times New Roman"/>
                <a:cs typeface="Times New Roman"/>
              </a:rPr>
              <a:t>1.0</a:t>
            </a:r>
            <a:r>
              <a:rPr b="1" spc="335" dirty="0">
                <a:latin typeface="Times New Roman"/>
                <a:cs typeface="Times New Roman"/>
              </a:rPr>
              <a:t> </a:t>
            </a:r>
            <a:r>
              <a:rPr spc="-10" dirty="0"/>
              <a:t>indicates</a:t>
            </a:r>
          </a:p>
          <a:p>
            <a:pPr marL="12700">
              <a:lnSpc>
                <a:spcPct val="100000"/>
              </a:lnSpc>
            </a:pPr>
            <a:r>
              <a:rPr dirty="0"/>
              <a:t>strong</a:t>
            </a:r>
            <a:r>
              <a:rPr spc="-30" dirty="0"/>
              <a:t> </a:t>
            </a:r>
            <a:r>
              <a:rPr dirty="0"/>
              <a:t>model</a:t>
            </a:r>
            <a:r>
              <a:rPr spc="-30" dirty="0"/>
              <a:t> </a:t>
            </a:r>
            <a:r>
              <a:rPr spc="-10" dirty="0"/>
              <a:t>performance.</a:t>
            </a:r>
          </a:p>
          <a:p>
            <a:pPr marL="12700" marR="8255" indent="-9525">
              <a:lnSpc>
                <a:spcPct val="100000"/>
              </a:lnSpc>
              <a:buSzPct val="95000"/>
              <a:buFont typeface="Arial MT"/>
              <a:buChar char="•"/>
              <a:tabLst>
                <a:tab pos="100330" algn="l"/>
              </a:tabLst>
            </a:pPr>
            <a:r>
              <a:rPr dirty="0"/>
              <a:t>	Our</a:t>
            </a:r>
            <a:r>
              <a:rPr spc="270" dirty="0"/>
              <a:t> </a:t>
            </a:r>
            <a:r>
              <a:rPr dirty="0"/>
              <a:t>model</a:t>
            </a:r>
            <a:r>
              <a:rPr spc="254" dirty="0"/>
              <a:t> </a:t>
            </a:r>
            <a:r>
              <a:rPr dirty="0"/>
              <a:t>achieved</a:t>
            </a:r>
            <a:r>
              <a:rPr spc="260" dirty="0"/>
              <a:t> </a:t>
            </a:r>
            <a:r>
              <a:rPr dirty="0"/>
              <a:t>a</a:t>
            </a:r>
            <a:r>
              <a:rPr spc="275" dirty="0"/>
              <a:t> </a:t>
            </a:r>
            <a:r>
              <a:rPr b="1" dirty="0">
                <a:latin typeface="Times New Roman"/>
                <a:cs typeface="Times New Roman"/>
              </a:rPr>
              <a:t>high</a:t>
            </a:r>
            <a:r>
              <a:rPr b="1" spc="265" dirty="0">
                <a:latin typeface="Times New Roman"/>
                <a:cs typeface="Times New Roman"/>
              </a:rPr>
              <a:t> </a:t>
            </a:r>
            <a:r>
              <a:rPr b="1" dirty="0">
                <a:latin typeface="Times New Roman"/>
                <a:cs typeface="Times New Roman"/>
              </a:rPr>
              <a:t>AUC</a:t>
            </a:r>
            <a:r>
              <a:rPr b="1" spc="265" dirty="0">
                <a:latin typeface="Times New Roman"/>
                <a:cs typeface="Times New Roman"/>
              </a:rPr>
              <a:t> </a:t>
            </a:r>
            <a:r>
              <a:rPr b="1" dirty="0">
                <a:latin typeface="Times New Roman"/>
                <a:cs typeface="Times New Roman"/>
              </a:rPr>
              <a:t>(&gt;0.93)</a:t>
            </a:r>
            <a:r>
              <a:rPr dirty="0"/>
              <a:t>,</a:t>
            </a:r>
            <a:r>
              <a:rPr spc="250" dirty="0"/>
              <a:t> </a:t>
            </a:r>
            <a:r>
              <a:rPr dirty="0"/>
              <a:t>showing</a:t>
            </a:r>
            <a:r>
              <a:rPr spc="260" dirty="0"/>
              <a:t> </a:t>
            </a:r>
            <a:r>
              <a:rPr spc="-10" dirty="0"/>
              <a:t>excellent </a:t>
            </a:r>
            <a:r>
              <a:rPr dirty="0"/>
              <a:t>separation</a:t>
            </a:r>
            <a:r>
              <a:rPr spc="-60" dirty="0"/>
              <a:t> </a:t>
            </a:r>
            <a:r>
              <a:rPr dirty="0"/>
              <a:t>capability</a:t>
            </a:r>
            <a:r>
              <a:rPr spc="-90" dirty="0"/>
              <a:t> </a:t>
            </a:r>
            <a:r>
              <a:rPr dirty="0"/>
              <a:t>between</a:t>
            </a:r>
            <a:r>
              <a:rPr spc="-15" dirty="0"/>
              <a:t> </a:t>
            </a:r>
            <a:r>
              <a:rPr spc="-10" dirty="0"/>
              <a:t>classes.</a:t>
            </a:r>
          </a:p>
          <a:p>
            <a:pPr marL="76200">
              <a:lnSpc>
                <a:spcPct val="100000"/>
              </a:lnSpc>
              <a:spcBef>
                <a:spcPts val="5"/>
              </a:spcBef>
            </a:pPr>
            <a:r>
              <a:rPr b="1" i="1" spc="-10" dirty="0">
                <a:latin typeface="Times New Roman"/>
                <a:cs typeface="Times New Roman"/>
              </a:rPr>
              <a:t>Interpretation</a:t>
            </a:r>
            <a:r>
              <a:rPr i="1" spc="-10" dirty="0">
                <a:latin typeface="Times New Roman"/>
                <a:cs typeface="Times New Roman"/>
              </a:rPr>
              <a:t>:</a:t>
            </a:r>
          </a:p>
          <a:p>
            <a:pPr marL="100330" indent="-97155">
              <a:lnSpc>
                <a:spcPct val="100000"/>
              </a:lnSpc>
              <a:buSzPct val="95000"/>
              <a:buFont typeface="Arial MT"/>
              <a:buChar char="•"/>
              <a:tabLst>
                <a:tab pos="100330" algn="l"/>
              </a:tabLst>
            </a:pPr>
            <a:r>
              <a:rPr dirty="0"/>
              <a:t>Curve</a:t>
            </a:r>
            <a:r>
              <a:rPr spc="-5" dirty="0"/>
              <a:t> </a:t>
            </a:r>
            <a:r>
              <a:rPr dirty="0"/>
              <a:t>near</a:t>
            </a:r>
            <a:r>
              <a:rPr spc="5" dirty="0"/>
              <a:t> </a:t>
            </a:r>
            <a:r>
              <a:rPr dirty="0"/>
              <a:t>the</a:t>
            </a:r>
            <a:r>
              <a:rPr spc="-25" dirty="0"/>
              <a:t> </a:t>
            </a:r>
            <a:r>
              <a:rPr spc="-10" dirty="0"/>
              <a:t>top-</a:t>
            </a:r>
            <a:r>
              <a:rPr dirty="0"/>
              <a:t>left</a:t>
            </a:r>
            <a:r>
              <a:rPr spc="-30" dirty="0"/>
              <a:t> </a:t>
            </a:r>
            <a:r>
              <a:rPr dirty="0"/>
              <a:t>corner</a:t>
            </a:r>
            <a:r>
              <a:rPr spc="-35" dirty="0"/>
              <a:t> </a:t>
            </a:r>
            <a:r>
              <a:rPr dirty="0"/>
              <a:t>→</a:t>
            </a:r>
            <a:r>
              <a:rPr spc="-5" dirty="0"/>
              <a:t> </a:t>
            </a:r>
            <a:r>
              <a:rPr dirty="0"/>
              <a:t>better</a:t>
            </a:r>
            <a:r>
              <a:rPr spc="-60" dirty="0"/>
              <a:t> </a:t>
            </a:r>
            <a:r>
              <a:rPr spc="-10" dirty="0"/>
              <a:t>detection.</a:t>
            </a:r>
          </a:p>
          <a:p>
            <a:pPr marL="100330" indent="-96520">
              <a:lnSpc>
                <a:spcPct val="100000"/>
              </a:lnSpc>
              <a:buSzPct val="95000"/>
              <a:buFont typeface="Arial MT"/>
              <a:buChar char="•"/>
              <a:tabLst>
                <a:tab pos="100330" algn="l"/>
              </a:tabLst>
            </a:pPr>
            <a:r>
              <a:rPr dirty="0"/>
              <a:t>Indicates</a:t>
            </a:r>
            <a:r>
              <a:rPr spc="-20" dirty="0"/>
              <a:t> </a:t>
            </a:r>
            <a:r>
              <a:rPr b="1" dirty="0">
                <a:latin typeface="Times New Roman"/>
                <a:cs typeface="Times New Roman"/>
              </a:rPr>
              <a:t>low</a:t>
            </a:r>
            <a:r>
              <a:rPr b="1" spc="-20" dirty="0">
                <a:latin typeface="Times New Roman"/>
                <a:cs typeface="Times New Roman"/>
              </a:rPr>
              <a:t> </a:t>
            </a:r>
            <a:r>
              <a:rPr b="1" dirty="0">
                <a:latin typeface="Times New Roman"/>
                <a:cs typeface="Times New Roman"/>
              </a:rPr>
              <a:t>false</a:t>
            </a:r>
            <a:r>
              <a:rPr b="1" spc="-35" dirty="0">
                <a:latin typeface="Times New Roman"/>
                <a:cs typeface="Times New Roman"/>
              </a:rPr>
              <a:t> </a:t>
            </a:r>
            <a:r>
              <a:rPr b="1" dirty="0">
                <a:latin typeface="Times New Roman"/>
                <a:cs typeface="Times New Roman"/>
              </a:rPr>
              <a:t>positives</a:t>
            </a:r>
            <a:r>
              <a:rPr b="1" spc="-50" dirty="0">
                <a:latin typeface="Times New Roman"/>
                <a:cs typeface="Times New Roman"/>
              </a:rPr>
              <a:t> </a:t>
            </a:r>
            <a:r>
              <a:rPr dirty="0"/>
              <a:t>and</a:t>
            </a:r>
            <a:r>
              <a:rPr spc="10" dirty="0"/>
              <a:t> </a:t>
            </a:r>
            <a:r>
              <a:rPr b="1" dirty="0">
                <a:latin typeface="Times New Roman"/>
                <a:cs typeface="Times New Roman"/>
              </a:rPr>
              <a:t>high</a:t>
            </a:r>
            <a:r>
              <a:rPr b="1" spc="-30" dirty="0">
                <a:latin typeface="Times New Roman"/>
                <a:cs typeface="Times New Roman"/>
              </a:rPr>
              <a:t> </a:t>
            </a:r>
            <a:r>
              <a:rPr b="1" dirty="0">
                <a:latin typeface="Times New Roman"/>
                <a:cs typeface="Times New Roman"/>
              </a:rPr>
              <a:t>true</a:t>
            </a:r>
            <a:r>
              <a:rPr b="1" spc="-15" dirty="0">
                <a:latin typeface="Times New Roman"/>
                <a:cs typeface="Times New Roman"/>
              </a:rPr>
              <a:t> </a:t>
            </a:r>
            <a:r>
              <a:rPr b="1" dirty="0">
                <a:latin typeface="Times New Roman"/>
                <a:cs typeface="Times New Roman"/>
              </a:rPr>
              <a:t>detection</a:t>
            </a:r>
            <a:r>
              <a:rPr b="1" spc="-45" dirty="0">
                <a:latin typeface="Times New Roman"/>
                <a:cs typeface="Times New Roman"/>
              </a:rPr>
              <a:t> </a:t>
            </a:r>
            <a:r>
              <a:rPr dirty="0"/>
              <a:t>of</a:t>
            </a:r>
            <a:r>
              <a:rPr spc="-35" dirty="0"/>
              <a:t> </a:t>
            </a:r>
            <a:r>
              <a:rPr spc="-10" dirty="0"/>
              <a:t>bots.</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7" name="object 7"/>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603" y="403809"/>
            <a:ext cx="9665970" cy="629285"/>
          </a:xfrm>
          <a:prstGeom prst="rect">
            <a:avLst/>
          </a:prstGeom>
        </p:spPr>
        <p:txBody>
          <a:bodyPr vert="horz" wrap="square" lIns="0" tIns="12065" rIns="0" bIns="0" rtlCol="0">
            <a:spAutoFit/>
          </a:bodyPr>
          <a:lstStyle/>
          <a:p>
            <a:pPr marL="1884680">
              <a:lnSpc>
                <a:spcPct val="100000"/>
              </a:lnSpc>
              <a:spcBef>
                <a:spcPts val="95"/>
              </a:spcBef>
            </a:pPr>
            <a:r>
              <a:rPr spc="-35" dirty="0"/>
              <a:t>R</a:t>
            </a:r>
            <a:r>
              <a:rPr spc="45" dirty="0"/>
              <a:t>E</a:t>
            </a:r>
            <a:r>
              <a:rPr spc="-45" dirty="0"/>
              <a:t>S</a:t>
            </a:r>
            <a:r>
              <a:rPr spc="20" dirty="0"/>
              <a:t>U</a:t>
            </a:r>
            <a:r>
              <a:rPr spc="-484" dirty="0"/>
              <a:t>L</a:t>
            </a:r>
            <a:r>
              <a:rPr spc="-30" dirty="0"/>
              <a:t>T</a:t>
            </a:r>
            <a:r>
              <a:rPr spc="-20" dirty="0"/>
              <a:t>S</a:t>
            </a:r>
            <a:r>
              <a:rPr spc="-145" dirty="0"/>
              <a:t> </a:t>
            </a:r>
            <a:r>
              <a:rPr spc="-45" dirty="0"/>
              <a:t>&amp;</a:t>
            </a:r>
            <a:r>
              <a:rPr spc="-300" dirty="0"/>
              <a:t> </a:t>
            </a:r>
            <a:r>
              <a:rPr spc="-10" dirty="0"/>
              <a:t>ANALYSIS</a:t>
            </a:r>
          </a:p>
        </p:txBody>
      </p:sp>
      <p:pic>
        <p:nvPicPr>
          <p:cNvPr id="3" name="object 3"/>
          <p:cNvPicPr/>
          <p:nvPr/>
        </p:nvPicPr>
        <p:blipFill>
          <a:blip r:embed="rId2" cstate="print"/>
          <a:stretch>
            <a:fillRect/>
          </a:stretch>
        </p:blipFill>
        <p:spPr>
          <a:xfrm>
            <a:off x="226226" y="1972735"/>
            <a:ext cx="4285535" cy="3063277"/>
          </a:xfrm>
          <a:prstGeom prst="rect">
            <a:avLst/>
          </a:prstGeom>
        </p:spPr>
      </p:pic>
      <p:sp>
        <p:nvSpPr>
          <p:cNvPr id="4" name="object 4"/>
          <p:cNvSpPr txBox="1"/>
          <p:nvPr/>
        </p:nvSpPr>
        <p:spPr>
          <a:xfrm>
            <a:off x="5268214" y="1319606"/>
            <a:ext cx="6847586" cy="939800"/>
          </a:xfrm>
          <a:prstGeom prst="rect">
            <a:avLst/>
          </a:prstGeom>
        </p:spPr>
        <p:txBody>
          <a:bodyPr vert="horz" wrap="square" lIns="0" tIns="12065" rIns="0" bIns="0" rtlCol="0">
            <a:spAutoFit/>
          </a:bodyPr>
          <a:lstStyle/>
          <a:p>
            <a:pPr marL="12700">
              <a:lnSpc>
                <a:spcPct val="100000"/>
              </a:lnSpc>
              <a:spcBef>
                <a:spcPts val="95"/>
              </a:spcBef>
            </a:pPr>
            <a:r>
              <a:rPr sz="2000" b="1" dirty="0">
                <a:latin typeface="Times New Roman"/>
                <a:cs typeface="Times New Roman"/>
              </a:rPr>
              <a:t>Bot–Human</a:t>
            </a:r>
            <a:r>
              <a:rPr sz="2000" b="1" spc="-45" dirty="0">
                <a:latin typeface="Times New Roman"/>
                <a:cs typeface="Times New Roman"/>
              </a:rPr>
              <a:t> </a:t>
            </a:r>
            <a:r>
              <a:rPr sz="2000" b="1" dirty="0">
                <a:latin typeface="Times New Roman"/>
                <a:cs typeface="Times New Roman"/>
              </a:rPr>
              <a:t>Classification</a:t>
            </a:r>
            <a:r>
              <a:rPr sz="2000" b="1" spc="-75" dirty="0">
                <a:latin typeface="Times New Roman"/>
                <a:cs typeface="Times New Roman"/>
              </a:rPr>
              <a:t> </a:t>
            </a:r>
            <a:r>
              <a:rPr sz="2000" b="1" spc="-10" dirty="0">
                <a:latin typeface="Times New Roman"/>
                <a:cs typeface="Times New Roman"/>
              </a:rPr>
              <a:t>Results</a:t>
            </a:r>
            <a:endParaRPr sz="2000" dirty="0">
              <a:latin typeface="Times New Roman"/>
              <a:cs typeface="Times New Roman"/>
            </a:endParaRPr>
          </a:p>
          <a:p>
            <a:pPr marL="100330" indent="-97155">
              <a:lnSpc>
                <a:spcPct val="100000"/>
              </a:lnSpc>
              <a:buSzPct val="95000"/>
              <a:buFont typeface="Arial MT"/>
              <a:buChar char="•"/>
              <a:tabLst>
                <a:tab pos="100330" algn="l"/>
                <a:tab pos="741045" algn="l"/>
                <a:tab pos="2378075" algn="l"/>
                <a:tab pos="3987800" algn="l"/>
              </a:tabLst>
            </a:pPr>
            <a:r>
              <a:rPr sz="2000" spc="-25" dirty="0">
                <a:latin typeface="Times New Roman"/>
                <a:cs typeface="Times New Roman"/>
              </a:rPr>
              <a:t>The</a:t>
            </a:r>
            <a:r>
              <a:rPr sz="2000" dirty="0">
                <a:latin typeface="Times New Roman"/>
                <a:cs typeface="Times New Roman"/>
              </a:rPr>
              <a:t>	</a:t>
            </a:r>
            <a:r>
              <a:rPr sz="2000" b="1" spc="-10" dirty="0">
                <a:latin typeface="Times New Roman"/>
                <a:cs typeface="Times New Roman"/>
              </a:rPr>
              <a:t>classification</a:t>
            </a:r>
            <a:r>
              <a:rPr sz="2000" b="1" dirty="0">
                <a:latin typeface="Times New Roman"/>
                <a:cs typeface="Times New Roman"/>
              </a:rPr>
              <a:t>	</a:t>
            </a:r>
            <a:r>
              <a:rPr sz="2000" b="1" spc="-10" dirty="0">
                <a:latin typeface="Times New Roman"/>
                <a:cs typeface="Times New Roman"/>
              </a:rPr>
              <a:t>visualization</a:t>
            </a:r>
            <a:r>
              <a:rPr sz="2000" b="1" dirty="0">
                <a:latin typeface="Times New Roman"/>
                <a:cs typeface="Times New Roman"/>
              </a:rPr>
              <a:t>	</a:t>
            </a:r>
            <a:r>
              <a:rPr sz="2000" spc="-10" dirty="0">
                <a:latin typeface="Times New Roman"/>
                <a:cs typeface="Times New Roman"/>
              </a:rPr>
              <a:t>highlights</a:t>
            </a:r>
            <a:endParaRPr sz="2000" dirty="0">
              <a:latin typeface="Times New Roman"/>
              <a:cs typeface="Times New Roman"/>
            </a:endParaRPr>
          </a:p>
          <a:p>
            <a:pPr marL="12700">
              <a:lnSpc>
                <a:spcPct val="100000"/>
              </a:lnSpc>
            </a:pPr>
            <a:r>
              <a:rPr sz="2000" spc="-10" dirty="0">
                <a:latin typeface="Times New Roman"/>
                <a:cs typeface="Times New Roman"/>
              </a:rPr>
              <a:t>predictions:</a:t>
            </a:r>
            <a:endParaRPr sz="2000" dirty="0">
              <a:latin typeface="Times New Roman"/>
              <a:cs typeface="Times New Roman"/>
            </a:endParaRP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9" name="object 9"/>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20</a:t>
            </a:fld>
            <a:endParaRPr spc="-25" dirty="0"/>
          </a:p>
        </p:txBody>
      </p:sp>
      <p:sp>
        <p:nvSpPr>
          <p:cNvPr id="5" name="object 5"/>
          <p:cNvSpPr txBox="1"/>
          <p:nvPr/>
        </p:nvSpPr>
        <p:spPr>
          <a:xfrm>
            <a:off x="10493756" y="1624964"/>
            <a:ext cx="1397635" cy="329565"/>
          </a:xfrm>
          <a:prstGeom prst="rect">
            <a:avLst/>
          </a:prstGeom>
        </p:spPr>
        <p:txBody>
          <a:bodyPr vert="horz" wrap="square" lIns="0" tIns="11430" rIns="0" bIns="0" rtlCol="0">
            <a:spAutoFit/>
          </a:bodyPr>
          <a:lstStyle/>
          <a:p>
            <a:pPr marL="12700">
              <a:lnSpc>
                <a:spcPct val="100000"/>
              </a:lnSpc>
              <a:spcBef>
                <a:spcPts val="90"/>
              </a:spcBef>
              <a:tabLst>
                <a:tab pos="57023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model’s</a:t>
            </a:r>
            <a:endParaRPr sz="2000">
              <a:latin typeface="Times New Roman"/>
              <a:cs typeface="Times New Roman"/>
            </a:endParaRPr>
          </a:p>
        </p:txBody>
      </p:sp>
      <p:sp>
        <p:nvSpPr>
          <p:cNvPr id="6" name="object 6"/>
          <p:cNvSpPr txBox="1"/>
          <p:nvPr/>
        </p:nvSpPr>
        <p:spPr>
          <a:xfrm>
            <a:off x="5268214" y="2234945"/>
            <a:ext cx="6628765" cy="3988435"/>
          </a:xfrm>
          <a:prstGeom prst="rect">
            <a:avLst/>
          </a:prstGeom>
        </p:spPr>
        <p:txBody>
          <a:bodyPr vert="horz" wrap="square" lIns="0" tIns="11430" rIns="0" bIns="0" rtlCol="0">
            <a:spAutoFit/>
          </a:bodyPr>
          <a:lstStyle/>
          <a:p>
            <a:pPr marL="756285" indent="-286385">
              <a:lnSpc>
                <a:spcPct val="100000"/>
              </a:lnSpc>
              <a:spcBef>
                <a:spcPts val="90"/>
              </a:spcBef>
              <a:buFont typeface="Arial MT"/>
              <a:buChar char="•"/>
              <a:tabLst>
                <a:tab pos="756285" algn="l"/>
              </a:tabLst>
            </a:pPr>
            <a:r>
              <a:rPr lang="en-US" sz="2000" b="1" dirty="0">
                <a:latin typeface="Times New Roman"/>
                <a:cs typeface="Times New Roman"/>
              </a:rPr>
              <a:t>Orange</a:t>
            </a:r>
            <a:r>
              <a:rPr sz="2000" b="1" dirty="0">
                <a:latin typeface="Times New Roman"/>
                <a:cs typeface="Times New Roman"/>
              </a:rPr>
              <a:t>/Green:</a:t>
            </a:r>
            <a:r>
              <a:rPr sz="2000" b="1" spc="-60" dirty="0">
                <a:latin typeface="Times New Roman"/>
                <a:cs typeface="Times New Roman"/>
              </a:rPr>
              <a:t> </a:t>
            </a:r>
            <a:r>
              <a:rPr sz="2000" dirty="0">
                <a:latin typeface="Times New Roman"/>
                <a:cs typeface="Times New Roman"/>
              </a:rPr>
              <a:t>Correctly</a:t>
            </a:r>
            <a:r>
              <a:rPr sz="2000" spc="-70" dirty="0">
                <a:latin typeface="Times New Roman"/>
                <a:cs typeface="Times New Roman"/>
              </a:rPr>
              <a:t> </a:t>
            </a:r>
            <a:r>
              <a:rPr sz="2000" dirty="0">
                <a:latin typeface="Times New Roman"/>
                <a:cs typeface="Times New Roman"/>
              </a:rPr>
              <a:t>identified</a:t>
            </a:r>
            <a:r>
              <a:rPr sz="2000" spc="-50" dirty="0">
                <a:latin typeface="Times New Roman"/>
                <a:cs typeface="Times New Roman"/>
              </a:rPr>
              <a:t> </a:t>
            </a:r>
            <a:r>
              <a:rPr sz="2000" spc="-10" dirty="0">
                <a:latin typeface="Times New Roman"/>
                <a:cs typeface="Times New Roman"/>
              </a:rPr>
              <a:t>humans.</a:t>
            </a:r>
            <a:endParaRPr sz="2000" dirty="0">
              <a:latin typeface="Times New Roman"/>
              <a:cs typeface="Times New Roman"/>
            </a:endParaRPr>
          </a:p>
          <a:p>
            <a:pPr marL="756285" indent="-286385">
              <a:lnSpc>
                <a:spcPct val="100000"/>
              </a:lnSpc>
              <a:buFont typeface="Arial MT"/>
              <a:buChar char="•"/>
              <a:tabLst>
                <a:tab pos="756285" algn="l"/>
              </a:tabLst>
            </a:pPr>
            <a:r>
              <a:rPr lang="en-US" sz="2000" b="1" dirty="0">
                <a:latin typeface="Times New Roman"/>
                <a:cs typeface="Times New Roman"/>
              </a:rPr>
              <a:t>Blue</a:t>
            </a:r>
            <a:r>
              <a:rPr sz="2000" b="1" dirty="0">
                <a:latin typeface="Times New Roman"/>
                <a:cs typeface="Times New Roman"/>
              </a:rPr>
              <a:t>/</a:t>
            </a:r>
            <a:r>
              <a:rPr lang="en-US" sz="2000" b="1" dirty="0">
                <a:latin typeface="Times New Roman"/>
                <a:cs typeface="Times New Roman"/>
              </a:rPr>
              <a:t>White</a:t>
            </a:r>
            <a:r>
              <a:rPr sz="2000" b="1" dirty="0">
                <a:latin typeface="Times New Roman"/>
                <a:cs typeface="Times New Roman"/>
              </a:rPr>
              <a:t>:</a:t>
            </a:r>
            <a:r>
              <a:rPr sz="2000" b="1" spc="-70" dirty="0">
                <a:latin typeface="Times New Roman"/>
                <a:cs typeface="Times New Roman"/>
              </a:rPr>
              <a:t> </a:t>
            </a:r>
            <a:r>
              <a:rPr sz="2000" dirty="0">
                <a:latin typeface="Times New Roman"/>
                <a:cs typeface="Times New Roman"/>
              </a:rPr>
              <a:t>Correctly</a:t>
            </a:r>
            <a:r>
              <a:rPr sz="2000" spc="-55" dirty="0">
                <a:latin typeface="Times New Roman"/>
                <a:cs typeface="Times New Roman"/>
              </a:rPr>
              <a:t> </a:t>
            </a:r>
            <a:r>
              <a:rPr sz="2000" dirty="0">
                <a:latin typeface="Times New Roman"/>
                <a:cs typeface="Times New Roman"/>
              </a:rPr>
              <a:t>detected</a:t>
            </a:r>
            <a:r>
              <a:rPr sz="2000" spc="-55" dirty="0">
                <a:latin typeface="Times New Roman"/>
                <a:cs typeface="Times New Roman"/>
              </a:rPr>
              <a:t> </a:t>
            </a:r>
            <a:r>
              <a:rPr sz="2000" spc="-10" dirty="0">
                <a:latin typeface="Times New Roman"/>
                <a:cs typeface="Times New Roman"/>
              </a:rPr>
              <a:t>bots.</a:t>
            </a:r>
            <a:endParaRPr sz="2000" dirty="0">
              <a:latin typeface="Times New Roman"/>
              <a:cs typeface="Times New Roman"/>
            </a:endParaRPr>
          </a:p>
          <a:p>
            <a:pPr marL="100330" indent="-97155">
              <a:lnSpc>
                <a:spcPct val="100000"/>
              </a:lnSpc>
              <a:spcBef>
                <a:spcPts val="5"/>
              </a:spcBef>
              <a:buSzPct val="95000"/>
              <a:buFont typeface="Arial MT"/>
              <a:buChar char="•"/>
              <a:tabLst>
                <a:tab pos="100330" algn="l"/>
              </a:tabLst>
            </a:pP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model</a:t>
            </a:r>
            <a:r>
              <a:rPr sz="2000" spc="-40" dirty="0">
                <a:latin typeface="Times New Roman"/>
                <a:cs typeface="Times New Roman"/>
              </a:rPr>
              <a:t> </a:t>
            </a:r>
            <a:r>
              <a:rPr sz="2000" dirty="0">
                <a:latin typeface="Times New Roman"/>
                <a:cs typeface="Times New Roman"/>
              </a:rPr>
              <a:t>learned</a:t>
            </a:r>
            <a:r>
              <a:rPr sz="2000" spc="-30" dirty="0">
                <a:latin typeface="Times New Roman"/>
                <a:cs typeface="Times New Roman"/>
              </a:rPr>
              <a:t> </a:t>
            </a:r>
            <a:r>
              <a:rPr sz="2000" dirty="0">
                <a:latin typeface="Times New Roman"/>
                <a:cs typeface="Times New Roman"/>
              </a:rPr>
              <a:t>distinct</a:t>
            </a:r>
            <a:r>
              <a:rPr sz="2000" spc="-40" dirty="0">
                <a:latin typeface="Times New Roman"/>
                <a:cs typeface="Times New Roman"/>
              </a:rPr>
              <a:t> </a:t>
            </a:r>
            <a:r>
              <a:rPr sz="2000" dirty="0">
                <a:latin typeface="Times New Roman"/>
                <a:cs typeface="Times New Roman"/>
              </a:rPr>
              <a:t>linguistic</a:t>
            </a:r>
            <a:r>
              <a:rPr sz="2000" spc="5"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behavioral</a:t>
            </a:r>
            <a:r>
              <a:rPr sz="2000" spc="-50" dirty="0">
                <a:latin typeface="Times New Roman"/>
                <a:cs typeface="Times New Roman"/>
              </a:rPr>
              <a:t> </a:t>
            </a:r>
            <a:r>
              <a:rPr sz="2000" spc="-10" dirty="0">
                <a:latin typeface="Times New Roman"/>
                <a:cs typeface="Times New Roman"/>
              </a:rPr>
              <a:t>cues:</a:t>
            </a:r>
            <a:endParaRPr sz="2000" dirty="0">
              <a:latin typeface="Times New Roman"/>
              <a:cs typeface="Times New Roman"/>
            </a:endParaRPr>
          </a:p>
          <a:p>
            <a:pPr marL="756285" lvl="1" indent="-286385">
              <a:lnSpc>
                <a:spcPct val="100000"/>
              </a:lnSpc>
              <a:buFont typeface="Arial MT"/>
              <a:buChar char="•"/>
              <a:tabLst>
                <a:tab pos="756285" algn="l"/>
                <a:tab pos="1377950" algn="l"/>
                <a:tab pos="1786889" algn="l"/>
                <a:tab pos="2896235" algn="l"/>
                <a:tab pos="3494404" algn="l"/>
                <a:tab pos="4097654" algn="l"/>
                <a:tab pos="4801870" algn="l"/>
                <a:tab pos="6033770" algn="l"/>
              </a:tabLst>
            </a:pPr>
            <a:r>
              <a:rPr sz="2000" spc="-20" dirty="0">
                <a:latin typeface="Times New Roman"/>
                <a:cs typeface="Times New Roman"/>
              </a:rPr>
              <a:t>Bots</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a:t>
            </a:r>
            <a:r>
              <a:rPr sz="2000" spc="-10" dirty="0">
                <a:latin typeface="Times New Roman"/>
                <a:cs typeface="Times New Roman"/>
              </a:rPr>
              <a:t>repetitive</a:t>
            </a:r>
            <a:r>
              <a:rPr sz="2000" dirty="0">
                <a:latin typeface="Times New Roman"/>
                <a:cs typeface="Times New Roman"/>
              </a:rPr>
              <a:t>	</a:t>
            </a:r>
            <a:r>
              <a:rPr sz="2000" spc="-20" dirty="0">
                <a:latin typeface="Times New Roman"/>
                <a:cs typeface="Times New Roman"/>
              </a:rPr>
              <a:t>text,</a:t>
            </a:r>
            <a:r>
              <a:rPr sz="2000" dirty="0">
                <a:latin typeface="Times New Roman"/>
                <a:cs typeface="Times New Roman"/>
              </a:rPr>
              <a:t>	</a:t>
            </a:r>
            <a:r>
              <a:rPr sz="2000" spc="-20" dirty="0">
                <a:latin typeface="Times New Roman"/>
                <a:cs typeface="Times New Roman"/>
              </a:rPr>
              <a:t>high</a:t>
            </a:r>
            <a:r>
              <a:rPr sz="2000" dirty="0">
                <a:latin typeface="Times New Roman"/>
                <a:cs typeface="Times New Roman"/>
              </a:rPr>
              <a:t>	</a:t>
            </a:r>
            <a:r>
              <a:rPr sz="2000" spc="-10" dirty="0">
                <a:latin typeface="Times New Roman"/>
                <a:cs typeface="Times New Roman"/>
              </a:rPr>
              <a:t>tweet</a:t>
            </a:r>
            <a:r>
              <a:rPr sz="2000" dirty="0">
                <a:latin typeface="Times New Roman"/>
                <a:cs typeface="Times New Roman"/>
              </a:rPr>
              <a:t>	</a:t>
            </a:r>
            <a:r>
              <a:rPr sz="2000" spc="-10" dirty="0">
                <a:latin typeface="Times New Roman"/>
                <a:cs typeface="Times New Roman"/>
              </a:rPr>
              <a:t>frequency,</a:t>
            </a:r>
            <a:r>
              <a:rPr sz="2000" dirty="0">
                <a:latin typeface="Times New Roman"/>
                <a:cs typeface="Times New Roman"/>
              </a:rPr>
              <a:t>	</a:t>
            </a:r>
            <a:r>
              <a:rPr sz="2000" spc="-10" dirty="0">
                <a:latin typeface="Times New Roman"/>
                <a:cs typeface="Times New Roman"/>
              </a:rPr>
              <a:t>fewer</a:t>
            </a:r>
            <a:endParaRPr sz="2000" dirty="0">
              <a:latin typeface="Times New Roman"/>
              <a:cs typeface="Times New Roman"/>
            </a:endParaRPr>
          </a:p>
          <a:p>
            <a:pPr marL="756285">
              <a:lnSpc>
                <a:spcPct val="100000"/>
              </a:lnSpc>
            </a:pPr>
            <a:r>
              <a:rPr sz="2000" spc="-10" dirty="0">
                <a:latin typeface="Times New Roman"/>
                <a:cs typeface="Times New Roman"/>
              </a:rPr>
              <a:t>followers.</a:t>
            </a:r>
            <a:endParaRPr sz="2000" dirty="0">
              <a:latin typeface="Times New Roman"/>
              <a:cs typeface="Times New Roman"/>
            </a:endParaRPr>
          </a:p>
          <a:p>
            <a:pPr marL="756285" marR="7620" lvl="1" indent="-287020">
              <a:lnSpc>
                <a:spcPct val="100000"/>
              </a:lnSpc>
              <a:buFont typeface="Arial MT"/>
              <a:buChar char="•"/>
              <a:tabLst>
                <a:tab pos="756285" algn="l"/>
              </a:tabLst>
            </a:pPr>
            <a:r>
              <a:rPr sz="2000" dirty="0">
                <a:latin typeface="Times New Roman"/>
                <a:cs typeface="Times New Roman"/>
              </a:rPr>
              <a:t>Humans</a:t>
            </a:r>
            <a:r>
              <a:rPr sz="2000" spc="110" dirty="0">
                <a:latin typeface="Times New Roman"/>
                <a:cs typeface="Times New Roman"/>
              </a:rPr>
              <a:t> </a:t>
            </a:r>
            <a:r>
              <a:rPr sz="2000" dirty="0">
                <a:latin typeface="Times New Roman"/>
                <a:cs typeface="Times New Roman"/>
              </a:rPr>
              <a:t>→</a:t>
            </a:r>
            <a:r>
              <a:rPr sz="2000" spc="114" dirty="0">
                <a:latin typeface="Times New Roman"/>
                <a:cs typeface="Times New Roman"/>
              </a:rPr>
              <a:t> </a:t>
            </a:r>
            <a:r>
              <a:rPr sz="2000" dirty="0">
                <a:latin typeface="Times New Roman"/>
                <a:cs typeface="Times New Roman"/>
              </a:rPr>
              <a:t>diverse</a:t>
            </a:r>
            <a:r>
              <a:rPr sz="2000" spc="125" dirty="0">
                <a:latin typeface="Times New Roman"/>
                <a:cs typeface="Times New Roman"/>
              </a:rPr>
              <a:t> </a:t>
            </a:r>
            <a:r>
              <a:rPr sz="2000" dirty="0">
                <a:latin typeface="Times New Roman"/>
                <a:cs typeface="Times New Roman"/>
              </a:rPr>
              <a:t>vocabulary,</a:t>
            </a:r>
            <a:r>
              <a:rPr sz="2000" spc="130" dirty="0">
                <a:latin typeface="Times New Roman"/>
                <a:cs typeface="Times New Roman"/>
              </a:rPr>
              <a:t> </a:t>
            </a:r>
            <a:r>
              <a:rPr sz="2000" dirty="0">
                <a:latin typeface="Times New Roman"/>
                <a:cs typeface="Times New Roman"/>
              </a:rPr>
              <a:t>verified</a:t>
            </a:r>
            <a:r>
              <a:rPr sz="2000" spc="135" dirty="0">
                <a:latin typeface="Times New Roman"/>
                <a:cs typeface="Times New Roman"/>
              </a:rPr>
              <a:t> </a:t>
            </a:r>
            <a:r>
              <a:rPr sz="2000" dirty="0">
                <a:latin typeface="Times New Roman"/>
                <a:cs typeface="Times New Roman"/>
              </a:rPr>
              <a:t>profiles,</a:t>
            </a:r>
            <a:r>
              <a:rPr sz="2000" spc="130" dirty="0">
                <a:latin typeface="Times New Roman"/>
                <a:cs typeface="Times New Roman"/>
              </a:rPr>
              <a:t> </a:t>
            </a:r>
            <a:r>
              <a:rPr sz="2000" spc="-10" dirty="0">
                <a:latin typeface="Times New Roman"/>
                <a:cs typeface="Times New Roman"/>
              </a:rPr>
              <a:t>natural </a:t>
            </a:r>
            <a:r>
              <a:rPr sz="2000" dirty="0">
                <a:latin typeface="Times New Roman"/>
                <a:cs typeface="Times New Roman"/>
              </a:rPr>
              <a:t>tweeting</a:t>
            </a:r>
            <a:r>
              <a:rPr sz="2000" spc="-50" dirty="0">
                <a:latin typeface="Times New Roman"/>
                <a:cs typeface="Times New Roman"/>
              </a:rPr>
              <a:t> </a:t>
            </a:r>
            <a:r>
              <a:rPr sz="2000" spc="-10" dirty="0">
                <a:latin typeface="Times New Roman"/>
                <a:cs typeface="Times New Roman"/>
              </a:rPr>
              <a:t>patterns.</a:t>
            </a:r>
            <a:endParaRPr sz="2000" dirty="0">
              <a:latin typeface="Times New Roman"/>
              <a:cs typeface="Times New Roman"/>
            </a:endParaRPr>
          </a:p>
          <a:p>
            <a:pPr marL="100330" indent="-97155">
              <a:lnSpc>
                <a:spcPct val="100000"/>
              </a:lnSpc>
              <a:spcBef>
                <a:spcPts val="5"/>
              </a:spcBef>
              <a:buSzPct val="95000"/>
              <a:buFont typeface="Arial MT"/>
              <a:buChar char="•"/>
              <a:tabLst>
                <a:tab pos="100330" algn="l"/>
              </a:tabLst>
            </a:pPr>
            <a:r>
              <a:rPr sz="2000" dirty="0">
                <a:latin typeface="Times New Roman"/>
                <a:cs typeface="Times New Roman"/>
              </a:rPr>
              <a:t>Achieved</a:t>
            </a:r>
            <a:r>
              <a:rPr sz="2000" spc="145" dirty="0">
                <a:latin typeface="Times New Roman"/>
                <a:cs typeface="Times New Roman"/>
              </a:rPr>
              <a:t> </a:t>
            </a:r>
            <a:r>
              <a:rPr sz="2000" b="1" dirty="0">
                <a:latin typeface="Times New Roman"/>
                <a:cs typeface="Times New Roman"/>
              </a:rPr>
              <a:t>94.3%</a:t>
            </a:r>
            <a:r>
              <a:rPr sz="2000" b="1" spc="125" dirty="0">
                <a:latin typeface="Times New Roman"/>
                <a:cs typeface="Times New Roman"/>
              </a:rPr>
              <a:t> </a:t>
            </a:r>
            <a:r>
              <a:rPr sz="2000" b="1" dirty="0">
                <a:latin typeface="Times New Roman"/>
                <a:cs typeface="Times New Roman"/>
              </a:rPr>
              <a:t>accuracy</a:t>
            </a:r>
            <a:r>
              <a:rPr sz="2000" b="1" spc="150" dirty="0">
                <a:latin typeface="Times New Roman"/>
                <a:cs typeface="Times New Roman"/>
              </a:rPr>
              <a:t> </a:t>
            </a:r>
            <a:r>
              <a:rPr sz="2000" dirty="0">
                <a:latin typeface="Times New Roman"/>
                <a:cs typeface="Times New Roman"/>
              </a:rPr>
              <a:t>in</a:t>
            </a:r>
            <a:r>
              <a:rPr sz="2000" spc="95" dirty="0">
                <a:latin typeface="Times New Roman"/>
                <a:cs typeface="Times New Roman"/>
              </a:rPr>
              <a:t> </a:t>
            </a:r>
            <a:r>
              <a:rPr sz="2000" dirty="0">
                <a:latin typeface="Times New Roman"/>
                <a:cs typeface="Times New Roman"/>
              </a:rPr>
              <a:t>distinguishing</a:t>
            </a:r>
            <a:r>
              <a:rPr sz="2000" spc="125" dirty="0">
                <a:latin typeface="Times New Roman"/>
                <a:cs typeface="Times New Roman"/>
              </a:rPr>
              <a:t> </a:t>
            </a:r>
            <a:r>
              <a:rPr sz="2000" dirty="0">
                <a:latin typeface="Times New Roman"/>
                <a:cs typeface="Times New Roman"/>
              </a:rPr>
              <a:t>between</a:t>
            </a:r>
            <a:r>
              <a:rPr sz="2000" spc="125" dirty="0">
                <a:latin typeface="Times New Roman"/>
                <a:cs typeface="Times New Roman"/>
              </a:rPr>
              <a:t> </a:t>
            </a:r>
            <a:r>
              <a:rPr sz="2000" dirty="0">
                <a:latin typeface="Times New Roman"/>
                <a:cs typeface="Times New Roman"/>
              </a:rPr>
              <a:t>bots</a:t>
            </a:r>
            <a:r>
              <a:rPr sz="2000" spc="145" dirty="0">
                <a:latin typeface="Times New Roman"/>
                <a:cs typeface="Times New Roman"/>
              </a:rPr>
              <a:t> </a:t>
            </a:r>
            <a:r>
              <a:rPr sz="2000" spc="-25" dirty="0">
                <a:latin typeface="Times New Roman"/>
                <a:cs typeface="Times New Roman"/>
              </a:rPr>
              <a:t>and</a:t>
            </a:r>
            <a:endParaRPr sz="2000" dirty="0">
              <a:latin typeface="Times New Roman"/>
              <a:cs typeface="Times New Roman"/>
            </a:endParaRPr>
          </a:p>
          <a:p>
            <a:pPr marL="12700">
              <a:lnSpc>
                <a:spcPct val="100000"/>
              </a:lnSpc>
            </a:pPr>
            <a:r>
              <a:rPr sz="2000" spc="-10" dirty="0">
                <a:latin typeface="Times New Roman"/>
                <a:cs typeface="Times New Roman"/>
              </a:rPr>
              <a:t>humans.</a:t>
            </a:r>
            <a:endParaRPr sz="2000" dirty="0">
              <a:latin typeface="Times New Roman"/>
              <a:cs typeface="Times New Roman"/>
            </a:endParaRPr>
          </a:p>
          <a:p>
            <a:pPr marL="12700">
              <a:lnSpc>
                <a:spcPts val="2390"/>
              </a:lnSpc>
              <a:spcBef>
                <a:spcPts val="25"/>
              </a:spcBef>
            </a:pPr>
            <a:r>
              <a:rPr sz="2000" dirty="0">
                <a:latin typeface="Segoe UI Symbol"/>
                <a:cs typeface="Segoe UI Symbol"/>
              </a:rPr>
              <a:t>✅</a:t>
            </a:r>
            <a:r>
              <a:rPr sz="2000" spc="-65" dirty="0">
                <a:latin typeface="Segoe UI Symbol"/>
                <a:cs typeface="Segoe UI Symbol"/>
              </a:rPr>
              <a:t> </a:t>
            </a:r>
            <a:r>
              <a:rPr sz="2000" i="1" spc="-10" dirty="0">
                <a:latin typeface="Times New Roman"/>
                <a:cs typeface="Times New Roman"/>
              </a:rPr>
              <a:t>Conclusion:</a:t>
            </a:r>
            <a:endParaRPr sz="2000" dirty="0">
              <a:latin typeface="Times New Roman"/>
              <a:cs typeface="Times New Roman"/>
            </a:endParaRPr>
          </a:p>
          <a:p>
            <a:pPr marL="100330" indent="-96520">
              <a:lnSpc>
                <a:spcPts val="2390"/>
              </a:lnSpc>
              <a:buSzPct val="95000"/>
              <a:buFont typeface="Arial MT"/>
              <a:buChar char="•"/>
              <a:tabLst>
                <a:tab pos="100330" algn="l"/>
              </a:tabLst>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visualization</a:t>
            </a:r>
            <a:r>
              <a:rPr sz="2000" spc="5" dirty="0">
                <a:latin typeface="Times New Roman"/>
                <a:cs typeface="Times New Roman"/>
              </a:rPr>
              <a:t> </a:t>
            </a:r>
            <a:r>
              <a:rPr sz="2000" dirty="0">
                <a:latin typeface="Times New Roman"/>
                <a:cs typeface="Times New Roman"/>
              </a:rPr>
              <a:t>confirms</a:t>
            </a:r>
            <a:r>
              <a:rPr sz="2000" spc="20" dirty="0">
                <a:latin typeface="Times New Roman"/>
                <a:cs typeface="Times New Roman"/>
              </a:rPr>
              <a:t> </a:t>
            </a:r>
            <a:r>
              <a:rPr sz="2000" dirty="0">
                <a:latin typeface="Times New Roman"/>
                <a:cs typeface="Times New Roman"/>
              </a:rPr>
              <a:t>that</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b="1" dirty="0">
                <a:latin typeface="Times New Roman"/>
                <a:cs typeface="Times New Roman"/>
              </a:rPr>
              <a:t>Hybrid</a:t>
            </a:r>
            <a:r>
              <a:rPr sz="2000" b="1" spc="15" dirty="0">
                <a:latin typeface="Times New Roman"/>
                <a:cs typeface="Times New Roman"/>
              </a:rPr>
              <a:t> </a:t>
            </a:r>
            <a:r>
              <a:rPr sz="2000" b="1" dirty="0">
                <a:latin typeface="Times New Roman"/>
                <a:cs typeface="Times New Roman"/>
              </a:rPr>
              <a:t>BERT</a:t>
            </a:r>
            <a:r>
              <a:rPr sz="2000" b="1" spc="15" dirty="0">
                <a:latin typeface="Times New Roman"/>
                <a:cs typeface="Times New Roman"/>
              </a:rPr>
              <a:t> </a:t>
            </a:r>
            <a:r>
              <a:rPr sz="2000" b="1" dirty="0">
                <a:latin typeface="Times New Roman"/>
                <a:cs typeface="Times New Roman"/>
              </a:rPr>
              <a:t>+</a:t>
            </a:r>
            <a:r>
              <a:rPr sz="2000" b="1" spc="10" dirty="0">
                <a:latin typeface="Times New Roman"/>
                <a:cs typeface="Times New Roman"/>
              </a:rPr>
              <a:t> </a:t>
            </a:r>
            <a:r>
              <a:rPr sz="2000" b="1" spc="-10" dirty="0">
                <a:latin typeface="Times New Roman"/>
                <a:cs typeface="Times New Roman"/>
              </a:rPr>
              <a:t>Metadata</a:t>
            </a:r>
            <a:endParaRPr sz="2000" dirty="0">
              <a:latin typeface="Times New Roman"/>
              <a:cs typeface="Times New Roman"/>
            </a:endParaRPr>
          </a:p>
          <a:p>
            <a:pPr marL="12700">
              <a:lnSpc>
                <a:spcPct val="100000"/>
              </a:lnSpc>
              <a:tabLst>
                <a:tab pos="875030" algn="l"/>
                <a:tab pos="2118995" algn="l"/>
                <a:tab pos="3253104" algn="l"/>
                <a:tab pos="3975735" algn="l"/>
                <a:tab pos="4756150" algn="l"/>
                <a:tab pos="5213350" algn="l"/>
                <a:tab pos="5866130" algn="l"/>
              </a:tabLst>
            </a:pPr>
            <a:r>
              <a:rPr sz="2000" b="1" spc="-10" dirty="0">
                <a:latin typeface="Times New Roman"/>
                <a:cs typeface="Times New Roman"/>
              </a:rPr>
              <a:t>model</a:t>
            </a:r>
            <a:r>
              <a:rPr sz="2000" b="1" dirty="0">
                <a:latin typeface="Times New Roman"/>
                <a:cs typeface="Times New Roman"/>
              </a:rPr>
              <a:t>	</a:t>
            </a:r>
            <a:r>
              <a:rPr sz="2000" spc="-10" dirty="0">
                <a:latin typeface="Times New Roman"/>
                <a:cs typeface="Times New Roman"/>
              </a:rPr>
              <a:t>accurately</a:t>
            </a:r>
            <a:r>
              <a:rPr sz="2000" dirty="0">
                <a:latin typeface="Times New Roman"/>
                <a:cs typeface="Times New Roman"/>
              </a:rPr>
              <a:t>	</a:t>
            </a:r>
            <a:r>
              <a:rPr sz="2000" spc="-10" dirty="0">
                <a:latin typeface="Times New Roman"/>
                <a:cs typeface="Times New Roman"/>
              </a:rPr>
              <a:t>classifies</a:t>
            </a:r>
            <a:r>
              <a:rPr sz="2000" dirty="0">
                <a:latin typeface="Times New Roman"/>
                <a:cs typeface="Times New Roman"/>
              </a:rPr>
              <a:t>	</a:t>
            </a:r>
            <a:r>
              <a:rPr sz="2000" spc="-10" dirty="0">
                <a:latin typeface="Times New Roman"/>
                <a:cs typeface="Times New Roman"/>
              </a:rPr>
              <a:t>users</a:t>
            </a:r>
            <a:r>
              <a:rPr sz="2000" dirty="0">
                <a:latin typeface="Times New Roman"/>
                <a:cs typeface="Times New Roman"/>
              </a:rPr>
              <a:t>	</a:t>
            </a:r>
            <a:r>
              <a:rPr sz="2000" spc="-10" dirty="0">
                <a:latin typeface="Times New Roman"/>
                <a:cs typeface="Times New Roman"/>
              </a:rPr>
              <a:t>based</a:t>
            </a:r>
            <a:r>
              <a:rPr sz="2000" dirty="0">
                <a:latin typeface="Times New Roman"/>
                <a:cs typeface="Times New Roman"/>
              </a:rPr>
              <a:t>	</a:t>
            </a:r>
            <a:r>
              <a:rPr sz="2000" spc="-25" dirty="0">
                <a:latin typeface="Times New Roman"/>
                <a:cs typeface="Times New Roman"/>
              </a:rPr>
              <a:t>on</a:t>
            </a:r>
            <a:r>
              <a:rPr sz="2000" dirty="0">
                <a:latin typeface="Times New Roman"/>
                <a:cs typeface="Times New Roman"/>
              </a:rPr>
              <a:t>	</a:t>
            </a:r>
            <a:r>
              <a:rPr sz="2000" spc="-20" dirty="0">
                <a:latin typeface="Times New Roman"/>
                <a:cs typeface="Times New Roman"/>
              </a:rPr>
              <a:t>both</a:t>
            </a:r>
            <a:r>
              <a:rPr sz="2000" dirty="0">
                <a:latin typeface="Times New Roman"/>
                <a:cs typeface="Times New Roman"/>
              </a:rPr>
              <a:t>	</a:t>
            </a:r>
            <a:r>
              <a:rPr sz="2000" b="1" spc="-10" dirty="0">
                <a:latin typeface="Times New Roman"/>
                <a:cs typeface="Times New Roman"/>
              </a:rPr>
              <a:t>textual</a:t>
            </a:r>
            <a:endParaRPr sz="2000" dirty="0">
              <a:latin typeface="Times New Roman"/>
              <a:cs typeface="Times New Roman"/>
            </a:endParaRPr>
          </a:p>
          <a:p>
            <a:pPr marL="12700">
              <a:lnSpc>
                <a:spcPct val="100000"/>
              </a:lnSpc>
            </a:pPr>
            <a:r>
              <a:rPr sz="2000" b="1" dirty="0">
                <a:latin typeface="Times New Roman"/>
                <a:cs typeface="Times New Roman"/>
              </a:rPr>
              <a:t>semantics</a:t>
            </a:r>
            <a:r>
              <a:rPr sz="2000" b="1" spc="-5" dirty="0">
                <a:latin typeface="Times New Roman"/>
                <a:cs typeface="Times New Roman"/>
              </a:rPr>
              <a:t> </a:t>
            </a:r>
            <a:r>
              <a:rPr sz="2000" dirty="0">
                <a:latin typeface="Times New Roman"/>
                <a:cs typeface="Times New Roman"/>
              </a:rPr>
              <a:t>and</a:t>
            </a:r>
            <a:r>
              <a:rPr sz="2000" spc="-40" dirty="0">
                <a:latin typeface="Times New Roman"/>
                <a:cs typeface="Times New Roman"/>
              </a:rPr>
              <a:t> </a:t>
            </a:r>
            <a:r>
              <a:rPr sz="2000" b="1" dirty="0">
                <a:latin typeface="Times New Roman"/>
                <a:cs typeface="Times New Roman"/>
              </a:rPr>
              <a:t>profile</a:t>
            </a:r>
            <a:r>
              <a:rPr sz="2000" b="1" spc="-40" dirty="0">
                <a:latin typeface="Times New Roman"/>
                <a:cs typeface="Times New Roman"/>
              </a:rPr>
              <a:t> </a:t>
            </a:r>
            <a:r>
              <a:rPr sz="2000" b="1" spc="-10" dirty="0">
                <a:latin typeface="Times New Roman"/>
                <a:cs typeface="Times New Roman"/>
              </a:rPr>
              <a:t>behavior</a:t>
            </a:r>
            <a:r>
              <a:rPr sz="2000" spc="-10" dirty="0">
                <a:latin typeface="Times New Roman"/>
                <a:cs typeface="Times New Roman"/>
              </a:rPr>
              <a:t>.</a:t>
            </a:r>
            <a:endParaRPr sz="2000"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DE34-CD70-A60C-74A4-FDD4AE5BC7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B25222-4B25-418D-FCE8-C8A14A10CDCA}"/>
              </a:ext>
            </a:extLst>
          </p:cNvPr>
          <p:cNvSpPr txBox="1">
            <a:spLocks noGrp="1"/>
          </p:cNvSpPr>
          <p:nvPr>
            <p:ph type="title"/>
          </p:nvPr>
        </p:nvSpPr>
        <p:spPr>
          <a:xfrm>
            <a:off x="1526603" y="403809"/>
            <a:ext cx="9665970" cy="689291"/>
          </a:xfrm>
          <a:prstGeom prst="rect">
            <a:avLst/>
          </a:prstGeom>
        </p:spPr>
        <p:txBody>
          <a:bodyPr vert="horz" wrap="square" lIns="0" tIns="12065" rIns="0" bIns="0" rtlCol="0">
            <a:spAutoFit/>
          </a:bodyPr>
          <a:lstStyle/>
          <a:p>
            <a:pPr marL="1884680" algn="l">
              <a:lnSpc>
                <a:spcPct val="100000"/>
              </a:lnSpc>
              <a:spcBef>
                <a:spcPts val="95"/>
              </a:spcBef>
            </a:pPr>
            <a:r>
              <a:rPr lang="en-US" spc="-35" dirty="0"/>
              <a:t>USER INTERFACE’S</a:t>
            </a:r>
            <a:endParaRPr spc="-10" dirty="0"/>
          </a:p>
        </p:txBody>
      </p:sp>
      <p:sp>
        <p:nvSpPr>
          <p:cNvPr id="7" name="object 7">
            <a:extLst>
              <a:ext uri="{FF2B5EF4-FFF2-40B4-BE49-F238E27FC236}">
                <a16:creationId xmlns:a16="http://schemas.microsoft.com/office/drawing/2014/main" id="{EA33540C-BAED-0BE5-45D8-2EB84A28C94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8" name="object 8">
            <a:extLst>
              <a:ext uri="{FF2B5EF4-FFF2-40B4-BE49-F238E27FC236}">
                <a16:creationId xmlns:a16="http://schemas.microsoft.com/office/drawing/2014/main" id="{EB8C9E05-82DD-D37C-028F-D08E784A7B26}"/>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9" name="object 9">
            <a:extLst>
              <a:ext uri="{FF2B5EF4-FFF2-40B4-BE49-F238E27FC236}">
                <a16:creationId xmlns:a16="http://schemas.microsoft.com/office/drawing/2014/main" id="{274A9A80-A942-0AD2-5FBD-2C2BCBD739A6}"/>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0" name="object 10">
            <a:extLst>
              <a:ext uri="{FF2B5EF4-FFF2-40B4-BE49-F238E27FC236}">
                <a16:creationId xmlns:a16="http://schemas.microsoft.com/office/drawing/2014/main" id="{345E6D4A-1A7B-F8B5-463F-CD0DB56E928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21</a:t>
            </a:fld>
            <a:endParaRPr spc="-25" dirty="0"/>
          </a:p>
        </p:txBody>
      </p:sp>
      <p:pic>
        <p:nvPicPr>
          <p:cNvPr id="12" name="Picture 11">
            <a:extLst>
              <a:ext uri="{FF2B5EF4-FFF2-40B4-BE49-F238E27FC236}">
                <a16:creationId xmlns:a16="http://schemas.microsoft.com/office/drawing/2014/main" id="{46C78838-76E1-8F69-5324-337C3E302E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810069"/>
            <a:ext cx="5418667" cy="3048000"/>
          </a:xfrm>
          <a:prstGeom prst="rect">
            <a:avLst/>
          </a:prstGeom>
        </p:spPr>
      </p:pic>
      <p:pic>
        <p:nvPicPr>
          <p:cNvPr id="14" name="Picture 13">
            <a:extLst>
              <a:ext uri="{FF2B5EF4-FFF2-40B4-BE49-F238E27FC236}">
                <a16:creationId xmlns:a16="http://schemas.microsoft.com/office/drawing/2014/main" id="{77C9DEB8-144D-19DD-6849-C0D71D5D27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1" y="1776541"/>
            <a:ext cx="5509006" cy="3098816"/>
          </a:xfrm>
          <a:prstGeom prst="rect">
            <a:avLst/>
          </a:prstGeom>
        </p:spPr>
      </p:pic>
    </p:spTree>
    <p:extLst>
      <p:ext uri="{BB962C8B-B14F-4D97-AF65-F5344CB8AC3E}">
        <p14:creationId xmlns:p14="http://schemas.microsoft.com/office/powerpoint/2010/main" val="350462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C3D8F-C1AC-2DF6-B0EE-06F4CA0EAE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26A2FD-02CD-918A-08C5-2A2B7A292C27}"/>
              </a:ext>
            </a:extLst>
          </p:cNvPr>
          <p:cNvSpPr txBox="1">
            <a:spLocks noGrp="1"/>
          </p:cNvSpPr>
          <p:nvPr>
            <p:ph type="title"/>
          </p:nvPr>
        </p:nvSpPr>
        <p:spPr>
          <a:xfrm>
            <a:off x="1514411" y="682309"/>
            <a:ext cx="9665970" cy="689291"/>
          </a:xfrm>
          <a:prstGeom prst="rect">
            <a:avLst/>
          </a:prstGeom>
        </p:spPr>
        <p:txBody>
          <a:bodyPr vert="horz" wrap="square" lIns="0" tIns="12065" rIns="0" bIns="0" rtlCol="0">
            <a:spAutoFit/>
          </a:bodyPr>
          <a:lstStyle/>
          <a:p>
            <a:pPr marL="1884680" algn="l">
              <a:lnSpc>
                <a:spcPct val="100000"/>
              </a:lnSpc>
              <a:spcBef>
                <a:spcPts val="95"/>
              </a:spcBef>
            </a:pPr>
            <a:r>
              <a:rPr lang="en-US" spc="-35" dirty="0"/>
              <a:t>USER INTERFACE’S</a:t>
            </a:r>
            <a:endParaRPr spc="-10" dirty="0"/>
          </a:p>
        </p:txBody>
      </p:sp>
      <p:sp>
        <p:nvSpPr>
          <p:cNvPr id="7" name="object 7">
            <a:extLst>
              <a:ext uri="{FF2B5EF4-FFF2-40B4-BE49-F238E27FC236}">
                <a16:creationId xmlns:a16="http://schemas.microsoft.com/office/drawing/2014/main" id="{CF6149C8-8689-0E04-93C8-078BC196D0DA}"/>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8" name="object 8">
            <a:extLst>
              <a:ext uri="{FF2B5EF4-FFF2-40B4-BE49-F238E27FC236}">
                <a16:creationId xmlns:a16="http://schemas.microsoft.com/office/drawing/2014/main" id="{F606BB30-59F9-B38E-52AC-A36C12124C2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9" name="object 9">
            <a:extLst>
              <a:ext uri="{FF2B5EF4-FFF2-40B4-BE49-F238E27FC236}">
                <a16:creationId xmlns:a16="http://schemas.microsoft.com/office/drawing/2014/main" id="{D6B1C401-109E-B168-01BC-FF59E6767D43}"/>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0" name="object 10">
            <a:extLst>
              <a:ext uri="{FF2B5EF4-FFF2-40B4-BE49-F238E27FC236}">
                <a16:creationId xmlns:a16="http://schemas.microsoft.com/office/drawing/2014/main" id="{43C4F2D1-7ACF-2FC7-EC5E-8FA4AEA4964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22</a:t>
            </a:fld>
            <a:endParaRPr spc="-25" dirty="0"/>
          </a:p>
        </p:txBody>
      </p:sp>
      <p:pic>
        <p:nvPicPr>
          <p:cNvPr id="4" name="Picture 3">
            <a:extLst>
              <a:ext uri="{FF2B5EF4-FFF2-40B4-BE49-F238E27FC236}">
                <a16:creationId xmlns:a16="http://schemas.microsoft.com/office/drawing/2014/main" id="{19CC45E9-858A-622A-E24D-2D8DC1A76E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1752600"/>
            <a:ext cx="6637867" cy="3733800"/>
          </a:xfrm>
          <a:prstGeom prst="rect">
            <a:avLst/>
          </a:prstGeom>
        </p:spPr>
      </p:pic>
    </p:spTree>
    <p:extLst>
      <p:ext uri="{BB962C8B-B14F-4D97-AF65-F5344CB8AC3E}">
        <p14:creationId xmlns:p14="http://schemas.microsoft.com/office/powerpoint/2010/main" val="2991766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4DA5-932D-556E-E64C-5D39B54C74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AFDBBC-B252-1C19-C75B-98EBFBBCB687}"/>
              </a:ext>
            </a:extLst>
          </p:cNvPr>
          <p:cNvSpPr txBox="1">
            <a:spLocks noGrp="1"/>
          </p:cNvSpPr>
          <p:nvPr>
            <p:ph type="title"/>
          </p:nvPr>
        </p:nvSpPr>
        <p:spPr>
          <a:xfrm>
            <a:off x="1674113" y="685800"/>
            <a:ext cx="9665970" cy="689291"/>
          </a:xfrm>
          <a:prstGeom prst="rect">
            <a:avLst/>
          </a:prstGeom>
        </p:spPr>
        <p:txBody>
          <a:bodyPr vert="horz" wrap="square" lIns="0" tIns="12065" rIns="0" bIns="0" rtlCol="0">
            <a:spAutoFit/>
          </a:bodyPr>
          <a:lstStyle/>
          <a:p>
            <a:pPr marL="1884680" algn="l">
              <a:lnSpc>
                <a:spcPct val="100000"/>
              </a:lnSpc>
              <a:spcBef>
                <a:spcPts val="95"/>
              </a:spcBef>
            </a:pPr>
            <a:r>
              <a:rPr lang="en-US" spc="-35" dirty="0"/>
              <a:t>USER INTERFACE’S</a:t>
            </a:r>
            <a:endParaRPr spc="-10" dirty="0"/>
          </a:p>
        </p:txBody>
      </p:sp>
      <p:sp>
        <p:nvSpPr>
          <p:cNvPr id="7" name="object 7">
            <a:extLst>
              <a:ext uri="{FF2B5EF4-FFF2-40B4-BE49-F238E27FC236}">
                <a16:creationId xmlns:a16="http://schemas.microsoft.com/office/drawing/2014/main" id="{247E87FF-C633-DFD6-0518-0629A713BE1D}"/>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8" name="object 8">
            <a:extLst>
              <a:ext uri="{FF2B5EF4-FFF2-40B4-BE49-F238E27FC236}">
                <a16:creationId xmlns:a16="http://schemas.microsoft.com/office/drawing/2014/main" id="{B49F9FB2-7E28-D82F-2175-8FE384666447}"/>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9" name="object 9">
            <a:extLst>
              <a:ext uri="{FF2B5EF4-FFF2-40B4-BE49-F238E27FC236}">
                <a16:creationId xmlns:a16="http://schemas.microsoft.com/office/drawing/2014/main" id="{0AD572FB-60EE-61A6-913F-7B91603A26D1}"/>
              </a:ext>
            </a:extLst>
          </p:cNvPr>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0" name="object 10">
            <a:extLst>
              <a:ext uri="{FF2B5EF4-FFF2-40B4-BE49-F238E27FC236}">
                <a16:creationId xmlns:a16="http://schemas.microsoft.com/office/drawing/2014/main" id="{8CB40C29-86B1-7114-0AAE-B1E8858D319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23</a:t>
            </a:fld>
            <a:endParaRPr spc="-25" dirty="0"/>
          </a:p>
        </p:txBody>
      </p:sp>
      <p:pic>
        <p:nvPicPr>
          <p:cNvPr id="5" name="Picture 4">
            <a:extLst>
              <a:ext uri="{FF2B5EF4-FFF2-40B4-BE49-F238E27FC236}">
                <a16:creationId xmlns:a16="http://schemas.microsoft.com/office/drawing/2014/main" id="{F896B65C-C3A3-0B70-6915-1453AD3E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821656"/>
            <a:ext cx="5715000" cy="3214688"/>
          </a:xfrm>
          <a:prstGeom prst="rect">
            <a:avLst/>
          </a:prstGeom>
        </p:spPr>
      </p:pic>
      <p:pic>
        <p:nvPicPr>
          <p:cNvPr id="11" name="Picture 10">
            <a:extLst>
              <a:ext uri="{FF2B5EF4-FFF2-40B4-BE49-F238E27FC236}">
                <a16:creationId xmlns:a16="http://schemas.microsoft.com/office/drawing/2014/main" id="{1E6ABC86-11ED-DEB0-ED0B-C950EEC1CC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4348" y="1821657"/>
            <a:ext cx="5715000" cy="3214687"/>
          </a:xfrm>
          <a:prstGeom prst="rect">
            <a:avLst/>
          </a:prstGeom>
        </p:spPr>
      </p:pic>
    </p:spTree>
    <p:extLst>
      <p:ext uri="{BB962C8B-B14F-4D97-AF65-F5344CB8AC3E}">
        <p14:creationId xmlns:p14="http://schemas.microsoft.com/office/powerpoint/2010/main" val="3347868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210B-11E8-B632-027E-79A4C6B48D5B}"/>
              </a:ext>
            </a:extLst>
          </p:cNvPr>
          <p:cNvSpPr>
            <a:spLocks noGrp="1"/>
          </p:cNvSpPr>
          <p:nvPr>
            <p:ph type="title"/>
          </p:nvPr>
        </p:nvSpPr>
        <p:spPr>
          <a:xfrm>
            <a:off x="1392682" y="552399"/>
            <a:ext cx="9665970" cy="615553"/>
          </a:xfrm>
        </p:spPr>
        <p:txBody>
          <a:bodyPr/>
          <a:lstStyle/>
          <a:p>
            <a:pPr algn="ctr"/>
            <a:r>
              <a:rPr lang="en-US" sz="4000" dirty="0"/>
              <a:t>COMPARISON OF MODELS</a:t>
            </a:r>
          </a:p>
        </p:txBody>
      </p:sp>
      <p:sp>
        <p:nvSpPr>
          <p:cNvPr id="3" name="Text Placeholder 2">
            <a:extLst>
              <a:ext uri="{FF2B5EF4-FFF2-40B4-BE49-F238E27FC236}">
                <a16:creationId xmlns:a16="http://schemas.microsoft.com/office/drawing/2014/main" id="{EDEA5321-6DC2-9608-ECE5-E7EB93E9C32D}"/>
              </a:ext>
            </a:extLst>
          </p:cNvPr>
          <p:cNvSpPr>
            <a:spLocks noGrp="1"/>
          </p:cNvSpPr>
          <p:nvPr>
            <p:ph type="body" idx="1"/>
          </p:nvPr>
        </p:nvSpPr>
        <p:spPr>
          <a:xfrm>
            <a:off x="663004" y="1229507"/>
            <a:ext cx="11125325" cy="5262979"/>
          </a:xfrm>
        </p:spPr>
        <p:txBody>
          <a:bodyPr/>
          <a:lstStyle/>
          <a:p>
            <a:pPr algn="just"/>
            <a:r>
              <a:rPr lang="en-US" b="1" dirty="0">
                <a:latin typeface="Times New Roman" panose="02020603050405020304" pitchFamily="18" charset="0"/>
                <a:cs typeface="Times New Roman" panose="02020603050405020304" pitchFamily="18" charset="0"/>
              </a:rPr>
              <a:t>🔍 Performance Comparison Overview</a:t>
            </a:r>
          </a:p>
          <a:p>
            <a:pPr algn="just"/>
            <a:r>
              <a:rPr lang="en-US" dirty="0">
                <a:latin typeface="Times New Roman" panose="02020603050405020304" pitchFamily="18" charset="0"/>
                <a:cs typeface="Times New Roman" panose="02020603050405020304" pitchFamily="18" charset="0"/>
              </a:rPr>
              <a:t>The proposed </a:t>
            </a:r>
            <a:r>
              <a:rPr lang="en-US" b="1" dirty="0">
                <a:latin typeface="Times New Roman" panose="02020603050405020304" pitchFamily="18" charset="0"/>
                <a:cs typeface="Times New Roman" panose="02020603050405020304" pitchFamily="18" charset="0"/>
              </a:rPr>
              <a:t>Hybrid BERT + Metadata model</a:t>
            </a:r>
            <a:r>
              <a:rPr lang="en-US" dirty="0">
                <a:latin typeface="Times New Roman" panose="02020603050405020304" pitchFamily="18" charset="0"/>
                <a:cs typeface="Times New Roman" panose="02020603050405020304" pitchFamily="18" charset="0"/>
              </a:rPr>
              <a:t> consistently outperforms traditional single-source models.</a:t>
            </a:r>
          </a:p>
          <a:p>
            <a:pPr algn="just"/>
            <a:r>
              <a:rPr lang="en-US" dirty="0">
                <a:latin typeface="Times New Roman" panose="02020603050405020304" pitchFamily="18" charset="0"/>
                <a:cs typeface="Times New Roman" panose="02020603050405020304" pitchFamily="18" charset="0"/>
              </a:rPr>
              <a:t>By combining </a:t>
            </a:r>
            <a:r>
              <a:rPr lang="en-US" b="1" dirty="0">
                <a:latin typeface="Times New Roman" panose="02020603050405020304" pitchFamily="18" charset="0"/>
                <a:cs typeface="Times New Roman" panose="02020603050405020304" pitchFamily="18" charset="0"/>
              </a:rPr>
              <a:t>textual understanding</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user behavioral signals</a:t>
            </a:r>
            <a:r>
              <a:rPr lang="en-US" dirty="0">
                <a:latin typeface="Times New Roman" panose="02020603050405020304" pitchFamily="18" charset="0"/>
                <a:cs typeface="Times New Roman" panose="02020603050405020304" pitchFamily="18" charset="0"/>
              </a:rPr>
              <a:t>, the model achieves more reliable bot detection.</a:t>
            </a:r>
          </a:p>
          <a:p>
            <a:pPr algn="just"/>
            <a:r>
              <a:rPr lang="en-US" b="1" dirty="0">
                <a:latin typeface="Times New Roman" panose="02020603050405020304" pitchFamily="18" charset="0"/>
                <a:cs typeface="Times New Roman" panose="02020603050405020304" pitchFamily="18" charset="0"/>
              </a:rPr>
              <a:t>🧠 Compared Models</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BERT-Only Model (90% accuracy)</a:t>
            </a: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tweet text alone</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Strong linguistic understanding</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Fails to capture user behavior patterns</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Roberta Baseline (92% accuracy)</a:t>
            </a: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pre-training over BERT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contextual embeddings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Still ignores profile-level metadata</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Proposed Hybrid Model (94% accuracy)</a:t>
            </a: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Text branch: BERT embeddings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Metadata branch: MLP on user profile features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Fusion layer learns joint representation</a:t>
            </a:r>
          </a:p>
          <a:p>
            <a:endParaRPr lang="en-US" dirty="0"/>
          </a:p>
        </p:txBody>
      </p:sp>
    </p:spTree>
    <p:extLst>
      <p:ext uri="{BB962C8B-B14F-4D97-AF65-F5344CB8AC3E}">
        <p14:creationId xmlns:p14="http://schemas.microsoft.com/office/powerpoint/2010/main" val="4183560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730C-266A-7A3E-9D3C-5B0B2FE35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17122-A947-69F3-80EA-EDB549D8A4A0}"/>
              </a:ext>
            </a:extLst>
          </p:cNvPr>
          <p:cNvSpPr>
            <a:spLocks noGrp="1"/>
          </p:cNvSpPr>
          <p:nvPr>
            <p:ph type="title"/>
          </p:nvPr>
        </p:nvSpPr>
        <p:spPr>
          <a:xfrm>
            <a:off x="1392682" y="552399"/>
            <a:ext cx="9665970" cy="553998"/>
          </a:xfrm>
        </p:spPr>
        <p:txBody>
          <a:bodyPr/>
          <a:lstStyle/>
          <a:p>
            <a:pPr algn="ctr"/>
            <a:r>
              <a:rPr lang="en-US" sz="3600" dirty="0"/>
              <a:t>ADVANTAGES OF PROPOSED SYSTEM</a:t>
            </a:r>
          </a:p>
        </p:txBody>
      </p:sp>
      <p:sp>
        <p:nvSpPr>
          <p:cNvPr id="3" name="Text Placeholder 2">
            <a:extLst>
              <a:ext uri="{FF2B5EF4-FFF2-40B4-BE49-F238E27FC236}">
                <a16:creationId xmlns:a16="http://schemas.microsoft.com/office/drawing/2014/main" id="{8C89F154-6576-7213-DEAE-D97ED339412E}"/>
              </a:ext>
            </a:extLst>
          </p:cNvPr>
          <p:cNvSpPr>
            <a:spLocks noGrp="1"/>
          </p:cNvSpPr>
          <p:nvPr>
            <p:ph type="body" idx="1"/>
          </p:nvPr>
        </p:nvSpPr>
        <p:spPr>
          <a:xfrm>
            <a:off x="663004" y="1229507"/>
            <a:ext cx="11125325" cy="5262979"/>
          </a:xfrm>
        </p:spPr>
        <p:txBody>
          <a:bodyPr/>
          <a:lstStyle/>
          <a:p>
            <a:pPr algn="just"/>
            <a:r>
              <a:rPr lang="en-US" b="1" dirty="0"/>
              <a:t>🔗 Hybrid Feature Learning</a:t>
            </a:r>
          </a:p>
          <a:p>
            <a:pPr algn="just"/>
            <a:r>
              <a:rPr lang="en-US" dirty="0"/>
              <a:t>Combines </a:t>
            </a:r>
            <a:r>
              <a:rPr lang="en-US" b="1" dirty="0"/>
              <a:t>semantic text features</a:t>
            </a:r>
            <a:r>
              <a:rPr lang="en-US" dirty="0"/>
              <a:t> with </a:t>
            </a:r>
            <a:r>
              <a:rPr lang="en-US" b="1" dirty="0"/>
              <a:t>user behavioral metadata</a:t>
            </a:r>
            <a:endParaRPr lang="en-US" dirty="0"/>
          </a:p>
          <a:p>
            <a:pPr algn="just"/>
            <a:r>
              <a:rPr lang="en-US" dirty="0"/>
              <a:t>Captures both </a:t>
            </a:r>
            <a:r>
              <a:rPr lang="en-US" i="1" dirty="0"/>
              <a:t>what is written</a:t>
            </a:r>
            <a:r>
              <a:rPr lang="en-US" dirty="0"/>
              <a:t> and </a:t>
            </a:r>
            <a:r>
              <a:rPr lang="en-US" i="1" dirty="0"/>
              <a:t>how the account behaves</a:t>
            </a:r>
            <a:endParaRPr lang="en-US" dirty="0"/>
          </a:p>
          <a:p>
            <a:pPr algn="just"/>
            <a:r>
              <a:rPr lang="en-US" dirty="0"/>
              <a:t>Fusion learning improves decision-making over single-source models</a:t>
            </a:r>
          </a:p>
          <a:p>
            <a:pPr algn="just"/>
            <a:r>
              <a:rPr lang="en-US" b="1" dirty="0"/>
              <a:t>🛡️ Robust Against Evolving Bots</a:t>
            </a:r>
          </a:p>
          <a:p>
            <a:pPr algn="just"/>
            <a:r>
              <a:rPr lang="en-US" dirty="0"/>
              <a:t>Text-only bots and behavior-only bots are both detected effectively</a:t>
            </a:r>
          </a:p>
          <a:p>
            <a:pPr algn="just"/>
            <a:r>
              <a:rPr lang="en-US" dirty="0"/>
              <a:t>Adaptive bots that mimic human language are exposed via metadata</a:t>
            </a:r>
          </a:p>
          <a:p>
            <a:pPr algn="just"/>
            <a:r>
              <a:rPr lang="en-US" dirty="0"/>
              <a:t>Behavioral signals remain difficult for bots to fully disguise</a:t>
            </a:r>
          </a:p>
          <a:p>
            <a:pPr algn="just"/>
            <a:r>
              <a:rPr lang="en-US" b="1" dirty="0"/>
              <a:t>🌍 Better Generalization Capability</a:t>
            </a:r>
          </a:p>
          <a:p>
            <a:pPr algn="just"/>
            <a:r>
              <a:rPr lang="en-US" dirty="0"/>
              <a:t>Performs consistently across unseen users and test data</a:t>
            </a:r>
          </a:p>
          <a:p>
            <a:pPr algn="just"/>
            <a:r>
              <a:rPr lang="en-US" dirty="0"/>
              <a:t>Less sensitive to noisy or incomplete tweet text</a:t>
            </a:r>
          </a:p>
          <a:p>
            <a:pPr algn="just"/>
            <a:r>
              <a:rPr lang="en-US" dirty="0"/>
              <a:t>Avoids overfitting by learning complementary feature representations</a:t>
            </a:r>
          </a:p>
          <a:p>
            <a:pPr algn="just"/>
            <a:r>
              <a:rPr lang="en-US" b="1" dirty="0"/>
              <a:t>🚀 Suitable for Real-World Deployment</a:t>
            </a:r>
          </a:p>
          <a:p>
            <a:pPr algn="just"/>
            <a:r>
              <a:rPr lang="en-US" dirty="0"/>
              <a:t>Supports </a:t>
            </a:r>
            <a:r>
              <a:rPr lang="en-US" b="1" dirty="0"/>
              <a:t>real-time prediction</a:t>
            </a:r>
            <a:r>
              <a:rPr lang="en-US" dirty="0"/>
              <a:t> using Flask + React architecture</a:t>
            </a:r>
          </a:p>
          <a:p>
            <a:pPr algn="just"/>
            <a:r>
              <a:rPr lang="en-US" dirty="0"/>
              <a:t>Scalable to large-scale social media datasets</a:t>
            </a:r>
          </a:p>
          <a:p>
            <a:pPr algn="just"/>
            <a:r>
              <a:rPr lang="en-US" dirty="0"/>
              <a:t>Easily extendable to other platforms beyond Twitter</a:t>
            </a:r>
          </a:p>
          <a:p>
            <a:pPr algn="just"/>
            <a:r>
              <a:rPr lang="en-US" dirty="0"/>
              <a:t>Practical for use by organizations, platforms, and researchers</a:t>
            </a:r>
          </a:p>
        </p:txBody>
      </p:sp>
    </p:spTree>
    <p:extLst>
      <p:ext uri="{BB962C8B-B14F-4D97-AF65-F5344CB8AC3E}">
        <p14:creationId xmlns:p14="http://schemas.microsoft.com/office/powerpoint/2010/main" val="807830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288F2-FEDC-E1B8-5BA1-E9563FA4E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E3028-6486-F07B-6254-BB12165B252E}"/>
              </a:ext>
            </a:extLst>
          </p:cNvPr>
          <p:cNvSpPr>
            <a:spLocks noGrp="1"/>
          </p:cNvSpPr>
          <p:nvPr>
            <p:ph type="title"/>
          </p:nvPr>
        </p:nvSpPr>
        <p:spPr>
          <a:xfrm>
            <a:off x="1392682" y="552399"/>
            <a:ext cx="9665970" cy="553998"/>
          </a:xfrm>
        </p:spPr>
        <p:txBody>
          <a:bodyPr/>
          <a:lstStyle/>
          <a:p>
            <a:pPr algn="ctr"/>
            <a:r>
              <a:rPr lang="en-US" sz="3600" dirty="0"/>
              <a:t>LIMITATIONS</a:t>
            </a:r>
          </a:p>
        </p:txBody>
      </p:sp>
      <p:sp>
        <p:nvSpPr>
          <p:cNvPr id="3" name="Text Placeholder 2">
            <a:extLst>
              <a:ext uri="{FF2B5EF4-FFF2-40B4-BE49-F238E27FC236}">
                <a16:creationId xmlns:a16="http://schemas.microsoft.com/office/drawing/2014/main" id="{6DF25DFE-A297-9227-2661-CDF70B87E6FC}"/>
              </a:ext>
            </a:extLst>
          </p:cNvPr>
          <p:cNvSpPr>
            <a:spLocks noGrp="1"/>
          </p:cNvSpPr>
          <p:nvPr>
            <p:ph type="body" idx="1"/>
          </p:nvPr>
        </p:nvSpPr>
        <p:spPr>
          <a:xfrm>
            <a:off x="663004" y="1229507"/>
            <a:ext cx="11125325" cy="4924425"/>
          </a:xfrm>
        </p:spPr>
        <p:txBody>
          <a:bodyPr/>
          <a:lstStyle/>
          <a:p>
            <a:r>
              <a:rPr lang="en-US" b="1" dirty="0"/>
              <a:t>🌐 Language Dependency</a:t>
            </a:r>
          </a:p>
          <a:p>
            <a:r>
              <a:rPr lang="en-US" dirty="0"/>
              <a:t>The current model is trained primarily on </a:t>
            </a:r>
            <a:r>
              <a:rPr lang="en-US" b="1" dirty="0"/>
              <a:t>English-language tweets</a:t>
            </a:r>
            <a:endParaRPr lang="en-US" dirty="0"/>
          </a:p>
          <a:p>
            <a:r>
              <a:rPr lang="en-US" dirty="0"/>
              <a:t>Performance may degrade for multilingual or code-mixed content</a:t>
            </a:r>
          </a:p>
          <a:p>
            <a:r>
              <a:rPr lang="en-US" dirty="0"/>
              <a:t>Requires additional language models for wider linguistic coverage</a:t>
            </a:r>
          </a:p>
          <a:p>
            <a:r>
              <a:rPr lang="en-US" b="1" dirty="0"/>
              <a:t>🔌 API Dependency</a:t>
            </a:r>
          </a:p>
          <a:p>
            <a:r>
              <a:rPr lang="en-US" dirty="0"/>
              <a:t>Real-time prediction relies on </a:t>
            </a:r>
            <a:r>
              <a:rPr lang="en-US" b="1" dirty="0"/>
              <a:t>Twitter/X API access</a:t>
            </a:r>
            <a:endParaRPr lang="en-US" dirty="0"/>
          </a:p>
          <a:p>
            <a:r>
              <a:rPr lang="en-US" dirty="0"/>
              <a:t>API rate limits and policy changes may affect data availability</a:t>
            </a:r>
          </a:p>
          <a:p>
            <a:r>
              <a:rPr lang="en-US" dirty="0"/>
              <a:t>System functionality depends on continuous platform support</a:t>
            </a:r>
          </a:p>
          <a:p>
            <a:r>
              <a:rPr lang="en-US" b="1" dirty="0"/>
              <a:t>💻 High Computational Cost</a:t>
            </a:r>
          </a:p>
          <a:p>
            <a:r>
              <a:rPr lang="en-US" dirty="0"/>
              <a:t>Transformer-based models like BERT require significant memory and processing power</a:t>
            </a:r>
          </a:p>
          <a:p>
            <a:r>
              <a:rPr lang="en-US" dirty="0"/>
              <a:t>Training and inference are computationally expensive</a:t>
            </a:r>
          </a:p>
          <a:p>
            <a:r>
              <a:rPr lang="en-US" dirty="0"/>
              <a:t>Deployment may require GPUs or optimized cloud infrastructure</a:t>
            </a:r>
          </a:p>
          <a:p>
            <a:r>
              <a:rPr lang="en-US" b="1" dirty="0"/>
              <a:t>🧠 Evolving Bot Strategies</a:t>
            </a:r>
          </a:p>
          <a:p>
            <a:r>
              <a:rPr lang="en-US" dirty="0"/>
              <a:t>Bots continuously adapt to evade detection mechanisms</a:t>
            </a:r>
          </a:p>
          <a:p>
            <a:r>
              <a:rPr lang="en-US" dirty="0"/>
              <a:t>New bot behaviors may reduce effectiveness over time</a:t>
            </a:r>
          </a:p>
          <a:p>
            <a:r>
              <a:rPr lang="en-US" dirty="0"/>
              <a:t>Periodic retraining and feature updates are necessary</a:t>
            </a:r>
          </a:p>
        </p:txBody>
      </p:sp>
    </p:spTree>
    <p:extLst>
      <p:ext uri="{BB962C8B-B14F-4D97-AF65-F5344CB8AC3E}">
        <p14:creationId xmlns:p14="http://schemas.microsoft.com/office/powerpoint/2010/main" val="3564220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8536" y="579441"/>
            <a:ext cx="9249410" cy="566181"/>
          </a:xfrm>
          <a:prstGeom prst="rect">
            <a:avLst/>
          </a:prstGeom>
        </p:spPr>
        <p:txBody>
          <a:bodyPr vert="horz" wrap="square" lIns="0" tIns="12065" rIns="0" bIns="0" rtlCol="0">
            <a:spAutoFit/>
          </a:bodyPr>
          <a:lstStyle/>
          <a:p>
            <a:pPr marL="12700">
              <a:lnSpc>
                <a:spcPct val="100000"/>
              </a:lnSpc>
              <a:spcBef>
                <a:spcPts val="95"/>
              </a:spcBef>
            </a:pPr>
            <a:r>
              <a:rPr sz="3600" spc="-20" dirty="0"/>
              <a:t>CONCLUSION</a:t>
            </a:r>
            <a:r>
              <a:rPr sz="3600" spc="-175" dirty="0"/>
              <a:t> </a:t>
            </a:r>
            <a:r>
              <a:rPr sz="3600" dirty="0"/>
              <a:t>and</a:t>
            </a:r>
            <a:r>
              <a:rPr sz="3600" spc="-190" dirty="0"/>
              <a:t> </a:t>
            </a:r>
            <a:r>
              <a:rPr sz="3600" spc="-10" dirty="0"/>
              <a:t>FUTURE</a:t>
            </a:r>
            <a:r>
              <a:rPr sz="3600" spc="-210" dirty="0"/>
              <a:t> </a:t>
            </a:r>
            <a:r>
              <a:rPr sz="3600" spc="-10" dirty="0"/>
              <a:t>SCOPE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27</a:t>
            </a:fld>
            <a:endParaRPr spc="-25" dirty="0"/>
          </a:p>
        </p:txBody>
      </p:sp>
      <p:sp>
        <p:nvSpPr>
          <p:cNvPr id="3" name="object 3"/>
          <p:cNvSpPr txBox="1"/>
          <p:nvPr/>
        </p:nvSpPr>
        <p:spPr>
          <a:xfrm>
            <a:off x="871524" y="1318412"/>
            <a:ext cx="10996422" cy="4427494"/>
          </a:xfrm>
          <a:prstGeom prst="rect">
            <a:avLst/>
          </a:prstGeom>
        </p:spPr>
        <p:txBody>
          <a:bodyPr vert="horz" wrap="square" lIns="0" tIns="13335" rIns="0" bIns="0" rtlCol="0">
            <a:spAutoFit/>
          </a:bodyPr>
          <a:lstStyle/>
          <a:p>
            <a:pPr marL="12700" algn="l">
              <a:lnSpc>
                <a:spcPct val="100000"/>
              </a:lnSpc>
              <a:spcBef>
                <a:spcPts val="105"/>
              </a:spcBef>
            </a:pPr>
            <a:r>
              <a:rPr sz="2200" b="1" dirty="0">
                <a:latin typeface="Times New Roman"/>
                <a:cs typeface="Times New Roman"/>
              </a:rPr>
              <a:t>Key</a:t>
            </a:r>
            <a:r>
              <a:rPr sz="2200" b="1" spc="-15" dirty="0">
                <a:latin typeface="Times New Roman"/>
                <a:cs typeface="Times New Roman"/>
              </a:rPr>
              <a:t> </a:t>
            </a:r>
            <a:r>
              <a:rPr sz="2200" b="1" spc="-10" dirty="0">
                <a:latin typeface="Times New Roman"/>
                <a:cs typeface="Times New Roman"/>
              </a:rPr>
              <a:t>Findings</a:t>
            </a:r>
            <a:endParaRPr sz="2200" dirty="0">
              <a:latin typeface="Times New Roman"/>
              <a:cs typeface="Times New Roman"/>
            </a:endParaRPr>
          </a:p>
          <a:p>
            <a:pPr marL="356870" indent="-344170" algn="l">
              <a:lnSpc>
                <a:spcPct val="100000"/>
              </a:lnSpc>
              <a:buFont typeface="Arial MT"/>
              <a:buChar char="•"/>
              <a:tabLst>
                <a:tab pos="356870" algn="l"/>
              </a:tabLst>
            </a:pPr>
            <a:r>
              <a:rPr sz="2200" dirty="0">
                <a:latin typeface="Times New Roman"/>
                <a:cs typeface="Times New Roman"/>
              </a:rPr>
              <a:t>Achieved</a:t>
            </a:r>
            <a:r>
              <a:rPr sz="2200" spc="-25" dirty="0">
                <a:latin typeface="Times New Roman"/>
                <a:cs typeface="Times New Roman"/>
              </a:rPr>
              <a:t> </a:t>
            </a:r>
            <a:r>
              <a:rPr sz="2200" b="1" dirty="0">
                <a:latin typeface="Times New Roman"/>
                <a:cs typeface="Times New Roman"/>
              </a:rPr>
              <a:t>94.3%</a:t>
            </a:r>
            <a:r>
              <a:rPr sz="2200" b="1" spc="-30" dirty="0">
                <a:latin typeface="Times New Roman"/>
                <a:cs typeface="Times New Roman"/>
              </a:rPr>
              <a:t> </a:t>
            </a:r>
            <a:r>
              <a:rPr sz="2200" b="1" dirty="0">
                <a:latin typeface="Times New Roman"/>
                <a:cs typeface="Times New Roman"/>
              </a:rPr>
              <a:t>accuracy</a:t>
            </a:r>
            <a:r>
              <a:rPr sz="2200" b="1" spc="-45" dirty="0">
                <a:latin typeface="Times New Roman"/>
                <a:cs typeface="Times New Roman"/>
              </a:rPr>
              <a:t> </a:t>
            </a:r>
            <a:r>
              <a:rPr sz="2200" dirty="0">
                <a:latin typeface="Times New Roman"/>
                <a:cs typeface="Times New Roman"/>
              </a:rPr>
              <a:t>and</a:t>
            </a:r>
            <a:r>
              <a:rPr sz="2200" spc="-20" dirty="0">
                <a:latin typeface="Times New Roman"/>
                <a:cs typeface="Times New Roman"/>
              </a:rPr>
              <a:t> </a:t>
            </a:r>
            <a:r>
              <a:rPr sz="2200" b="1" dirty="0">
                <a:latin typeface="Times New Roman"/>
                <a:cs typeface="Times New Roman"/>
              </a:rPr>
              <a:t>F1-score</a:t>
            </a:r>
            <a:r>
              <a:rPr sz="2200" b="1" spc="-75" dirty="0">
                <a:latin typeface="Times New Roman"/>
                <a:cs typeface="Times New Roman"/>
              </a:rPr>
              <a:t> </a:t>
            </a:r>
            <a:r>
              <a:rPr sz="2200" b="1" dirty="0">
                <a:latin typeface="Times New Roman"/>
                <a:cs typeface="Times New Roman"/>
              </a:rPr>
              <a:t>of</a:t>
            </a:r>
            <a:r>
              <a:rPr sz="2200" b="1" spc="-20" dirty="0">
                <a:latin typeface="Times New Roman"/>
                <a:cs typeface="Times New Roman"/>
              </a:rPr>
              <a:t> </a:t>
            </a:r>
            <a:r>
              <a:rPr sz="2200" b="1" dirty="0">
                <a:latin typeface="Times New Roman"/>
                <a:cs typeface="Times New Roman"/>
              </a:rPr>
              <a:t>0.935 </a:t>
            </a:r>
            <a:r>
              <a:rPr sz="2200" dirty="0">
                <a:latin typeface="Times New Roman"/>
                <a:cs typeface="Times New Roman"/>
              </a:rPr>
              <a:t>on</a:t>
            </a:r>
            <a:r>
              <a:rPr sz="2200" spc="-20" dirty="0">
                <a:latin typeface="Times New Roman"/>
                <a:cs typeface="Times New Roman"/>
              </a:rPr>
              <a:t> </a:t>
            </a:r>
            <a:r>
              <a:rPr sz="2200" spc="-10" dirty="0">
                <a:latin typeface="Times New Roman"/>
                <a:cs typeface="Times New Roman"/>
              </a:rPr>
              <a:t>TwiBot-</a:t>
            </a:r>
            <a:r>
              <a:rPr sz="2200" dirty="0">
                <a:latin typeface="Times New Roman"/>
                <a:cs typeface="Times New Roman"/>
              </a:rPr>
              <a:t>20 </a:t>
            </a:r>
            <a:r>
              <a:rPr sz="2200" spc="-10" dirty="0">
                <a:latin typeface="Times New Roman"/>
                <a:cs typeface="Times New Roman"/>
              </a:rPr>
              <a:t>dataset.</a:t>
            </a:r>
            <a:endParaRPr sz="2200" dirty="0">
              <a:latin typeface="Times New Roman"/>
              <a:cs typeface="Times New Roman"/>
            </a:endParaRPr>
          </a:p>
          <a:p>
            <a:pPr marL="356870" indent="-344170" algn="l">
              <a:lnSpc>
                <a:spcPct val="100000"/>
              </a:lnSpc>
              <a:spcBef>
                <a:spcPts val="5"/>
              </a:spcBef>
              <a:buFont typeface="Arial MT"/>
              <a:buChar char="•"/>
              <a:tabLst>
                <a:tab pos="356870" algn="l"/>
              </a:tabLst>
            </a:pPr>
            <a:r>
              <a:rPr sz="2200" b="1" dirty="0">
                <a:latin typeface="Times New Roman"/>
                <a:cs typeface="Times New Roman"/>
              </a:rPr>
              <a:t>Hybrid</a:t>
            </a:r>
            <a:r>
              <a:rPr sz="2200" b="1" spc="-55" dirty="0">
                <a:latin typeface="Times New Roman"/>
                <a:cs typeface="Times New Roman"/>
              </a:rPr>
              <a:t> </a:t>
            </a:r>
            <a:r>
              <a:rPr sz="2200" b="1" dirty="0">
                <a:latin typeface="Times New Roman"/>
                <a:cs typeface="Times New Roman"/>
              </a:rPr>
              <a:t>BERT</a:t>
            </a:r>
            <a:r>
              <a:rPr sz="2200" b="1" spc="-35" dirty="0">
                <a:latin typeface="Times New Roman"/>
                <a:cs typeface="Times New Roman"/>
              </a:rPr>
              <a:t> </a:t>
            </a:r>
            <a:r>
              <a:rPr sz="2200" b="1" dirty="0">
                <a:latin typeface="Times New Roman"/>
                <a:cs typeface="Times New Roman"/>
              </a:rPr>
              <a:t>+</a:t>
            </a:r>
            <a:r>
              <a:rPr sz="2200" b="1" spc="-15" dirty="0">
                <a:latin typeface="Times New Roman"/>
                <a:cs typeface="Times New Roman"/>
              </a:rPr>
              <a:t> </a:t>
            </a:r>
            <a:r>
              <a:rPr sz="2200" b="1" dirty="0">
                <a:latin typeface="Times New Roman"/>
                <a:cs typeface="Times New Roman"/>
              </a:rPr>
              <a:t>Metadata</a:t>
            </a:r>
            <a:r>
              <a:rPr sz="2200" b="1" spc="-25" dirty="0">
                <a:latin typeface="Times New Roman"/>
                <a:cs typeface="Times New Roman"/>
              </a:rPr>
              <a:t> </a:t>
            </a:r>
            <a:r>
              <a:rPr sz="2200" dirty="0">
                <a:latin typeface="Times New Roman"/>
                <a:cs typeface="Times New Roman"/>
              </a:rPr>
              <a:t>model</a:t>
            </a:r>
            <a:r>
              <a:rPr sz="2200" spc="5" dirty="0">
                <a:latin typeface="Times New Roman"/>
                <a:cs typeface="Times New Roman"/>
              </a:rPr>
              <a:t> </a:t>
            </a:r>
            <a:r>
              <a:rPr sz="2200" dirty="0">
                <a:latin typeface="Times New Roman"/>
                <a:cs typeface="Times New Roman"/>
              </a:rPr>
              <a:t>outperformed</a:t>
            </a:r>
            <a:r>
              <a:rPr sz="2200" spc="-20" dirty="0">
                <a:latin typeface="Times New Roman"/>
                <a:cs typeface="Times New Roman"/>
              </a:rPr>
              <a:t> </a:t>
            </a:r>
            <a:r>
              <a:rPr sz="2200" spc="-10" dirty="0">
                <a:latin typeface="Times New Roman"/>
                <a:cs typeface="Times New Roman"/>
              </a:rPr>
              <a:t>single-</a:t>
            </a:r>
            <a:r>
              <a:rPr sz="2200" dirty="0">
                <a:latin typeface="Times New Roman"/>
                <a:cs typeface="Times New Roman"/>
              </a:rPr>
              <a:t>branch</a:t>
            </a:r>
            <a:r>
              <a:rPr sz="2200" spc="-25" dirty="0">
                <a:latin typeface="Times New Roman"/>
                <a:cs typeface="Times New Roman"/>
              </a:rPr>
              <a:t> </a:t>
            </a:r>
            <a:r>
              <a:rPr sz="2200" dirty="0">
                <a:latin typeface="Times New Roman"/>
                <a:cs typeface="Times New Roman"/>
              </a:rPr>
              <a:t>models</a:t>
            </a:r>
            <a:r>
              <a:rPr sz="2200" spc="-25" dirty="0">
                <a:latin typeface="Times New Roman"/>
                <a:cs typeface="Times New Roman"/>
              </a:rPr>
              <a:t> </a:t>
            </a:r>
            <a:r>
              <a:rPr sz="2200" spc="-10" dirty="0">
                <a:latin typeface="Times New Roman"/>
                <a:cs typeface="Times New Roman"/>
              </a:rPr>
              <a:t>(text-</a:t>
            </a:r>
            <a:r>
              <a:rPr sz="2200" dirty="0">
                <a:latin typeface="Times New Roman"/>
                <a:cs typeface="Times New Roman"/>
              </a:rPr>
              <a:t>only</a:t>
            </a:r>
            <a:r>
              <a:rPr sz="2200" spc="-25" dirty="0">
                <a:latin typeface="Times New Roman"/>
                <a:cs typeface="Times New Roman"/>
              </a:rPr>
              <a:t> </a:t>
            </a:r>
            <a:r>
              <a:rPr sz="2200" dirty="0">
                <a:latin typeface="Times New Roman"/>
                <a:cs typeface="Times New Roman"/>
              </a:rPr>
              <a:t>or</a:t>
            </a:r>
            <a:r>
              <a:rPr sz="2200" spc="-25" dirty="0">
                <a:latin typeface="Times New Roman"/>
                <a:cs typeface="Times New Roman"/>
              </a:rPr>
              <a:t> </a:t>
            </a:r>
            <a:r>
              <a:rPr sz="2200" spc="-10" dirty="0">
                <a:latin typeface="Times New Roman"/>
                <a:cs typeface="Times New Roman"/>
              </a:rPr>
              <a:t>metadata-</a:t>
            </a:r>
            <a:endParaRPr sz="2200" dirty="0">
              <a:latin typeface="Times New Roman"/>
              <a:cs typeface="Times New Roman"/>
            </a:endParaRPr>
          </a:p>
          <a:p>
            <a:pPr marL="356870" algn="l">
              <a:lnSpc>
                <a:spcPct val="100000"/>
              </a:lnSpc>
            </a:pPr>
            <a:r>
              <a:rPr sz="2200" spc="-10" dirty="0">
                <a:latin typeface="Times New Roman"/>
                <a:cs typeface="Times New Roman"/>
              </a:rPr>
              <a:t>only).</a:t>
            </a:r>
            <a:endParaRPr sz="2200" dirty="0">
              <a:latin typeface="Times New Roman"/>
              <a:cs typeface="Times New Roman"/>
            </a:endParaRPr>
          </a:p>
          <a:p>
            <a:pPr marL="356870" indent="-344170" algn="l">
              <a:lnSpc>
                <a:spcPct val="100000"/>
              </a:lnSpc>
              <a:buFont typeface="Arial MT"/>
              <a:buChar char="•"/>
              <a:tabLst>
                <a:tab pos="356870" algn="l"/>
              </a:tabLst>
            </a:pPr>
            <a:r>
              <a:rPr sz="2200" dirty="0">
                <a:latin typeface="Times New Roman"/>
                <a:cs typeface="Times New Roman"/>
              </a:rPr>
              <a:t>Effectively</a:t>
            </a:r>
            <a:r>
              <a:rPr sz="2200" spc="-55" dirty="0">
                <a:latin typeface="Times New Roman"/>
                <a:cs typeface="Times New Roman"/>
              </a:rPr>
              <a:t> </a:t>
            </a:r>
            <a:r>
              <a:rPr sz="2200" dirty="0">
                <a:latin typeface="Times New Roman"/>
                <a:cs typeface="Times New Roman"/>
              </a:rPr>
              <a:t>captured</a:t>
            </a:r>
            <a:r>
              <a:rPr sz="2200" spc="-45" dirty="0">
                <a:latin typeface="Times New Roman"/>
                <a:cs typeface="Times New Roman"/>
              </a:rPr>
              <a:t> </a:t>
            </a:r>
            <a:r>
              <a:rPr sz="2200" b="1" dirty="0">
                <a:latin typeface="Times New Roman"/>
                <a:cs typeface="Times New Roman"/>
              </a:rPr>
              <a:t>linguistic</a:t>
            </a:r>
            <a:r>
              <a:rPr sz="2200" b="1" spc="-70" dirty="0">
                <a:latin typeface="Times New Roman"/>
                <a:cs typeface="Times New Roman"/>
              </a:rPr>
              <a:t> </a:t>
            </a:r>
            <a:r>
              <a:rPr sz="2200" b="1" dirty="0">
                <a:latin typeface="Times New Roman"/>
                <a:cs typeface="Times New Roman"/>
              </a:rPr>
              <a:t>patterns</a:t>
            </a:r>
            <a:r>
              <a:rPr sz="2200" b="1" spc="-30" dirty="0">
                <a:latin typeface="Times New Roman"/>
                <a:cs typeface="Times New Roman"/>
              </a:rPr>
              <a:t> </a:t>
            </a:r>
            <a:r>
              <a:rPr sz="2200" dirty="0">
                <a:latin typeface="Times New Roman"/>
                <a:cs typeface="Times New Roman"/>
              </a:rPr>
              <a:t>(via BERT)</a:t>
            </a:r>
            <a:r>
              <a:rPr sz="2200" spc="-15" dirty="0">
                <a:latin typeface="Times New Roman"/>
                <a:cs typeface="Times New Roman"/>
              </a:rPr>
              <a:t> </a:t>
            </a:r>
            <a:r>
              <a:rPr sz="2200" dirty="0">
                <a:latin typeface="Times New Roman"/>
                <a:cs typeface="Times New Roman"/>
              </a:rPr>
              <a:t>and</a:t>
            </a:r>
            <a:r>
              <a:rPr sz="2200" spc="-35" dirty="0">
                <a:latin typeface="Times New Roman"/>
                <a:cs typeface="Times New Roman"/>
              </a:rPr>
              <a:t> </a:t>
            </a:r>
            <a:r>
              <a:rPr sz="2200" b="1" dirty="0">
                <a:latin typeface="Times New Roman"/>
                <a:cs typeface="Times New Roman"/>
              </a:rPr>
              <a:t>behavioral</a:t>
            </a:r>
            <a:r>
              <a:rPr sz="2200" b="1" spc="-65" dirty="0">
                <a:latin typeface="Times New Roman"/>
                <a:cs typeface="Times New Roman"/>
              </a:rPr>
              <a:t> </a:t>
            </a:r>
            <a:r>
              <a:rPr sz="2200" b="1" dirty="0">
                <a:latin typeface="Times New Roman"/>
                <a:cs typeface="Times New Roman"/>
              </a:rPr>
              <a:t>signals</a:t>
            </a:r>
            <a:r>
              <a:rPr sz="2200" b="1" spc="-25" dirty="0">
                <a:latin typeface="Times New Roman"/>
                <a:cs typeface="Times New Roman"/>
              </a:rPr>
              <a:t> </a:t>
            </a:r>
            <a:r>
              <a:rPr sz="2200" dirty="0">
                <a:latin typeface="Times New Roman"/>
                <a:cs typeface="Times New Roman"/>
              </a:rPr>
              <a:t>(via</a:t>
            </a:r>
            <a:r>
              <a:rPr sz="2200" spc="-5" dirty="0">
                <a:latin typeface="Times New Roman"/>
                <a:cs typeface="Times New Roman"/>
              </a:rPr>
              <a:t> </a:t>
            </a:r>
            <a:r>
              <a:rPr sz="2200" spc="-10" dirty="0">
                <a:latin typeface="Times New Roman"/>
                <a:cs typeface="Times New Roman"/>
              </a:rPr>
              <a:t>metadata).</a:t>
            </a:r>
            <a:endParaRPr sz="2200" dirty="0">
              <a:latin typeface="Times New Roman"/>
              <a:cs typeface="Times New Roman"/>
            </a:endParaRPr>
          </a:p>
          <a:p>
            <a:pPr marL="356870" indent="-344170" algn="l">
              <a:lnSpc>
                <a:spcPct val="100000"/>
              </a:lnSpc>
              <a:buFont typeface="Arial MT"/>
              <a:buChar char="•"/>
              <a:tabLst>
                <a:tab pos="356870" algn="l"/>
              </a:tabLst>
            </a:pPr>
            <a:r>
              <a:rPr sz="2200" dirty="0">
                <a:latin typeface="Times New Roman"/>
                <a:cs typeface="Times New Roman"/>
              </a:rPr>
              <a:t>Demonstrated</a:t>
            </a:r>
            <a:r>
              <a:rPr sz="2200" spc="-55" dirty="0">
                <a:latin typeface="Times New Roman"/>
                <a:cs typeface="Times New Roman"/>
              </a:rPr>
              <a:t> </a:t>
            </a:r>
            <a:r>
              <a:rPr sz="2200" dirty="0">
                <a:latin typeface="Times New Roman"/>
                <a:cs typeface="Times New Roman"/>
              </a:rPr>
              <a:t>strong</a:t>
            </a:r>
            <a:r>
              <a:rPr sz="2200" spc="-55" dirty="0">
                <a:latin typeface="Times New Roman"/>
                <a:cs typeface="Times New Roman"/>
              </a:rPr>
              <a:t> </a:t>
            </a:r>
            <a:r>
              <a:rPr sz="2200" dirty="0">
                <a:latin typeface="Times New Roman"/>
                <a:cs typeface="Times New Roman"/>
              </a:rPr>
              <a:t>generalization</a:t>
            </a:r>
            <a:r>
              <a:rPr sz="2200" spc="-75" dirty="0">
                <a:latin typeface="Times New Roman"/>
                <a:cs typeface="Times New Roman"/>
              </a:rPr>
              <a:t> </a:t>
            </a:r>
            <a:r>
              <a:rPr sz="2200" dirty="0">
                <a:latin typeface="Times New Roman"/>
                <a:cs typeface="Times New Roman"/>
              </a:rPr>
              <a:t>with</a:t>
            </a:r>
            <a:r>
              <a:rPr sz="2200" spc="10" dirty="0">
                <a:latin typeface="Times New Roman"/>
                <a:cs typeface="Times New Roman"/>
              </a:rPr>
              <a:t> </a:t>
            </a:r>
            <a:r>
              <a:rPr sz="2200" b="1" dirty="0">
                <a:latin typeface="Times New Roman"/>
                <a:cs typeface="Times New Roman"/>
              </a:rPr>
              <a:t>AUC</a:t>
            </a:r>
            <a:r>
              <a:rPr sz="2200" b="1" spc="5" dirty="0">
                <a:latin typeface="Times New Roman"/>
                <a:cs typeface="Times New Roman"/>
              </a:rPr>
              <a:t> </a:t>
            </a:r>
            <a:r>
              <a:rPr sz="2200" b="1" dirty="0">
                <a:latin typeface="Times New Roman"/>
                <a:cs typeface="Times New Roman"/>
              </a:rPr>
              <a:t>&gt;</a:t>
            </a:r>
            <a:r>
              <a:rPr sz="2200" b="1" spc="-15" dirty="0">
                <a:latin typeface="Times New Roman"/>
                <a:cs typeface="Times New Roman"/>
              </a:rPr>
              <a:t> </a:t>
            </a:r>
            <a:r>
              <a:rPr sz="2200" b="1" dirty="0">
                <a:latin typeface="Times New Roman"/>
                <a:cs typeface="Times New Roman"/>
              </a:rPr>
              <a:t>0.93</a:t>
            </a:r>
            <a:r>
              <a:rPr sz="2200" b="1" spc="-35"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b="1" dirty="0">
                <a:latin typeface="Times New Roman"/>
                <a:cs typeface="Times New Roman"/>
              </a:rPr>
              <a:t>low</a:t>
            </a:r>
            <a:r>
              <a:rPr sz="2200" b="1" spc="-20" dirty="0">
                <a:latin typeface="Times New Roman"/>
                <a:cs typeface="Times New Roman"/>
              </a:rPr>
              <a:t> </a:t>
            </a:r>
            <a:r>
              <a:rPr sz="2200" b="1" dirty="0">
                <a:latin typeface="Times New Roman"/>
                <a:cs typeface="Times New Roman"/>
              </a:rPr>
              <a:t>false</a:t>
            </a:r>
            <a:r>
              <a:rPr sz="2200" b="1" spc="-75" dirty="0">
                <a:latin typeface="Times New Roman"/>
                <a:cs typeface="Times New Roman"/>
              </a:rPr>
              <a:t> </a:t>
            </a:r>
            <a:r>
              <a:rPr sz="2200" b="1" dirty="0">
                <a:latin typeface="Times New Roman"/>
                <a:cs typeface="Times New Roman"/>
              </a:rPr>
              <a:t>detection</a:t>
            </a:r>
            <a:r>
              <a:rPr sz="2200" b="1" spc="-85" dirty="0">
                <a:latin typeface="Times New Roman"/>
                <a:cs typeface="Times New Roman"/>
              </a:rPr>
              <a:t> </a:t>
            </a:r>
            <a:r>
              <a:rPr sz="2200" b="1" spc="-10" dirty="0">
                <a:latin typeface="Times New Roman"/>
                <a:cs typeface="Times New Roman"/>
              </a:rPr>
              <a:t>rate</a:t>
            </a:r>
            <a:r>
              <a:rPr sz="2200" spc="-10" dirty="0">
                <a:latin typeface="Times New Roman"/>
                <a:cs typeface="Times New Roman"/>
              </a:rPr>
              <a:t>.</a:t>
            </a:r>
            <a:endParaRPr sz="2200" dirty="0">
              <a:latin typeface="Times New Roman"/>
              <a:cs typeface="Times New Roman"/>
            </a:endParaRPr>
          </a:p>
          <a:p>
            <a:pPr algn="l">
              <a:lnSpc>
                <a:spcPct val="100000"/>
              </a:lnSpc>
              <a:spcBef>
                <a:spcPts val="114"/>
              </a:spcBef>
              <a:buFont typeface="Arial MT"/>
              <a:buChar char="•"/>
            </a:pPr>
            <a:endParaRPr sz="2200" dirty="0">
              <a:latin typeface="Times New Roman"/>
              <a:cs typeface="Times New Roman"/>
            </a:endParaRPr>
          </a:p>
          <a:p>
            <a:pPr marL="12700" algn="l">
              <a:lnSpc>
                <a:spcPct val="100000"/>
              </a:lnSpc>
            </a:pPr>
            <a:r>
              <a:rPr sz="2200" b="1" dirty="0">
                <a:latin typeface="Times New Roman"/>
                <a:cs typeface="Times New Roman"/>
              </a:rPr>
              <a:t>Significance</a:t>
            </a:r>
            <a:r>
              <a:rPr sz="2200" b="1" spc="-70" dirty="0">
                <a:latin typeface="Times New Roman"/>
                <a:cs typeface="Times New Roman"/>
              </a:rPr>
              <a:t> </a:t>
            </a:r>
            <a:r>
              <a:rPr sz="2200" b="1" dirty="0">
                <a:latin typeface="Times New Roman"/>
                <a:cs typeface="Times New Roman"/>
              </a:rPr>
              <a:t>of</a:t>
            </a:r>
            <a:r>
              <a:rPr sz="2200" b="1" spc="-20" dirty="0">
                <a:latin typeface="Times New Roman"/>
                <a:cs typeface="Times New Roman"/>
              </a:rPr>
              <a:t> </a:t>
            </a:r>
            <a:r>
              <a:rPr sz="2200" b="1" spc="-10" dirty="0">
                <a:latin typeface="Times New Roman"/>
                <a:cs typeface="Times New Roman"/>
              </a:rPr>
              <a:t>Results</a:t>
            </a:r>
            <a:endParaRPr sz="2200" dirty="0">
              <a:latin typeface="Times New Roman"/>
              <a:cs typeface="Times New Roman"/>
            </a:endParaRPr>
          </a:p>
          <a:p>
            <a:pPr marL="356870" indent="-344170" algn="l">
              <a:lnSpc>
                <a:spcPct val="100000"/>
              </a:lnSpc>
              <a:buFont typeface="Arial MT"/>
              <a:buChar char="•"/>
              <a:tabLst>
                <a:tab pos="356870" algn="l"/>
              </a:tabLst>
            </a:pPr>
            <a:r>
              <a:rPr sz="2200" dirty="0">
                <a:latin typeface="Times New Roman"/>
                <a:cs typeface="Times New Roman"/>
              </a:rPr>
              <a:t>Proves</a:t>
            </a:r>
            <a:r>
              <a:rPr sz="2200" spc="-20" dirty="0">
                <a:latin typeface="Times New Roman"/>
                <a:cs typeface="Times New Roman"/>
              </a:rPr>
              <a:t> </a:t>
            </a:r>
            <a:r>
              <a:rPr sz="2200" dirty="0">
                <a:latin typeface="Times New Roman"/>
                <a:cs typeface="Times New Roman"/>
              </a:rPr>
              <a:t>that</a:t>
            </a:r>
            <a:r>
              <a:rPr sz="2200" spc="-10" dirty="0">
                <a:latin typeface="Times New Roman"/>
                <a:cs typeface="Times New Roman"/>
              </a:rPr>
              <a:t> </a:t>
            </a:r>
            <a:r>
              <a:rPr sz="2200" dirty="0">
                <a:latin typeface="Times New Roman"/>
                <a:cs typeface="Times New Roman"/>
              </a:rPr>
              <a:t>combining</a:t>
            </a:r>
            <a:r>
              <a:rPr sz="2200" spc="-10" dirty="0">
                <a:latin typeface="Times New Roman"/>
                <a:cs typeface="Times New Roman"/>
              </a:rPr>
              <a:t> </a:t>
            </a:r>
            <a:r>
              <a:rPr sz="2200" b="1" dirty="0">
                <a:latin typeface="Times New Roman"/>
                <a:cs typeface="Times New Roman"/>
              </a:rPr>
              <a:t>semantic</a:t>
            </a:r>
            <a:r>
              <a:rPr sz="2200" b="1" spc="-65" dirty="0">
                <a:latin typeface="Times New Roman"/>
                <a:cs typeface="Times New Roman"/>
              </a:rPr>
              <a:t> </a:t>
            </a:r>
            <a:r>
              <a:rPr sz="2200" b="1" dirty="0">
                <a:latin typeface="Times New Roman"/>
                <a:cs typeface="Times New Roman"/>
              </a:rPr>
              <a:t>and</a:t>
            </a:r>
            <a:r>
              <a:rPr sz="2200" b="1" spc="-5" dirty="0">
                <a:latin typeface="Times New Roman"/>
                <a:cs typeface="Times New Roman"/>
              </a:rPr>
              <a:t> </a:t>
            </a:r>
            <a:r>
              <a:rPr sz="2200" b="1" dirty="0">
                <a:latin typeface="Times New Roman"/>
                <a:cs typeface="Times New Roman"/>
              </a:rPr>
              <a:t>behavioral</a:t>
            </a:r>
            <a:r>
              <a:rPr sz="2200" b="1" spc="-35" dirty="0">
                <a:latin typeface="Times New Roman"/>
                <a:cs typeface="Times New Roman"/>
              </a:rPr>
              <a:t> </a:t>
            </a:r>
            <a:r>
              <a:rPr sz="2200" b="1" dirty="0">
                <a:latin typeface="Times New Roman"/>
                <a:cs typeface="Times New Roman"/>
              </a:rPr>
              <a:t>features</a:t>
            </a:r>
            <a:r>
              <a:rPr sz="2200" b="1" spc="-70" dirty="0">
                <a:latin typeface="Times New Roman"/>
                <a:cs typeface="Times New Roman"/>
              </a:rPr>
              <a:t> </a:t>
            </a:r>
            <a:r>
              <a:rPr sz="2200" dirty="0">
                <a:latin typeface="Times New Roman"/>
                <a:cs typeface="Times New Roman"/>
              </a:rPr>
              <a:t>leads</a:t>
            </a:r>
            <a:r>
              <a:rPr sz="2200" spc="-35" dirty="0">
                <a:latin typeface="Times New Roman"/>
                <a:cs typeface="Times New Roman"/>
              </a:rPr>
              <a:t> </a:t>
            </a:r>
            <a:r>
              <a:rPr sz="2200" dirty="0">
                <a:latin typeface="Times New Roman"/>
                <a:cs typeface="Times New Roman"/>
              </a:rPr>
              <a:t>to</a:t>
            </a:r>
            <a:r>
              <a:rPr sz="2200" spc="-15" dirty="0">
                <a:latin typeface="Times New Roman"/>
                <a:cs typeface="Times New Roman"/>
              </a:rPr>
              <a:t> </a:t>
            </a:r>
            <a:r>
              <a:rPr sz="2200" b="1" dirty="0">
                <a:latin typeface="Times New Roman"/>
                <a:cs typeface="Times New Roman"/>
              </a:rPr>
              <a:t>more</a:t>
            </a:r>
            <a:r>
              <a:rPr sz="2200" b="1" spc="-15" dirty="0">
                <a:latin typeface="Times New Roman"/>
                <a:cs typeface="Times New Roman"/>
              </a:rPr>
              <a:t> </a:t>
            </a:r>
            <a:r>
              <a:rPr sz="2200" b="1" dirty="0">
                <a:latin typeface="Times New Roman"/>
                <a:cs typeface="Times New Roman"/>
              </a:rPr>
              <a:t>robust</a:t>
            </a:r>
            <a:r>
              <a:rPr sz="2200" b="1" spc="-15" dirty="0">
                <a:latin typeface="Times New Roman"/>
                <a:cs typeface="Times New Roman"/>
              </a:rPr>
              <a:t> </a:t>
            </a:r>
            <a:r>
              <a:rPr sz="2200" b="1" dirty="0">
                <a:latin typeface="Times New Roman"/>
                <a:cs typeface="Times New Roman"/>
              </a:rPr>
              <a:t>bot</a:t>
            </a:r>
            <a:r>
              <a:rPr sz="2200" b="1" spc="-15" dirty="0">
                <a:latin typeface="Times New Roman"/>
                <a:cs typeface="Times New Roman"/>
              </a:rPr>
              <a:t> </a:t>
            </a:r>
            <a:r>
              <a:rPr sz="2200" b="1" spc="-10" dirty="0">
                <a:latin typeface="Times New Roman"/>
                <a:cs typeface="Times New Roman"/>
              </a:rPr>
              <a:t>detection</a:t>
            </a:r>
            <a:r>
              <a:rPr sz="2200" spc="-10" dirty="0">
                <a:latin typeface="Times New Roman"/>
                <a:cs typeface="Times New Roman"/>
              </a:rPr>
              <a:t>.</a:t>
            </a:r>
            <a:endParaRPr sz="2200" dirty="0">
              <a:latin typeface="Times New Roman"/>
              <a:cs typeface="Times New Roman"/>
            </a:endParaRPr>
          </a:p>
          <a:p>
            <a:pPr marL="356870" indent="-344170" algn="l">
              <a:lnSpc>
                <a:spcPct val="100000"/>
              </a:lnSpc>
              <a:buFont typeface="Arial MT"/>
              <a:buChar char="•"/>
              <a:tabLst>
                <a:tab pos="356870" algn="l"/>
              </a:tabLst>
            </a:pPr>
            <a:r>
              <a:rPr sz="2200" dirty="0">
                <a:latin typeface="Times New Roman"/>
                <a:cs typeface="Times New Roman"/>
              </a:rPr>
              <a:t>Contributes</a:t>
            </a:r>
            <a:r>
              <a:rPr sz="2200" spc="-80" dirty="0">
                <a:latin typeface="Times New Roman"/>
                <a:cs typeface="Times New Roman"/>
              </a:rPr>
              <a:t> </a:t>
            </a:r>
            <a:r>
              <a:rPr sz="2200" dirty="0">
                <a:latin typeface="Times New Roman"/>
                <a:cs typeface="Times New Roman"/>
              </a:rPr>
              <a:t>to</a:t>
            </a:r>
            <a:r>
              <a:rPr sz="2200" spc="-15" dirty="0">
                <a:latin typeface="Times New Roman"/>
                <a:cs typeface="Times New Roman"/>
              </a:rPr>
              <a:t> </a:t>
            </a:r>
            <a:r>
              <a:rPr sz="2200" b="1" dirty="0">
                <a:latin typeface="Times New Roman"/>
                <a:cs typeface="Times New Roman"/>
              </a:rPr>
              <a:t>online</a:t>
            </a:r>
            <a:r>
              <a:rPr sz="2200" b="1" spc="-60" dirty="0">
                <a:latin typeface="Times New Roman"/>
                <a:cs typeface="Times New Roman"/>
              </a:rPr>
              <a:t> </a:t>
            </a:r>
            <a:r>
              <a:rPr sz="2200" b="1" dirty="0">
                <a:latin typeface="Times New Roman"/>
                <a:cs typeface="Times New Roman"/>
              </a:rPr>
              <a:t>trust</a:t>
            </a:r>
            <a:r>
              <a:rPr sz="2200" b="1" spc="-25" dirty="0">
                <a:latin typeface="Times New Roman"/>
                <a:cs typeface="Times New Roman"/>
              </a:rPr>
              <a:t> </a:t>
            </a:r>
            <a:r>
              <a:rPr sz="2200" b="1" dirty="0">
                <a:latin typeface="Times New Roman"/>
                <a:cs typeface="Times New Roman"/>
              </a:rPr>
              <a:t>and</a:t>
            </a:r>
            <a:r>
              <a:rPr sz="2200" b="1" spc="-20" dirty="0">
                <a:latin typeface="Times New Roman"/>
                <a:cs typeface="Times New Roman"/>
              </a:rPr>
              <a:t> </a:t>
            </a:r>
            <a:r>
              <a:rPr sz="2200" b="1" dirty="0">
                <a:latin typeface="Times New Roman"/>
                <a:cs typeface="Times New Roman"/>
              </a:rPr>
              <a:t>misinformation</a:t>
            </a:r>
            <a:r>
              <a:rPr sz="2200" b="1" spc="-90" dirty="0">
                <a:latin typeface="Times New Roman"/>
                <a:cs typeface="Times New Roman"/>
              </a:rPr>
              <a:t> </a:t>
            </a:r>
            <a:r>
              <a:rPr sz="2200" b="1" dirty="0">
                <a:latin typeface="Times New Roman"/>
                <a:cs typeface="Times New Roman"/>
              </a:rPr>
              <a:t>control</a:t>
            </a:r>
            <a:r>
              <a:rPr sz="2200" b="1" spc="-20" dirty="0">
                <a:latin typeface="Times New Roman"/>
                <a:cs typeface="Times New Roman"/>
              </a:rPr>
              <a:t> </a:t>
            </a:r>
            <a:r>
              <a:rPr sz="2200" dirty="0">
                <a:latin typeface="Times New Roman"/>
                <a:cs typeface="Times New Roman"/>
              </a:rPr>
              <a:t>by</a:t>
            </a:r>
            <a:r>
              <a:rPr sz="2200" spc="-10" dirty="0">
                <a:latin typeface="Times New Roman"/>
                <a:cs typeface="Times New Roman"/>
              </a:rPr>
              <a:t> </a:t>
            </a:r>
            <a:r>
              <a:rPr sz="2200" dirty="0">
                <a:latin typeface="Times New Roman"/>
                <a:cs typeface="Times New Roman"/>
              </a:rPr>
              <a:t>improving</a:t>
            </a:r>
            <a:r>
              <a:rPr sz="2200" spc="-15" dirty="0">
                <a:latin typeface="Times New Roman"/>
                <a:cs typeface="Times New Roman"/>
              </a:rPr>
              <a:t> </a:t>
            </a:r>
            <a:r>
              <a:rPr sz="2200" dirty="0">
                <a:latin typeface="Times New Roman"/>
                <a:cs typeface="Times New Roman"/>
              </a:rPr>
              <a:t>identification</a:t>
            </a:r>
            <a:r>
              <a:rPr sz="2200" spc="-85" dirty="0">
                <a:latin typeface="Times New Roman"/>
                <a:cs typeface="Times New Roman"/>
              </a:rPr>
              <a:t> </a:t>
            </a:r>
            <a:r>
              <a:rPr sz="2200" spc="-10" dirty="0">
                <a:latin typeface="Times New Roman"/>
                <a:cs typeface="Times New Roman"/>
              </a:rPr>
              <a:t>accuracy.</a:t>
            </a:r>
            <a:endParaRPr sz="2200" dirty="0">
              <a:latin typeface="Times New Roman"/>
              <a:cs typeface="Times New Roman"/>
            </a:endParaRPr>
          </a:p>
          <a:p>
            <a:pPr marL="356870" indent="-344170" algn="l">
              <a:lnSpc>
                <a:spcPct val="100000"/>
              </a:lnSpc>
              <a:spcBef>
                <a:spcPts val="5"/>
              </a:spcBef>
              <a:buFont typeface="Arial MT"/>
              <a:buChar char="•"/>
              <a:tabLst>
                <a:tab pos="356870" algn="l"/>
              </a:tabLst>
            </a:pPr>
            <a:r>
              <a:rPr sz="2200" dirty="0">
                <a:latin typeface="Times New Roman"/>
                <a:cs typeface="Times New Roman"/>
              </a:rPr>
              <a:t>Framework adaptable</a:t>
            </a:r>
            <a:r>
              <a:rPr sz="2200" spc="-65" dirty="0">
                <a:latin typeface="Times New Roman"/>
                <a:cs typeface="Times New Roman"/>
              </a:rPr>
              <a:t> </a:t>
            </a:r>
            <a:r>
              <a:rPr sz="2200" dirty="0">
                <a:latin typeface="Times New Roman"/>
                <a:cs typeface="Times New Roman"/>
              </a:rPr>
              <a:t>for</a:t>
            </a:r>
            <a:r>
              <a:rPr sz="2200" spc="5" dirty="0">
                <a:latin typeface="Times New Roman"/>
                <a:cs typeface="Times New Roman"/>
              </a:rPr>
              <a:t> </a:t>
            </a:r>
            <a:r>
              <a:rPr sz="2200" b="1" dirty="0">
                <a:latin typeface="Times New Roman"/>
                <a:cs typeface="Times New Roman"/>
              </a:rPr>
              <a:t>real-time</a:t>
            </a:r>
            <a:r>
              <a:rPr sz="2200" b="1" spc="-65" dirty="0">
                <a:latin typeface="Times New Roman"/>
                <a:cs typeface="Times New Roman"/>
              </a:rPr>
              <a:t> </a:t>
            </a:r>
            <a:r>
              <a:rPr sz="2200" b="1" dirty="0">
                <a:latin typeface="Times New Roman"/>
                <a:cs typeface="Times New Roman"/>
              </a:rPr>
              <a:t>social</a:t>
            </a:r>
            <a:r>
              <a:rPr sz="2200" b="1" spc="-60" dirty="0">
                <a:latin typeface="Times New Roman"/>
                <a:cs typeface="Times New Roman"/>
              </a:rPr>
              <a:t> </a:t>
            </a:r>
            <a:r>
              <a:rPr sz="2200" b="1" dirty="0">
                <a:latin typeface="Times New Roman"/>
                <a:cs typeface="Times New Roman"/>
              </a:rPr>
              <a:t>media</a:t>
            </a:r>
            <a:r>
              <a:rPr sz="2200" b="1" spc="-25" dirty="0">
                <a:latin typeface="Times New Roman"/>
                <a:cs typeface="Times New Roman"/>
              </a:rPr>
              <a:t> </a:t>
            </a:r>
            <a:r>
              <a:rPr sz="2200" b="1" dirty="0">
                <a:latin typeface="Times New Roman"/>
                <a:cs typeface="Times New Roman"/>
              </a:rPr>
              <a:t>monitoring</a:t>
            </a:r>
            <a:r>
              <a:rPr sz="2200" b="1" spc="-40" dirty="0">
                <a:latin typeface="Times New Roman"/>
                <a:cs typeface="Times New Roman"/>
              </a:rPr>
              <a:t> </a:t>
            </a:r>
            <a:r>
              <a:rPr sz="2200" dirty="0">
                <a:latin typeface="Times New Roman"/>
                <a:cs typeface="Times New Roman"/>
              </a:rPr>
              <a:t>and other</a:t>
            </a:r>
            <a:r>
              <a:rPr sz="2200" spc="-35" dirty="0">
                <a:latin typeface="Times New Roman"/>
                <a:cs typeface="Times New Roman"/>
              </a:rPr>
              <a:t> </a:t>
            </a:r>
            <a:r>
              <a:rPr sz="2200" dirty="0">
                <a:latin typeface="Times New Roman"/>
                <a:cs typeface="Times New Roman"/>
              </a:rPr>
              <a:t>platforms</a:t>
            </a:r>
            <a:r>
              <a:rPr sz="2200" spc="-35" dirty="0">
                <a:latin typeface="Times New Roman"/>
                <a:cs typeface="Times New Roman"/>
              </a:rPr>
              <a:t> </a:t>
            </a:r>
            <a:r>
              <a:rPr sz="2200" dirty="0">
                <a:latin typeface="Times New Roman"/>
                <a:cs typeface="Times New Roman"/>
              </a:rPr>
              <a:t>(e.g.,</a:t>
            </a:r>
            <a:r>
              <a:rPr sz="2200" spc="5" dirty="0">
                <a:latin typeface="Times New Roman"/>
                <a:cs typeface="Times New Roman"/>
              </a:rPr>
              <a:t> </a:t>
            </a:r>
            <a:r>
              <a:rPr sz="2200" spc="-10" dirty="0">
                <a:latin typeface="Times New Roman"/>
                <a:cs typeface="Times New Roman"/>
              </a:rPr>
              <a:t>Facebook,</a:t>
            </a:r>
            <a:endParaRPr sz="2200" dirty="0">
              <a:latin typeface="Times New Roman"/>
              <a:cs typeface="Times New Roman"/>
            </a:endParaRPr>
          </a:p>
          <a:p>
            <a:pPr marL="356870" algn="l">
              <a:lnSpc>
                <a:spcPct val="100000"/>
              </a:lnSpc>
            </a:pPr>
            <a:r>
              <a:rPr sz="2200" spc="-10" dirty="0">
                <a:latin typeface="Times New Roman"/>
                <a:cs typeface="Times New Roman"/>
              </a:rPr>
              <a:t>Instagram).</a:t>
            </a:r>
            <a:endParaRPr sz="2200" dirty="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591480"/>
            <a:ext cx="9665970" cy="566181"/>
          </a:xfrm>
          <a:prstGeom prst="rect">
            <a:avLst/>
          </a:prstGeom>
        </p:spPr>
        <p:txBody>
          <a:bodyPr vert="horz" wrap="square" lIns="0" tIns="12065" rIns="0" bIns="0" rtlCol="0">
            <a:spAutoFit/>
          </a:bodyPr>
          <a:lstStyle/>
          <a:p>
            <a:pPr marL="241300">
              <a:lnSpc>
                <a:spcPct val="100000"/>
              </a:lnSpc>
              <a:spcBef>
                <a:spcPts val="95"/>
              </a:spcBef>
            </a:pPr>
            <a:r>
              <a:rPr sz="3600" spc="-20" dirty="0"/>
              <a:t>CONCLUSION</a:t>
            </a:r>
            <a:r>
              <a:rPr sz="3600" spc="-175" dirty="0"/>
              <a:t> </a:t>
            </a:r>
            <a:r>
              <a:rPr sz="3600" dirty="0"/>
              <a:t>and</a:t>
            </a:r>
            <a:r>
              <a:rPr sz="3600" spc="-190" dirty="0"/>
              <a:t> </a:t>
            </a:r>
            <a:r>
              <a:rPr sz="3600" spc="-10" dirty="0"/>
              <a:t>FUTURE</a:t>
            </a:r>
            <a:r>
              <a:rPr sz="3600" spc="-210" dirty="0"/>
              <a:t> </a:t>
            </a:r>
            <a:r>
              <a:rPr sz="3600" spc="-10" dirty="0"/>
              <a:t>SCOPE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28</a:t>
            </a:fld>
            <a:endParaRPr spc="-25" dirty="0"/>
          </a:p>
        </p:txBody>
      </p:sp>
      <p:sp>
        <p:nvSpPr>
          <p:cNvPr id="3" name="object 3"/>
          <p:cNvSpPr txBox="1"/>
          <p:nvPr/>
        </p:nvSpPr>
        <p:spPr>
          <a:xfrm>
            <a:off x="990600" y="1471930"/>
            <a:ext cx="10890250" cy="3914140"/>
          </a:xfrm>
          <a:prstGeom prst="rect">
            <a:avLst/>
          </a:prstGeom>
        </p:spPr>
        <p:txBody>
          <a:bodyPr vert="horz" wrap="square" lIns="0" tIns="13335" rIns="0" bIns="0" rtlCol="0">
            <a:spAutoFit/>
          </a:bodyPr>
          <a:lstStyle/>
          <a:p>
            <a:pPr marL="12700">
              <a:lnSpc>
                <a:spcPct val="100000"/>
              </a:lnSpc>
              <a:spcBef>
                <a:spcPts val="105"/>
              </a:spcBef>
            </a:pPr>
            <a:r>
              <a:rPr sz="2300" b="1" dirty="0">
                <a:latin typeface="Times New Roman"/>
                <a:cs typeface="Times New Roman"/>
              </a:rPr>
              <a:t>Future</a:t>
            </a:r>
            <a:r>
              <a:rPr sz="2300" b="1" spc="-40" dirty="0">
                <a:latin typeface="Times New Roman"/>
                <a:cs typeface="Times New Roman"/>
              </a:rPr>
              <a:t> </a:t>
            </a:r>
            <a:r>
              <a:rPr sz="2300" b="1" spc="-10" dirty="0">
                <a:latin typeface="Times New Roman"/>
                <a:cs typeface="Times New Roman"/>
              </a:rPr>
              <a:t>Developments</a:t>
            </a:r>
            <a:endParaRPr sz="2300" dirty="0">
              <a:latin typeface="Times New Roman"/>
              <a:cs typeface="Times New Roman"/>
            </a:endParaRPr>
          </a:p>
          <a:p>
            <a:pPr marL="356870" indent="-344170">
              <a:lnSpc>
                <a:spcPct val="100000"/>
              </a:lnSpc>
              <a:buFont typeface="Arial MT"/>
              <a:buChar char="•"/>
              <a:tabLst>
                <a:tab pos="356870" algn="l"/>
              </a:tabLst>
            </a:pPr>
            <a:r>
              <a:rPr sz="2300" dirty="0">
                <a:latin typeface="Times New Roman"/>
                <a:cs typeface="Times New Roman"/>
              </a:rPr>
              <a:t>Integrate</a:t>
            </a:r>
            <a:r>
              <a:rPr sz="2300" spc="-20" dirty="0">
                <a:latin typeface="Times New Roman"/>
                <a:cs typeface="Times New Roman"/>
              </a:rPr>
              <a:t> </a:t>
            </a:r>
            <a:r>
              <a:rPr sz="2300" b="1" spc="-10" dirty="0">
                <a:latin typeface="Times New Roman"/>
                <a:cs typeface="Times New Roman"/>
              </a:rPr>
              <a:t>graph-</a:t>
            </a:r>
            <a:r>
              <a:rPr sz="2300" b="1" dirty="0">
                <a:latin typeface="Times New Roman"/>
                <a:cs typeface="Times New Roman"/>
              </a:rPr>
              <a:t>based</a:t>
            </a:r>
            <a:r>
              <a:rPr sz="2300" b="1" spc="-65" dirty="0">
                <a:latin typeface="Times New Roman"/>
                <a:cs typeface="Times New Roman"/>
              </a:rPr>
              <a:t> </a:t>
            </a:r>
            <a:r>
              <a:rPr sz="2300" b="1" dirty="0">
                <a:latin typeface="Times New Roman"/>
                <a:cs typeface="Times New Roman"/>
              </a:rPr>
              <a:t>features</a:t>
            </a:r>
            <a:r>
              <a:rPr sz="2300" b="1" spc="-50" dirty="0">
                <a:latin typeface="Times New Roman"/>
                <a:cs typeface="Times New Roman"/>
              </a:rPr>
              <a:t> </a:t>
            </a:r>
            <a:r>
              <a:rPr sz="2300" dirty="0">
                <a:latin typeface="Times New Roman"/>
                <a:cs typeface="Times New Roman"/>
              </a:rPr>
              <a:t>(follower–friend</a:t>
            </a:r>
            <a:r>
              <a:rPr sz="2300" spc="-85" dirty="0">
                <a:latin typeface="Times New Roman"/>
                <a:cs typeface="Times New Roman"/>
              </a:rPr>
              <a:t> </a:t>
            </a:r>
            <a:r>
              <a:rPr sz="2300" spc="-10" dirty="0">
                <a:latin typeface="Times New Roman"/>
                <a:cs typeface="Times New Roman"/>
              </a:rPr>
              <a:t>networks).</a:t>
            </a:r>
            <a:endParaRPr sz="2300" dirty="0">
              <a:latin typeface="Times New Roman"/>
              <a:cs typeface="Times New Roman"/>
            </a:endParaRPr>
          </a:p>
          <a:p>
            <a:pPr marL="356870" indent="-344170">
              <a:lnSpc>
                <a:spcPct val="100000"/>
              </a:lnSpc>
              <a:buFont typeface="Arial MT"/>
              <a:buChar char="•"/>
              <a:tabLst>
                <a:tab pos="356870" algn="l"/>
              </a:tabLst>
            </a:pPr>
            <a:r>
              <a:rPr sz="2300" spc="-10" dirty="0">
                <a:latin typeface="Times New Roman"/>
                <a:cs typeface="Times New Roman"/>
              </a:rPr>
              <a:t>Fine-</a:t>
            </a:r>
            <a:r>
              <a:rPr sz="2300" dirty="0">
                <a:latin typeface="Times New Roman"/>
                <a:cs typeface="Times New Roman"/>
              </a:rPr>
              <a:t>tune</a:t>
            </a:r>
            <a:r>
              <a:rPr sz="2300" spc="-50" dirty="0">
                <a:latin typeface="Times New Roman"/>
                <a:cs typeface="Times New Roman"/>
              </a:rPr>
              <a:t> </a:t>
            </a:r>
            <a:r>
              <a:rPr sz="2300" dirty="0">
                <a:latin typeface="Times New Roman"/>
                <a:cs typeface="Times New Roman"/>
              </a:rPr>
              <a:t>using</a:t>
            </a:r>
            <a:r>
              <a:rPr sz="2300" spc="-20" dirty="0">
                <a:latin typeface="Times New Roman"/>
                <a:cs typeface="Times New Roman"/>
              </a:rPr>
              <a:t> </a:t>
            </a:r>
            <a:r>
              <a:rPr sz="2300" b="1" dirty="0">
                <a:latin typeface="Times New Roman"/>
                <a:cs typeface="Times New Roman"/>
              </a:rPr>
              <a:t>larger</a:t>
            </a:r>
            <a:r>
              <a:rPr sz="2300" b="1" spc="-70" dirty="0">
                <a:latin typeface="Times New Roman"/>
                <a:cs typeface="Times New Roman"/>
              </a:rPr>
              <a:t> </a:t>
            </a:r>
            <a:r>
              <a:rPr sz="2300" b="1" dirty="0">
                <a:latin typeface="Times New Roman"/>
                <a:cs typeface="Times New Roman"/>
              </a:rPr>
              <a:t>transformer</a:t>
            </a:r>
            <a:r>
              <a:rPr sz="2300" b="1" spc="-50" dirty="0">
                <a:latin typeface="Times New Roman"/>
                <a:cs typeface="Times New Roman"/>
              </a:rPr>
              <a:t> </a:t>
            </a:r>
            <a:r>
              <a:rPr sz="2300" b="1" dirty="0">
                <a:latin typeface="Times New Roman"/>
                <a:cs typeface="Times New Roman"/>
              </a:rPr>
              <a:t>models</a:t>
            </a:r>
            <a:r>
              <a:rPr sz="2300" b="1" spc="-5" dirty="0">
                <a:latin typeface="Times New Roman"/>
                <a:cs typeface="Times New Roman"/>
              </a:rPr>
              <a:t> </a:t>
            </a:r>
            <a:r>
              <a:rPr sz="2300" dirty="0">
                <a:latin typeface="Times New Roman"/>
                <a:cs typeface="Times New Roman"/>
              </a:rPr>
              <a:t>(RoBERTa,</a:t>
            </a:r>
            <a:r>
              <a:rPr sz="2300" spc="-55" dirty="0">
                <a:latin typeface="Times New Roman"/>
                <a:cs typeface="Times New Roman"/>
              </a:rPr>
              <a:t> </a:t>
            </a:r>
            <a:r>
              <a:rPr sz="2300" spc="-10" dirty="0">
                <a:latin typeface="Times New Roman"/>
                <a:cs typeface="Times New Roman"/>
              </a:rPr>
              <a:t>DeBERTa).</a:t>
            </a:r>
            <a:endParaRPr sz="2300" dirty="0">
              <a:latin typeface="Times New Roman"/>
              <a:cs typeface="Times New Roman"/>
            </a:endParaRPr>
          </a:p>
          <a:p>
            <a:pPr marL="356870" indent="-344170">
              <a:lnSpc>
                <a:spcPts val="2760"/>
              </a:lnSpc>
              <a:buFont typeface="Arial MT"/>
              <a:buChar char="•"/>
              <a:tabLst>
                <a:tab pos="356870" algn="l"/>
              </a:tabLst>
            </a:pPr>
            <a:r>
              <a:rPr sz="2300" dirty="0">
                <a:latin typeface="Times New Roman"/>
                <a:cs typeface="Times New Roman"/>
              </a:rPr>
              <a:t>Deploy</a:t>
            </a:r>
            <a:r>
              <a:rPr sz="2300" spc="-45" dirty="0">
                <a:latin typeface="Times New Roman"/>
                <a:cs typeface="Times New Roman"/>
              </a:rPr>
              <a:t> </a:t>
            </a:r>
            <a:r>
              <a:rPr sz="2300" dirty="0">
                <a:latin typeface="Times New Roman"/>
                <a:cs typeface="Times New Roman"/>
              </a:rPr>
              <a:t>as</a:t>
            </a:r>
            <a:r>
              <a:rPr sz="2300" spc="-25" dirty="0">
                <a:latin typeface="Times New Roman"/>
                <a:cs typeface="Times New Roman"/>
              </a:rPr>
              <a:t> </a:t>
            </a:r>
            <a:r>
              <a:rPr sz="2300" dirty="0">
                <a:latin typeface="Times New Roman"/>
                <a:cs typeface="Times New Roman"/>
              </a:rPr>
              <a:t>a</a:t>
            </a:r>
            <a:r>
              <a:rPr sz="2300" spc="5" dirty="0">
                <a:latin typeface="Times New Roman"/>
                <a:cs typeface="Times New Roman"/>
              </a:rPr>
              <a:t> </a:t>
            </a:r>
            <a:r>
              <a:rPr sz="2300" b="1" dirty="0">
                <a:latin typeface="Times New Roman"/>
                <a:cs typeface="Times New Roman"/>
              </a:rPr>
              <a:t>web/Gradio</a:t>
            </a:r>
            <a:r>
              <a:rPr sz="2300" b="1" spc="-85" dirty="0">
                <a:latin typeface="Times New Roman"/>
                <a:cs typeface="Times New Roman"/>
              </a:rPr>
              <a:t> </a:t>
            </a:r>
            <a:r>
              <a:rPr sz="2300" b="1" dirty="0">
                <a:latin typeface="Times New Roman"/>
                <a:cs typeface="Times New Roman"/>
              </a:rPr>
              <a:t>app</a:t>
            </a:r>
            <a:r>
              <a:rPr sz="2300" b="1" spc="10" dirty="0">
                <a:latin typeface="Times New Roman"/>
                <a:cs typeface="Times New Roman"/>
              </a:rPr>
              <a:t> </a:t>
            </a:r>
            <a:r>
              <a:rPr sz="2300" dirty="0">
                <a:latin typeface="Times New Roman"/>
                <a:cs typeface="Times New Roman"/>
              </a:rPr>
              <a:t>for</a:t>
            </a:r>
            <a:r>
              <a:rPr sz="2300" spc="-15" dirty="0">
                <a:latin typeface="Times New Roman"/>
                <a:cs typeface="Times New Roman"/>
              </a:rPr>
              <a:t> </a:t>
            </a:r>
            <a:r>
              <a:rPr sz="2300" dirty="0">
                <a:latin typeface="Times New Roman"/>
                <a:cs typeface="Times New Roman"/>
              </a:rPr>
              <a:t>live</a:t>
            </a:r>
            <a:r>
              <a:rPr sz="2300" spc="-15" dirty="0">
                <a:latin typeface="Times New Roman"/>
                <a:cs typeface="Times New Roman"/>
              </a:rPr>
              <a:t> </a:t>
            </a:r>
            <a:r>
              <a:rPr sz="2300" dirty="0">
                <a:latin typeface="Times New Roman"/>
                <a:cs typeface="Times New Roman"/>
              </a:rPr>
              <a:t>Twitter</a:t>
            </a:r>
            <a:r>
              <a:rPr sz="2300" spc="-80" dirty="0">
                <a:latin typeface="Times New Roman"/>
                <a:cs typeface="Times New Roman"/>
              </a:rPr>
              <a:t> </a:t>
            </a:r>
            <a:r>
              <a:rPr sz="2300" dirty="0">
                <a:latin typeface="Times New Roman"/>
                <a:cs typeface="Times New Roman"/>
              </a:rPr>
              <a:t>handle</a:t>
            </a:r>
            <a:r>
              <a:rPr sz="2300" spc="-40" dirty="0">
                <a:latin typeface="Times New Roman"/>
                <a:cs typeface="Times New Roman"/>
              </a:rPr>
              <a:t> </a:t>
            </a:r>
            <a:r>
              <a:rPr sz="2300" spc="-10" dirty="0">
                <a:latin typeface="Times New Roman"/>
                <a:cs typeface="Times New Roman"/>
              </a:rPr>
              <a:t>analysis.</a:t>
            </a:r>
            <a:endParaRPr sz="2300" dirty="0">
              <a:latin typeface="Times New Roman"/>
              <a:cs typeface="Times New Roman"/>
            </a:endParaRPr>
          </a:p>
          <a:p>
            <a:pPr marL="356870" marR="5080" indent="-344805">
              <a:lnSpc>
                <a:spcPct val="100000"/>
              </a:lnSpc>
              <a:buFont typeface="Arial MT"/>
              <a:buChar char="•"/>
              <a:tabLst>
                <a:tab pos="356870" algn="l"/>
              </a:tabLst>
            </a:pPr>
            <a:r>
              <a:rPr sz="2300" dirty="0">
                <a:latin typeface="Times New Roman"/>
                <a:cs typeface="Times New Roman"/>
              </a:rPr>
              <a:t>Enhance</a:t>
            </a:r>
            <a:r>
              <a:rPr sz="2300" spc="-70" dirty="0">
                <a:latin typeface="Times New Roman"/>
                <a:cs typeface="Times New Roman"/>
              </a:rPr>
              <a:t> </a:t>
            </a:r>
            <a:r>
              <a:rPr sz="2300" dirty="0">
                <a:latin typeface="Times New Roman"/>
                <a:cs typeface="Times New Roman"/>
              </a:rPr>
              <a:t>model</a:t>
            </a:r>
            <a:r>
              <a:rPr sz="2300" spc="-45" dirty="0">
                <a:latin typeface="Times New Roman"/>
                <a:cs typeface="Times New Roman"/>
              </a:rPr>
              <a:t> </a:t>
            </a:r>
            <a:r>
              <a:rPr sz="2300" dirty="0">
                <a:latin typeface="Times New Roman"/>
                <a:cs typeface="Times New Roman"/>
              </a:rPr>
              <a:t>interpretability</a:t>
            </a:r>
            <a:r>
              <a:rPr sz="2300" spc="-95" dirty="0">
                <a:latin typeface="Times New Roman"/>
                <a:cs typeface="Times New Roman"/>
              </a:rPr>
              <a:t> </a:t>
            </a:r>
            <a:r>
              <a:rPr sz="2300" dirty="0">
                <a:latin typeface="Times New Roman"/>
                <a:cs typeface="Times New Roman"/>
              </a:rPr>
              <a:t>using</a:t>
            </a:r>
            <a:r>
              <a:rPr sz="2300" spc="20" dirty="0">
                <a:latin typeface="Times New Roman"/>
                <a:cs typeface="Times New Roman"/>
              </a:rPr>
              <a:t> </a:t>
            </a:r>
            <a:r>
              <a:rPr sz="2300" b="1" dirty="0">
                <a:latin typeface="Times New Roman"/>
                <a:cs typeface="Times New Roman"/>
              </a:rPr>
              <a:t>SHAP(</a:t>
            </a:r>
            <a:r>
              <a:rPr sz="2400" b="1" dirty="0">
                <a:latin typeface="Times New Roman"/>
                <a:cs typeface="Times New Roman"/>
              </a:rPr>
              <a:t>SHapley</a:t>
            </a:r>
            <a:r>
              <a:rPr sz="2400" b="1" spc="-75" dirty="0">
                <a:latin typeface="Times New Roman"/>
                <a:cs typeface="Times New Roman"/>
              </a:rPr>
              <a:t> </a:t>
            </a:r>
            <a:r>
              <a:rPr sz="2400" b="1" dirty="0">
                <a:latin typeface="Times New Roman"/>
                <a:cs typeface="Times New Roman"/>
              </a:rPr>
              <a:t>Additive</a:t>
            </a:r>
            <a:r>
              <a:rPr sz="2400" b="1" spc="-55" dirty="0">
                <a:latin typeface="Times New Roman"/>
                <a:cs typeface="Times New Roman"/>
              </a:rPr>
              <a:t> </a:t>
            </a:r>
            <a:r>
              <a:rPr sz="2400" b="1" dirty="0">
                <a:latin typeface="Times New Roman"/>
                <a:cs typeface="Times New Roman"/>
              </a:rPr>
              <a:t>exPlanations</a:t>
            </a:r>
            <a:r>
              <a:rPr sz="2400" dirty="0">
                <a:latin typeface="Times New Roman"/>
                <a:cs typeface="Times New Roman"/>
              </a:rPr>
              <a:t>)</a:t>
            </a:r>
            <a:r>
              <a:rPr sz="2400" spc="-35" dirty="0">
                <a:latin typeface="Times New Roman"/>
                <a:cs typeface="Times New Roman"/>
              </a:rPr>
              <a:t> </a:t>
            </a:r>
            <a:r>
              <a:rPr sz="2300" b="1" spc="-25" dirty="0">
                <a:latin typeface="Times New Roman"/>
                <a:cs typeface="Times New Roman"/>
              </a:rPr>
              <a:t>or </a:t>
            </a:r>
            <a:r>
              <a:rPr sz="2300" b="1" dirty="0">
                <a:latin typeface="Times New Roman"/>
                <a:cs typeface="Times New Roman"/>
              </a:rPr>
              <a:t>LIME(</a:t>
            </a:r>
            <a:r>
              <a:rPr sz="2400" b="1" dirty="0">
                <a:latin typeface="Times New Roman"/>
                <a:cs typeface="Times New Roman"/>
              </a:rPr>
              <a:t>Local</a:t>
            </a:r>
            <a:r>
              <a:rPr sz="2400" b="1" spc="-40" dirty="0">
                <a:latin typeface="Times New Roman"/>
                <a:cs typeface="Times New Roman"/>
              </a:rPr>
              <a:t> </a:t>
            </a:r>
            <a:r>
              <a:rPr sz="2400" b="1" dirty="0">
                <a:latin typeface="Times New Roman"/>
                <a:cs typeface="Times New Roman"/>
              </a:rPr>
              <a:t>Interpretable</a:t>
            </a:r>
            <a:r>
              <a:rPr sz="2400" b="1" spc="-40" dirty="0">
                <a:latin typeface="Times New Roman"/>
                <a:cs typeface="Times New Roman"/>
              </a:rPr>
              <a:t> </a:t>
            </a:r>
            <a:r>
              <a:rPr sz="2400" b="1" spc="-10" dirty="0">
                <a:latin typeface="Times New Roman"/>
                <a:cs typeface="Times New Roman"/>
              </a:rPr>
              <a:t>Model-</a:t>
            </a:r>
            <a:r>
              <a:rPr sz="2400" b="1" dirty="0">
                <a:latin typeface="Times New Roman"/>
                <a:cs typeface="Times New Roman"/>
              </a:rPr>
              <a:t>agnostic</a:t>
            </a:r>
            <a:r>
              <a:rPr sz="2400" b="1" spc="-30" dirty="0">
                <a:latin typeface="Times New Roman"/>
                <a:cs typeface="Times New Roman"/>
              </a:rPr>
              <a:t> </a:t>
            </a:r>
            <a:r>
              <a:rPr sz="2400" b="1" dirty="0">
                <a:latin typeface="Times New Roman"/>
                <a:cs typeface="Times New Roman"/>
              </a:rPr>
              <a:t>Explanations</a:t>
            </a:r>
            <a:r>
              <a:rPr sz="2400" b="1" spc="-90" dirty="0">
                <a:latin typeface="Times New Roman"/>
                <a:cs typeface="Times New Roman"/>
              </a:rPr>
              <a:t> </a:t>
            </a:r>
            <a:r>
              <a:rPr sz="2300" b="1" dirty="0">
                <a:latin typeface="Times New Roman"/>
                <a:cs typeface="Times New Roman"/>
              </a:rPr>
              <a:t>for</a:t>
            </a:r>
            <a:r>
              <a:rPr sz="2300" b="1" spc="-80" dirty="0">
                <a:latin typeface="Times New Roman"/>
                <a:cs typeface="Times New Roman"/>
              </a:rPr>
              <a:t> </a:t>
            </a:r>
            <a:r>
              <a:rPr sz="2300" b="1" dirty="0">
                <a:latin typeface="Times New Roman"/>
                <a:cs typeface="Times New Roman"/>
              </a:rPr>
              <a:t>decision</a:t>
            </a:r>
            <a:r>
              <a:rPr sz="2300" b="1" spc="-45" dirty="0">
                <a:latin typeface="Times New Roman"/>
                <a:cs typeface="Times New Roman"/>
              </a:rPr>
              <a:t> </a:t>
            </a:r>
            <a:r>
              <a:rPr sz="2300" b="1" spc="-10" dirty="0">
                <a:latin typeface="Times New Roman"/>
                <a:cs typeface="Times New Roman"/>
              </a:rPr>
              <a:t>explanation).</a:t>
            </a:r>
            <a:endParaRPr sz="2300" dirty="0">
              <a:latin typeface="Times New Roman"/>
              <a:cs typeface="Times New Roman"/>
            </a:endParaRPr>
          </a:p>
          <a:p>
            <a:pPr>
              <a:lnSpc>
                <a:spcPct val="100000"/>
              </a:lnSpc>
              <a:spcBef>
                <a:spcPts val="5"/>
              </a:spcBef>
              <a:buFont typeface="Arial MT"/>
              <a:buChar char="•"/>
            </a:pPr>
            <a:endParaRPr sz="2400" dirty="0">
              <a:latin typeface="Times New Roman"/>
              <a:cs typeface="Times New Roman"/>
            </a:endParaRPr>
          </a:p>
          <a:p>
            <a:pPr marL="12700">
              <a:lnSpc>
                <a:spcPct val="100000"/>
              </a:lnSpc>
              <a:spcBef>
                <a:spcPts val="5"/>
              </a:spcBef>
            </a:pPr>
            <a:r>
              <a:rPr sz="2300" b="1" spc="-10" dirty="0">
                <a:latin typeface="Times New Roman"/>
                <a:cs typeface="Times New Roman"/>
              </a:rPr>
              <a:t>Limitations</a:t>
            </a:r>
            <a:endParaRPr sz="2300" dirty="0">
              <a:latin typeface="Times New Roman"/>
              <a:cs typeface="Times New Roman"/>
            </a:endParaRPr>
          </a:p>
          <a:p>
            <a:pPr marL="356870" indent="-344170">
              <a:lnSpc>
                <a:spcPct val="100000"/>
              </a:lnSpc>
              <a:buFont typeface="Arial MT"/>
              <a:buChar char="•"/>
              <a:tabLst>
                <a:tab pos="356870" algn="l"/>
              </a:tabLst>
            </a:pPr>
            <a:r>
              <a:rPr sz="2300" dirty="0">
                <a:latin typeface="Times New Roman"/>
                <a:cs typeface="Times New Roman"/>
              </a:rPr>
              <a:t>Dependent</a:t>
            </a:r>
            <a:r>
              <a:rPr sz="2300" spc="-25" dirty="0">
                <a:latin typeface="Times New Roman"/>
                <a:cs typeface="Times New Roman"/>
              </a:rPr>
              <a:t> </a:t>
            </a:r>
            <a:r>
              <a:rPr sz="2300" dirty="0">
                <a:latin typeface="Times New Roman"/>
                <a:cs typeface="Times New Roman"/>
              </a:rPr>
              <a:t>on</a:t>
            </a:r>
            <a:r>
              <a:rPr sz="2300" spc="-25" dirty="0">
                <a:latin typeface="Times New Roman"/>
                <a:cs typeface="Times New Roman"/>
              </a:rPr>
              <a:t> </a:t>
            </a:r>
            <a:r>
              <a:rPr sz="2300" b="1" dirty="0">
                <a:latin typeface="Times New Roman"/>
                <a:cs typeface="Times New Roman"/>
              </a:rPr>
              <a:t>Twitter’s</a:t>
            </a:r>
            <a:r>
              <a:rPr sz="2300" b="1" spc="-65" dirty="0">
                <a:latin typeface="Times New Roman"/>
                <a:cs typeface="Times New Roman"/>
              </a:rPr>
              <a:t> </a:t>
            </a:r>
            <a:r>
              <a:rPr sz="2300" b="1" dirty="0">
                <a:latin typeface="Times New Roman"/>
                <a:cs typeface="Times New Roman"/>
              </a:rPr>
              <a:t>API</a:t>
            </a:r>
            <a:r>
              <a:rPr sz="2300" b="1" spc="10" dirty="0">
                <a:latin typeface="Times New Roman"/>
                <a:cs typeface="Times New Roman"/>
              </a:rPr>
              <a:t> </a:t>
            </a:r>
            <a:r>
              <a:rPr sz="2300" b="1" dirty="0">
                <a:latin typeface="Times New Roman"/>
                <a:cs typeface="Times New Roman"/>
              </a:rPr>
              <a:t>data</a:t>
            </a:r>
            <a:r>
              <a:rPr sz="2300" b="1" spc="-35" dirty="0">
                <a:latin typeface="Times New Roman"/>
                <a:cs typeface="Times New Roman"/>
              </a:rPr>
              <a:t> </a:t>
            </a:r>
            <a:r>
              <a:rPr sz="2300" b="1" dirty="0">
                <a:latin typeface="Times New Roman"/>
                <a:cs typeface="Times New Roman"/>
              </a:rPr>
              <a:t>availability</a:t>
            </a:r>
            <a:r>
              <a:rPr sz="2300" b="1" spc="-50" dirty="0">
                <a:latin typeface="Times New Roman"/>
                <a:cs typeface="Times New Roman"/>
              </a:rPr>
              <a:t> </a:t>
            </a:r>
            <a:r>
              <a:rPr sz="2300" dirty="0">
                <a:latin typeface="Times New Roman"/>
                <a:cs typeface="Times New Roman"/>
              </a:rPr>
              <a:t>and</a:t>
            </a:r>
            <a:r>
              <a:rPr sz="2300" spc="-5" dirty="0">
                <a:latin typeface="Times New Roman"/>
                <a:cs typeface="Times New Roman"/>
              </a:rPr>
              <a:t> </a:t>
            </a:r>
            <a:r>
              <a:rPr sz="2300" b="1" dirty="0">
                <a:latin typeface="Times New Roman"/>
                <a:cs typeface="Times New Roman"/>
              </a:rPr>
              <a:t>text</a:t>
            </a:r>
            <a:r>
              <a:rPr sz="2300" b="1" spc="-55" dirty="0">
                <a:latin typeface="Times New Roman"/>
                <a:cs typeface="Times New Roman"/>
              </a:rPr>
              <a:t> </a:t>
            </a:r>
            <a:r>
              <a:rPr sz="2300" b="1" spc="-10" dirty="0">
                <a:latin typeface="Times New Roman"/>
                <a:cs typeface="Times New Roman"/>
              </a:rPr>
              <a:t>quality</a:t>
            </a:r>
            <a:r>
              <a:rPr sz="2300" spc="-10" dirty="0">
                <a:latin typeface="Times New Roman"/>
                <a:cs typeface="Times New Roman"/>
              </a:rPr>
              <a:t>.</a:t>
            </a:r>
            <a:endParaRPr sz="2300" dirty="0">
              <a:latin typeface="Times New Roman"/>
              <a:cs typeface="Times New Roman"/>
            </a:endParaRPr>
          </a:p>
          <a:p>
            <a:pPr marL="356870" indent="-344170">
              <a:lnSpc>
                <a:spcPct val="100000"/>
              </a:lnSpc>
              <a:buFont typeface="Arial MT"/>
              <a:buChar char="•"/>
              <a:tabLst>
                <a:tab pos="356870" algn="l"/>
              </a:tabLst>
            </a:pPr>
            <a:r>
              <a:rPr sz="2300" b="1" dirty="0">
                <a:latin typeface="Times New Roman"/>
                <a:cs typeface="Times New Roman"/>
              </a:rPr>
              <a:t>Limited</a:t>
            </a:r>
            <a:r>
              <a:rPr sz="2300" b="1" spc="-60" dirty="0">
                <a:latin typeface="Times New Roman"/>
                <a:cs typeface="Times New Roman"/>
              </a:rPr>
              <a:t> </a:t>
            </a:r>
            <a:r>
              <a:rPr sz="2300" b="1" dirty="0">
                <a:latin typeface="Times New Roman"/>
                <a:cs typeface="Times New Roman"/>
              </a:rPr>
              <a:t>metadata</a:t>
            </a:r>
            <a:r>
              <a:rPr sz="2300" b="1" spc="-20" dirty="0">
                <a:latin typeface="Times New Roman"/>
                <a:cs typeface="Times New Roman"/>
              </a:rPr>
              <a:t> </a:t>
            </a:r>
            <a:r>
              <a:rPr sz="2300" b="1" dirty="0">
                <a:latin typeface="Times New Roman"/>
                <a:cs typeface="Times New Roman"/>
              </a:rPr>
              <a:t>fields</a:t>
            </a:r>
            <a:r>
              <a:rPr sz="2300" b="1" spc="-60" dirty="0">
                <a:latin typeface="Times New Roman"/>
                <a:cs typeface="Times New Roman"/>
              </a:rPr>
              <a:t> </a:t>
            </a:r>
            <a:r>
              <a:rPr sz="2300" dirty="0">
                <a:latin typeface="Times New Roman"/>
                <a:cs typeface="Times New Roman"/>
              </a:rPr>
              <a:t>may</a:t>
            </a:r>
            <a:r>
              <a:rPr sz="2300" spc="-50" dirty="0">
                <a:latin typeface="Times New Roman"/>
                <a:cs typeface="Times New Roman"/>
              </a:rPr>
              <a:t> </a:t>
            </a:r>
            <a:r>
              <a:rPr sz="2300" dirty="0">
                <a:latin typeface="Times New Roman"/>
                <a:cs typeface="Times New Roman"/>
              </a:rPr>
              <a:t>restrict</a:t>
            </a:r>
            <a:r>
              <a:rPr sz="2300" spc="-45" dirty="0">
                <a:latin typeface="Times New Roman"/>
                <a:cs typeface="Times New Roman"/>
              </a:rPr>
              <a:t> </a:t>
            </a:r>
            <a:r>
              <a:rPr sz="2300" dirty="0">
                <a:latin typeface="Times New Roman"/>
                <a:cs typeface="Times New Roman"/>
              </a:rPr>
              <a:t>behavioral</a:t>
            </a:r>
            <a:r>
              <a:rPr sz="2300" spc="-65" dirty="0">
                <a:latin typeface="Times New Roman"/>
                <a:cs typeface="Times New Roman"/>
              </a:rPr>
              <a:t> </a:t>
            </a:r>
            <a:r>
              <a:rPr sz="2300" spc="-10" dirty="0">
                <a:latin typeface="Times New Roman"/>
                <a:cs typeface="Times New Roman"/>
              </a:rPr>
              <a:t>representation.</a:t>
            </a:r>
            <a:endParaRPr sz="2300" dirty="0">
              <a:latin typeface="Times New Roman"/>
              <a:cs typeface="Times New Roman"/>
            </a:endParaRPr>
          </a:p>
          <a:p>
            <a:pPr marL="356870" indent="-344170">
              <a:lnSpc>
                <a:spcPct val="100000"/>
              </a:lnSpc>
              <a:buFont typeface="Arial MT"/>
              <a:buChar char="•"/>
              <a:tabLst>
                <a:tab pos="356870" algn="l"/>
              </a:tabLst>
            </a:pPr>
            <a:r>
              <a:rPr sz="2300" dirty="0">
                <a:latin typeface="Times New Roman"/>
                <a:cs typeface="Times New Roman"/>
              </a:rPr>
              <a:t>Model</a:t>
            </a:r>
            <a:r>
              <a:rPr sz="2300" spc="-40" dirty="0">
                <a:latin typeface="Times New Roman"/>
                <a:cs typeface="Times New Roman"/>
              </a:rPr>
              <a:t> </a:t>
            </a:r>
            <a:r>
              <a:rPr sz="2300" dirty="0">
                <a:latin typeface="Times New Roman"/>
                <a:cs typeface="Times New Roman"/>
              </a:rPr>
              <a:t>may</a:t>
            </a:r>
            <a:r>
              <a:rPr sz="2300" spc="-25" dirty="0">
                <a:latin typeface="Times New Roman"/>
                <a:cs typeface="Times New Roman"/>
              </a:rPr>
              <a:t> </a:t>
            </a:r>
            <a:r>
              <a:rPr sz="2300" dirty="0">
                <a:latin typeface="Times New Roman"/>
                <a:cs typeface="Times New Roman"/>
              </a:rPr>
              <a:t>face</a:t>
            </a:r>
            <a:r>
              <a:rPr sz="2300" spc="-20" dirty="0">
                <a:latin typeface="Times New Roman"/>
                <a:cs typeface="Times New Roman"/>
              </a:rPr>
              <a:t> </a:t>
            </a:r>
            <a:r>
              <a:rPr sz="2300" b="1" dirty="0">
                <a:latin typeface="Times New Roman"/>
                <a:cs typeface="Times New Roman"/>
              </a:rPr>
              <a:t>performance</a:t>
            </a:r>
            <a:r>
              <a:rPr sz="2300" b="1" spc="-65" dirty="0">
                <a:latin typeface="Times New Roman"/>
                <a:cs typeface="Times New Roman"/>
              </a:rPr>
              <a:t> </a:t>
            </a:r>
            <a:r>
              <a:rPr sz="2300" b="1" dirty="0">
                <a:latin typeface="Times New Roman"/>
                <a:cs typeface="Times New Roman"/>
              </a:rPr>
              <a:t>drift</a:t>
            </a:r>
            <a:r>
              <a:rPr sz="2300" b="1" spc="-45" dirty="0">
                <a:latin typeface="Times New Roman"/>
                <a:cs typeface="Times New Roman"/>
              </a:rPr>
              <a:t> </a:t>
            </a:r>
            <a:r>
              <a:rPr sz="2300" dirty="0">
                <a:latin typeface="Times New Roman"/>
                <a:cs typeface="Times New Roman"/>
              </a:rPr>
              <a:t>on</a:t>
            </a:r>
            <a:r>
              <a:rPr sz="2300" spc="-20" dirty="0">
                <a:latin typeface="Times New Roman"/>
                <a:cs typeface="Times New Roman"/>
              </a:rPr>
              <a:t> </a:t>
            </a:r>
            <a:r>
              <a:rPr sz="2300" dirty="0">
                <a:latin typeface="Times New Roman"/>
                <a:cs typeface="Times New Roman"/>
              </a:rPr>
              <a:t>newly</a:t>
            </a:r>
            <a:r>
              <a:rPr sz="2300" spc="-50" dirty="0">
                <a:latin typeface="Times New Roman"/>
                <a:cs typeface="Times New Roman"/>
              </a:rPr>
              <a:t> </a:t>
            </a:r>
            <a:r>
              <a:rPr sz="2300" dirty="0">
                <a:latin typeface="Times New Roman"/>
                <a:cs typeface="Times New Roman"/>
              </a:rPr>
              <a:t>evolving</a:t>
            </a:r>
            <a:r>
              <a:rPr sz="2300" spc="5" dirty="0">
                <a:latin typeface="Times New Roman"/>
                <a:cs typeface="Times New Roman"/>
              </a:rPr>
              <a:t> </a:t>
            </a:r>
            <a:r>
              <a:rPr sz="2300" dirty="0">
                <a:latin typeface="Times New Roman"/>
                <a:cs typeface="Times New Roman"/>
              </a:rPr>
              <a:t>bot</a:t>
            </a:r>
            <a:r>
              <a:rPr sz="2300" spc="-40" dirty="0">
                <a:latin typeface="Times New Roman"/>
                <a:cs typeface="Times New Roman"/>
              </a:rPr>
              <a:t> </a:t>
            </a:r>
            <a:r>
              <a:rPr sz="2300" spc="-10" dirty="0">
                <a:latin typeface="Times New Roman"/>
                <a:cs typeface="Times New Roman"/>
              </a:rPr>
              <a:t>behaviors.</a:t>
            </a:r>
            <a:endParaRPr sz="2300" dirty="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0738" y="232105"/>
            <a:ext cx="3775710" cy="695325"/>
          </a:xfrm>
          <a:prstGeom prst="rect">
            <a:avLst/>
          </a:prstGeom>
        </p:spPr>
        <p:txBody>
          <a:bodyPr vert="horz" wrap="square" lIns="0" tIns="12065" rIns="0" bIns="0" rtlCol="0">
            <a:spAutoFit/>
          </a:bodyPr>
          <a:lstStyle/>
          <a:p>
            <a:pPr marL="12700">
              <a:lnSpc>
                <a:spcPct val="100000"/>
              </a:lnSpc>
              <a:spcBef>
                <a:spcPts val="95"/>
              </a:spcBef>
            </a:pPr>
            <a:r>
              <a:rPr spc="-10" dirty="0"/>
              <a:t>REFERENCES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29</a:t>
            </a:fld>
            <a:endParaRPr spc="-25" dirty="0"/>
          </a:p>
        </p:txBody>
      </p:sp>
      <p:sp>
        <p:nvSpPr>
          <p:cNvPr id="3" name="object 3"/>
          <p:cNvSpPr txBox="1"/>
          <p:nvPr/>
        </p:nvSpPr>
        <p:spPr>
          <a:xfrm>
            <a:off x="503936" y="972769"/>
            <a:ext cx="11245850" cy="5095875"/>
          </a:xfrm>
          <a:prstGeom prst="rect">
            <a:avLst/>
          </a:prstGeom>
        </p:spPr>
        <p:txBody>
          <a:bodyPr vert="horz" wrap="square" lIns="0" tIns="13335" rIns="0" bIns="0" rtlCol="0">
            <a:spAutoFit/>
          </a:bodyPr>
          <a:lstStyle/>
          <a:p>
            <a:pPr marL="328295" indent="-315595">
              <a:lnSpc>
                <a:spcPct val="100000"/>
              </a:lnSpc>
              <a:spcBef>
                <a:spcPts val="105"/>
              </a:spcBef>
              <a:buAutoNum type="arabicPlain"/>
              <a:tabLst>
                <a:tab pos="328295" algn="l"/>
              </a:tabLst>
            </a:pPr>
            <a:r>
              <a:rPr sz="1750" b="1" dirty="0">
                <a:latin typeface="Times New Roman"/>
                <a:cs typeface="Times New Roman"/>
              </a:rPr>
              <a:t>Ferrara</a:t>
            </a:r>
            <a:r>
              <a:rPr sz="1750" b="1" spc="-20" dirty="0">
                <a:latin typeface="Times New Roman"/>
                <a:cs typeface="Times New Roman"/>
              </a:rPr>
              <a:t> </a:t>
            </a:r>
            <a:r>
              <a:rPr sz="1750" b="1" dirty="0">
                <a:latin typeface="Times New Roman"/>
                <a:cs typeface="Times New Roman"/>
              </a:rPr>
              <a:t>et</a:t>
            </a:r>
            <a:r>
              <a:rPr sz="1750" b="1" spc="-30" dirty="0">
                <a:latin typeface="Times New Roman"/>
                <a:cs typeface="Times New Roman"/>
              </a:rPr>
              <a:t> </a:t>
            </a:r>
            <a:r>
              <a:rPr sz="1750" b="1" dirty="0">
                <a:latin typeface="Times New Roman"/>
                <a:cs typeface="Times New Roman"/>
              </a:rPr>
              <a:t>al.</a:t>
            </a:r>
            <a:r>
              <a:rPr sz="1750" b="1" spc="-55" dirty="0">
                <a:latin typeface="Times New Roman"/>
                <a:cs typeface="Times New Roman"/>
              </a:rPr>
              <a:t> </a:t>
            </a:r>
            <a:r>
              <a:rPr sz="1750" b="1" spc="-10" dirty="0">
                <a:latin typeface="Times New Roman"/>
                <a:cs typeface="Times New Roman"/>
              </a:rPr>
              <a:t>(2016):</a:t>
            </a:r>
            <a:endParaRPr sz="1750">
              <a:latin typeface="Times New Roman"/>
              <a:cs typeface="Times New Roman"/>
            </a:endParaRPr>
          </a:p>
          <a:p>
            <a:pPr marL="12700" marR="120014">
              <a:lnSpc>
                <a:spcPts val="2090"/>
              </a:lnSpc>
              <a:spcBef>
                <a:spcPts val="90"/>
              </a:spcBef>
            </a:pPr>
            <a:r>
              <a:rPr sz="1750" dirty="0">
                <a:latin typeface="Times New Roman"/>
                <a:cs typeface="Times New Roman"/>
              </a:rPr>
              <a:t>Explored</a:t>
            </a:r>
            <a:r>
              <a:rPr sz="1750" spc="-25" dirty="0">
                <a:latin typeface="Times New Roman"/>
                <a:cs typeface="Times New Roman"/>
              </a:rPr>
              <a:t> </a:t>
            </a:r>
            <a:r>
              <a:rPr sz="1750" dirty="0">
                <a:latin typeface="Times New Roman"/>
                <a:cs typeface="Times New Roman"/>
              </a:rPr>
              <a:t>the</a:t>
            </a:r>
            <a:r>
              <a:rPr sz="1750" spc="-60" dirty="0">
                <a:latin typeface="Times New Roman"/>
                <a:cs typeface="Times New Roman"/>
              </a:rPr>
              <a:t> </a:t>
            </a:r>
            <a:r>
              <a:rPr sz="1750" dirty="0">
                <a:latin typeface="Times New Roman"/>
                <a:cs typeface="Times New Roman"/>
              </a:rPr>
              <a:t>rise</a:t>
            </a:r>
            <a:r>
              <a:rPr sz="1750" spc="-20" dirty="0">
                <a:latin typeface="Times New Roman"/>
                <a:cs typeface="Times New Roman"/>
              </a:rPr>
              <a:t> </a:t>
            </a:r>
            <a:r>
              <a:rPr sz="1750" dirty="0">
                <a:latin typeface="Times New Roman"/>
                <a:cs typeface="Times New Roman"/>
              </a:rPr>
              <a:t>of</a:t>
            </a:r>
            <a:r>
              <a:rPr sz="1750" spc="-40" dirty="0">
                <a:latin typeface="Times New Roman"/>
                <a:cs typeface="Times New Roman"/>
              </a:rPr>
              <a:t> </a:t>
            </a:r>
            <a:r>
              <a:rPr sz="1750" dirty="0">
                <a:latin typeface="Times New Roman"/>
                <a:cs typeface="Times New Roman"/>
              </a:rPr>
              <a:t>social</a:t>
            </a:r>
            <a:r>
              <a:rPr sz="1750" spc="-20" dirty="0">
                <a:latin typeface="Times New Roman"/>
                <a:cs typeface="Times New Roman"/>
              </a:rPr>
              <a:t> </a:t>
            </a:r>
            <a:r>
              <a:rPr sz="1750" dirty="0">
                <a:latin typeface="Times New Roman"/>
                <a:cs typeface="Times New Roman"/>
              </a:rPr>
              <a:t>bots</a:t>
            </a:r>
            <a:r>
              <a:rPr sz="1750" spc="-55" dirty="0">
                <a:latin typeface="Times New Roman"/>
                <a:cs typeface="Times New Roman"/>
              </a:rPr>
              <a:t> </a:t>
            </a:r>
            <a:r>
              <a:rPr sz="1750" dirty="0">
                <a:latin typeface="Times New Roman"/>
                <a:cs typeface="Times New Roman"/>
              </a:rPr>
              <a:t>on</a:t>
            </a:r>
            <a:r>
              <a:rPr sz="1750" spc="-25" dirty="0">
                <a:latin typeface="Times New Roman"/>
                <a:cs typeface="Times New Roman"/>
              </a:rPr>
              <a:t> </a:t>
            </a:r>
            <a:r>
              <a:rPr sz="1750" dirty="0">
                <a:latin typeface="Times New Roman"/>
                <a:cs typeface="Times New Roman"/>
              </a:rPr>
              <a:t>Twitter</a:t>
            </a:r>
            <a:r>
              <a:rPr sz="1750" spc="-15" dirty="0">
                <a:latin typeface="Times New Roman"/>
                <a:cs typeface="Times New Roman"/>
              </a:rPr>
              <a:t> </a:t>
            </a:r>
            <a:r>
              <a:rPr sz="1750" dirty="0">
                <a:latin typeface="Times New Roman"/>
                <a:cs typeface="Times New Roman"/>
              </a:rPr>
              <a:t>and</a:t>
            </a:r>
            <a:r>
              <a:rPr sz="1750" spc="-65" dirty="0">
                <a:latin typeface="Times New Roman"/>
                <a:cs typeface="Times New Roman"/>
              </a:rPr>
              <a:t> </a:t>
            </a:r>
            <a:r>
              <a:rPr sz="1750" dirty="0">
                <a:latin typeface="Times New Roman"/>
                <a:cs typeface="Times New Roman"/>
              </a:rPr>
              <a:t>their</a:t>
            </a:r>
            <a:r>
              <a:rPr sz="1750" spc="-15" dirty="0">
                <a:latin typeface="Times New Roman"/>
                <a:cs typeface="Times New Roman"/>
              </a:rPr>
              <a:t> </a:t>
            </a:r>
            <a:r>
              <a:rPr sz="1750" dirty="0">
                <a:latin typeface="Times New Roman"/>
                <a:cs typeface="Times New Roman"/>
              </a:rPr>
              <a:t>impact on</a:t>
            </a:r>
            <a:r>
              <a:rPr sz="1750" spc="-40" dirty="0">
                <a:latin typeface="Times New Roman"/>
                <a:cs typeface="Times New Roman"/>
              </a:rPr>
              <a:t> </a:t>
            </a:r>
            <a:r>
              <a:rPr sz="1750" dirty="0">
                <a:latin typeface="Times New Roman"/>
                <a:cs typeface="Times New Roman"/>
              </a:rPr>
              <a:t>public</a:t>
            </a:r>
            <a:r>
              <a:rPr sz="1750" spc="-60" dirty="0">
                <a:latin typeface="Times New Roman"/>
                <a:cs typeface="Times New Roman"/>
              </a:rPr>
              <a:t> </a:t>
            </a:r>
            <a:r>
              <a:rPr sz="1750" dirty="0">
                <a:latin typeface="Times New Roman"/>
                <a:cs typeface="Times New Roman"/>
              </a:rPr>
              <a:t>discourse,</a:t>
            </a:r>
            <a:r>
              <a:rPr sz="1750" spc="-15" dirty="0">
                <a:latin typeface="Times New Roman"/>
                <a:cs typeface="Times New Roman"/>
              </a:rPr>
              <a:t> </a:t>
            </a:r>
            <a:r>
              <a:rPr sz="1750" dirty="0">
                <a:latin typeface="Times New Roman"/>
                <a:cs typeface="Times New Roman"/>
              </a:rPr>
              <a:t>highlighting the</a:t>
            </a:r>
            <a:r>
              <a:rPr sz="1750" spc="-40" dirty="0">
                <a:latin typeface="Times New Roman"/>
                <a:cs typeface="Times New Roman"/>
              </a:rPr>
              <a:t> </a:t>
            </a:r>
            <a:r>
              <a:rPr sz="1750" dirty="0">
                <a:latin typeface="Times New Roman"/>
                <a:cs typeface="Times New Roman"/>
              </a:rPr>
              <a:t>challenges</a:t>
            </a:r>
            <a:r>
              <a:rPr sz="1750" spc="25" dirty="0">
                <a:latin typeface="Times New Roman"/>
                <a:cs typeface="Times New Roman"/>
              </a:rPr>
              <a:t> </a:t>
            </a:r>
            <a:r>
              <a:rPr sz="1750" dirty="0">
                <a:latin typeface="Times New Roman"/>
                <a:cs typeface="Times New Roman"/>
              </a:rPr>
              <a:t>of</a:t>
            </a:r>
            <a:r>
              <a:rPr sz="1750" spc="-40" dirty="0">
                <a:latin typeface="Times New Roman"/>
                <a:cs typeface="Times New Roman"/>
              </a:rPr>
              <a:t> </a:t>
            </a:r>
            <a:r>
              <a:rPr sz="1750" spc="-10" dirty="0">
                <a:latin typeface="Times New Roman"/>
                <a:cs typeface="Times New Roman"/>
              </a:rPr>
              <a:t>distinguishing </a:t>
            </a:r>
            <a:r>
              <a:rPr sz="1750" dirty="0">
                <a:latin typeface="Times New Roman"/>
                <a:cs typeface="Times New Roman"/>
              </a:rPr>
              <a:t>automated</a:t>
            </a:r>
            <a:r>
              <a:rPr sz="1750" spc="5" dirty="0">
                <a:latin typeface="Times New Roman"/>
                <a:cs typeface="Times New Roman"/>
              </a:rPr>
              <a:t> </a:t>
            </a:r>
            <a:r>
              <a:rPr sz="1750" dirty="0">
                <a:latin typeface="Times New Roman"/>
                <a:cs typeface="Times New Roman"/>
              </a:rPr>
              <a:t>accounts</a:t>
            </a:r>
            <a:r>
              <a:rPr sz="1750" spc="-65" dirty="0">
                <a:latin typeface="Times New Roman"/>
                <a:cs typeface="Times New Roman"/>
              </a:rPr>
              <a:t> </a:t>
            </a:r>
            <a:r>
              <a:rPr sz="1750" dirty="0">
                <a:latin typeface="Times New Roman"/>
                <a:cs typeface="Times New Roman"/>
              </a:rPr>
              <a:t>from</a:t>
            </a:r>
            <a:r>
              <a:rPr sz="1750" spc="-55" dirty="0">
                <a:latin typeface="Times New Roman"/>
                <a:cs typeface="Times New Roman"/>
              </a:rPr>
              <a:t> </a:t>
            </a:r>
            <a:r>
              <a:rPr sz="1750" dirty="0">
                <a:latin typeface="Times New Roman"/>
                <a:cs typeface="Times New Roman"/>
              </a:rPr>
              <a:t>real</a:t>
            </a:r>
            <a:r>
              <a:rPr sz="1750" spc="-25" dirty="0">
                <a:latin typeface="Times New Roman"/>
                <a:cs typeface="Times New Roman"/>
              </a:rPr>
              <a:t> </a:t>
            </a:r>
            <a:r>
              <a:rPr sz="1750" spc="-10" dirty="0">
                <a:latin typeface="Times New Roman"/>
                <a:cs typeface="Times New Roman"/>
              </a:rPr>
              <a:t>users.</a:t>
            </a:r>
            <a:endParaRPr sz="1750">
              <a:latin typeface="Times New Roman"/>
              <a:cs typeface="Times New Roman"/>
            </a:endParaRPr>
          </a:p>
          <a:p>
            <a:pPr marL="328295" indent="-315595">
              <a:lnSpc>
                <a:spcPts val="2039"/>
              </a:lnSpc>
              <a:buAutoNum type="arabicPlain" startAt="2"/>
              <a:tabLst>
                <a:tab pos="328295" algn="l"/>
              </a:tabLst>
            </a:pPr>
            <a:r>
              <a:rPr sz="1750" b="1" dirty="0">
                <a:latin typeface="Times New Roman"/>
                <a:cs typeface="Times New Roman"/>
              </a:rPr>
              <a:t>Chu</a:t>
            </a:r>
            <a:r>
              <a:rPr sz="1750" b="1" spc="-40" dirty="0">
                <a:latin typeface="Times New Roman"/>
                <a:cs typeface="Times New Roman"/>
              </a:rPr>
              <a:t> </a:t>
            </a:r>
            <a:r>
              <a:rPr sz="1750" b="1" dirty="0">
                <a:latin typeface="Times New Roman"/>
                <a:cs typeface="Times New Roman"/>
              </a:rPr>
              <a:t>et</a:t>
            </a:r>
            <a:r>
              <a:rPr sz="1750" b="1" spc="-5" dirty="0">
                <a:latin typeface="Times New Roman"/>
                <a:cs typeface="Times New Roman"/>
              </a:rPr>
              <a:t> </a:t>
            </a:r>
            <a:r>
              <a:rPr sz="1750" b="1" dirty="0">
                <a:latin typeface="Times New Roman"/>
                <a:cs typeface="Times New Roman"/>
              </a:rPr>
              <a:t>al.</a:t>
            </a:r>
            <a:r>
              <a:rPr sz="1750" b="1" spc="-25" dirty="0">
                <a:latin typeface="Times New Roman"/>
                <a:cs typeface="Times New Roman"/>
              </a:rPr>
              <a:t> </a:t>
            </a:r>
            <a:r>
              <a:rPr sz="1750" b="1" spc="-10" dirty="0">
                <a:latin typeface="Times New Roman"/>
                <a:cs typeface="Times New Roman"/>
              </a:rPr>
              <a:t>(2012):</a:t>
            </a:r>
            <a:endParaRPr sz="1750">
              <a:latin typeface="Times New Roman"/>
              <a:cs typeface="Times New Roman"/>
            </a:endParaRPr>
          </a:p>
          <a:p>
            <a:pPr marL="12700">
              <a:lnSpc>
                <a:spcPts val="2095"/>
              </a:lnSpc>
            </a:pPr>
            <a:r>
              <a:rPr sz="1750" dirty="0">
                <a:latin typeface="Times New Roman"/>
                <a:cs typeface="Times New Roman"/>
              </a:rPr>
              <a:t>Developed</a:t>
            </a:r>
            <a:r>
              <a:rPr sz="1750" spc="15" dirty="0">
                <a:latin typeface="Times New Roman"/>
                <a:cs typeface="Times New Roman"/>
              </a:rPr>
              <a:t> </a:t>
            </a:r>
            <a:r>
              <a:rPr sz="1750" dirty="0">
                <a:latin typeface="Times New Roman"/>
                <a:cs typeface="Times New Roman"/>
              </a:rPr>
              <a:t>early</a:t>
            </a:r>
            <a:r>
              <a:rPr sz="1750" spc="-20" dirty="0">
                <a:latin typeface="Times New Roman"/>
                <a:cs typeface="Times New Roman"/>
              </a:rPr>
              <a:t> </a:t>
            </a:r>
            <a:r>
              <a:rPr sz="1750" dirty="0">
                <a:latin typeface="Times New Roman"/>
                <a:cs typeface="Times New Roman"/>
              </a:rPr>
              <a:t>automation detection</a:t>
            </a:r>
            <a:r>
              <a:rPr sz="1750" spc="15" dirty="0">
                <a:latin typeface="Times New Roman"/>
                <a:cs typeface="Times New Roman"/>
              </a:rPr>
              <a:t> </a:t>
            </a:r>
            <a:r>
              <a:rPr sz="1750" dirty="0">
                <a:latin typeface="Times New Roman"/>
                <a:cs typeface="Times New Roman"/>
              </a:rPr>
              <a:t>techniques</a:t>
            </a:r>
            <a:r>
              <a:rPr sz="1750" spc="-60" dirty="0">
                <a:latin typeface="Times New Roman"/>
                <a:cs typeface="Times New Roman"/>
              </a:rPr>
              <a:t> </a:t>
            </a:r>
            <a:r>
              <a:rPr sz="1750" dirty="0">
                <a:latin typeface="Times New Roman"/>
                <a:cs typeface="Times New Roman"/>
              </a:rPr>
              <a:t>based</a:t>
            </a:r>
            <a:r>
              <a:rPr sz="1750" spc="-40" dirty="0">
                <a:latin typeface="Times New Roman"/>
                <a:cs typeface="Times New Roman"/>
              </a:rPr>
              <a:t> </a:t>
            </a:r>
            <a:r>
              <a:rPr sz="1750" dirty="0">
                <a:latin typeface="Times New Roman"/>
                <a:cs typeface="Times New Roman"/>
              </a:rPr>
              <a:t>on</a:t>
            </a:r>
            <a:r>
              <a:rPr sz="1750" spc="-60" dirty="0">
                <a:latin typeface="Times New Roman"/>
                <a:cs typeface="Times New Roman"/>
              </a:rPr>
              <a:t> </a:t>
            </a:r>
            <a:r>
              <a:rPr sz="1750" dirty="0">
                <a:latin typeface="Times New Roman"/>
                <a:cs typeface="Times New Roman"/>
              </a:rPr>
              <a:t>user</a:t>
            </a:r>
            <a:r>
              <a:rPr sz="1750" spc="-40" dirty="0">
                <a:latin typeface="Times New Roman"/>
                <a:cs typeface="Times New Roman"/>
              </a:rPr>
              <a:t> </a:t>
            </a:r>
            <a:r>
              <a:rPr sz="1750" dirty="0">
                <a:latin typeface="Times New Roman"/>
                <a:cs typeface="Times New Roman"/>
              </a:rPr>
              <a:t>behavior,</a:t>
            </a:r>
            <a:r>
              <a:rPr sz="1750" spc="-15" dirty="0">
                <a:latin typeface="Times New Roman"/>
                <a:cs typeface="Times New Roman"/>
              </a:rPr>
              <a:t> </a:t>
            </a:r>
            <a:r>
              <a:rPr sz="1750" dirty="0">
                <a:latin typeface="Times New Roman"/>
                <a:cs typeface="Times New Roman"/>
              </a:rPr>
              <a:t>account</a:t>
            </a:r>
            <a:r>
              <a:rPr sz="1750" spc="-75" dirty="0">
                <a:latin typeface="Times New Roman"/>
                <a:cs typeface="Times New Roman"/>
              </a:rPr>
              <a:t> </a:t>
            </a:r>
            <a:r>
              <a:rPr sz="1750" dirty="0">
                <a:latin typeface="Times New Roman"/>
                <a:cs typeface="Times New Roman"/>
              </a:rPr>
              <a:t>ratios,</a:t>
            </a:r>
            <a:r>
              <a:rPr sz="1750" spc="-10" dirty="0">
                <a:latin typeface="Times New Roman"/>
                <a:cs typeface="Times New Roman"/>
              </a:rPr>
              <a:t> </a:t>
            </a:r>
            <a:r>
              <a:rPr sz="1750" dirty="0">
                <a:latin typeface="Times New Roman"/>
                <a:cs typeface="Times New Roman"/>
              </a:rPr>
              <a:t>and</a:t>
            </a:r>
            <a:r>
              <a:rPr sz="1750" spc="-85" dirty="0">
                <a:latin typeface="Times New Roman"/>
                <a:cs typeface="Times New Roman"/>
              </a:rPr>
              <a:t> </a:t>
            </a:r>
            <a:r>
              <a:rPr sz="1750" dirty="0">
                <a:latin typeface="Times New Roman"/>
                <a:cs typeface="Times New Roman"/>
              </a:rPr>
              <a:t>tweet</a:t>
            </a:r>
            <a:r>
              <a:rPr sz="1750" spc="-15" dirty="0">
                <a:latin typeface="Times New Roman"/>
                <a:cs typeface="Times New Roman"/>
              </a:rPr>
              <a:t> </a:t>
            </a:r>
            <a:r>
              <a:rPr sz="1750" dirty="0">
                <a:latin typeface="Times New Roman"/>
                <a:cs typeface="Times New Roman"/>
              </a:rPr>
              <a:t>frequency</a:t>
            </a:r>
            <a:r>
              <a:rPr sz="1750" spc="-20" dirty="0">
                <a:latin typeface="Times New Roman"/>
                <a:cs typeface="Times New Roman"/>
              </a:rPr>
              <a:t> </a:t>
            </a:r>
            <a:r>
              <a:rPr sz="1750" dirty="0">
                <a:latin typeface="Times New Roman"/>
                <a:cs typeface="Times New Roman"/>
              </a:rPr>
              <a:t>using</a:t>
            </a:r>
            <a:r>
              <a:rPr sz="1750" spc="-85" dirty="0">
                <a:latin typeface="Times New Roman"/>
                <a:cs typeface="Times New Roman"/>
              </a:rPr>
              <a:t> </a:t>
            </a:r>
            <a:r>
              <a:rPr sz="1750" spc="-10" dirty="0">
                <a:latin typeface="Times New Roman"/>
                <a:cs typeface="Times New Roman"/>
              </a:rPr>
              <a:t>heuristic</a:t>
            </a:r>
            <a:endParaRPr sz="1750">
              <a:latin typeface="Times New Roman"/>
              <a:cs typeface="Times New Roman"/>
            </a:endParaRPr>
          </a:p>
          <a:p>
            <a:pPr marL="12700">
              <a:lnSpc>
                <a:spcPts val="2095"/>
              </a:lnSpc>
              <a:spcBef>
                <a:spcPts val="10"/>
              </a:spcBef>
            </a:pPr>
            <a:r>
              <a:rPr sz="1750" spc="-10" dirty="0">
                <a:latin typeface="Times New Roman"/>
                <a:cs typeface="Times New Roman"/>
              </a:rPr>
              <a:t>methods.</a:t>
            </a:r>
            <a:endParaRPr sz="1750">
              <a:latin typeface="Times New Roman"/>
              <a:cs typeface="Times New Roman"/>
            </a:endParaRPr>
          </a:p>
          <a:p>
            <a:pPr marL="328930" indent="-316230">
              <a:lnSpc>
                <a:spcPts val="2095"/>
              </a:lnSpc>
              <a:buAutoNum type="arabicPlain" startAt="3"/>
              <a:tabLst>
                <a:tab pos="328930" algn="l"/>
              </a:tabLst>
            </a:pPr>
            <a:r>
              <a:rPr sz="1750" b="1" dirty="0">
                <a:latin typeface="Times New Roman"/>
                <a:cs typeface="Times New Roman"/>
              </a:rPr>
              <a:t>Alothali</a:t>
            </a:r>
            <a:r>
              <a:rPr sz="1750" b="1" spc="-60" dirty="0">
                <a:latin typeface="Times New Roman"/>
                <a:cs typeface="Times New Roman"/>
              </a:rPr>
              <a:t> </a:t>
            </a:r>
            <a:r>
              <a:rPr sz="1750" b="1" dirty="0">
                <a:latin typeface="Times New Roman"/>
                <a:cs typeface="Times New Roman"/>
              </a:rPr>
              <a:t>et</a:t>
            </a:r>
            <a:r>
              <a:rPr sz="1750" b="1" spc="-5" dirty="0">
                <a:latin typeface="Times New Roman"/>
                <a:cs typeface="Times New Roman"/>
              </a:rPr>
              <a:t> </a:t>
            </a:r>
            <a:r>
              <a:rPr sz="1750" b="1" dirty="0">
                <a:latin typeface="Times New Roman"/>
                <a:cs typeface="Times New Roman"/>
              </a:rPr>
              <a:t>al. </a:t>
            </a:r>
            <a:r>
              <a:rPr sz="1750" b="1" spc="-10" dirty="0">
                <a:latin typeface="Times New Roman"/>
                <a:cs typeface="Times New Roman"/>
              </a:rPr>
              <a:t>(2018):</a:t>
            </a:r>
            <a:endParaRPr sz="1750">
              <a:latin typeface="Times New Roman"/>
              <a:cs typeface="Times New Roman"/>
            </a:endParaRPr>
          </a:p>
          <a:p>
            <a:pPr marL="12700" marR="765175">
              <a:lnSpc>
                <a:spcPct val="100000"/>
              </a:lnSpc>
              <a:spcBef>
                <a:spcPts val="15"/>
              </a:spcBef>
            </a:pPr>
            <a:r>
              <a:rPr sz="1750" dirty="0">
                <a:latin typeface="Times New Roman"/>
                <a:cs typeface="Times New Roman"/>
              </a:rPr>
              <a:t>Provided</a:t>
            </a:r>
            <a:r>
              <a:rPr sz="1750" spc="-30" dirty="0">
                <a:latin typeface="Times New Roman"/>
                <a:cs typeface="Times New Roman"/>
              </a:rPr>
              <a:t> </a:t>
            </a:r>
            <a:r>
              <a:rPr sz="1750" dirty="0">
                <a:latin typeface="Times New Roman"/>
                <a:cs typeface="Times New Roman"/>
              </a:rPr>
              <a:t>a</a:t>
            </a:r>
            <a:r>
              <a:rPr sz="1750" spc="-80" dirty="0">
                <a:latin typeface="Times New Roman"/>
                <a:cs typeface="Times New Roman"/>
              </a:rPr>
              <a:t> </a:t>
            </a:r>
            <a:r>
              <a:rPr sz="1750" dirty="0">
                <a:latin typeface="Times New Roman"/>
                <a:cs typeface="Times New Roman"/>
              </a:rPr>
              <a:t>comprehensive</a:t>
            </a:r>
            <a:r>
              <a:rPr sz="1750" spc="15" dirty="0">
                <a:latin typeface="Times New Roman"/>
                <a:cs typeface="Times New Roman"/>
              </a:rPr>
              <a:t> </a:t>
            </a:r>
            <a:r>
              <a:rPr sz="1750" dirty="0">
                <a:latin typeface="Times New Roman"/>
                <a:cs typeface="Times New Roman"/>
              </a:rPr>
              <a:t>literature</a:t>
            </a:r>
            <a:r>
              <a:rPr sz="1750" spc="-25" dirty="0">
                <a:latin typeface="Times New Roman"/>
                <a:cs typeface="Times New Roman"/>
              </a:rPr>
              <a:t> </a:t>
            </a:r>
            <a:r>
              <a:rPr sz="1750" dirty="0">
                <a:latin typeface="Times New Roman"/>
                <a:cs typeface="Times New Roman"/>
              </a:rPr>
              <a:t>review</a:t>
            </a:r>
            <a:r>
              <a:rPr sz="1750" spc="10" dirty="0">
                <a:latin typeface="Times New Roman"/>
                <a:cs typeface="Times New Roman"/>
              </a:rPr>
              <a:t> </a:t>
            </a:r>
            <a:r>
              <a:rPr sz="1750" dirty="0">
                <a:latin typeface="Times New Roman"/>
                <a:cs typeface="Times New Roman"/>
              </a:rPr>
              <a:t>on</a:t>
            </a:r>
            <a:r>
              <a:rPr sz="1750" spc="-65" dirty="0">
                <a:latin typeface="Times New Roman"/>
                <a:cs typeface="Times New Roman"/>
              </a:rPr>
              <a:t> </a:t>
            </a:r>
            <a:r>
              <a:rPr sz="1750" dirty="0">
                <a:latin typeface="Times New Roman"/>
                <a:cs typeface="Times New Roman"/>
              </a:rPr>
              <a:t>social</a:t>
            </a:r>
            <a:r>
              <a:rPr sz="1750" spc="-40" dirty="0">
                <a:latin typeface="Times New Roman"/>
                <a:cs typeface="Times New Roman"/>
              </a:rPr>
              <a:t> </a:t>
            </a:r>
            <a:r>
              <a:rPr sz="1750" dirty="0">
                <a:latin typeface="Times New Roman"/>
                <a:cs typeface="Times New Roman"/>
              </a:rPr>
              <a:t>bot</a:t>
            </a:r>
            <a:r>
              <a:rPr sz="1750" spc="-65" dirty="0">
                <a:latin typeface="Times New Roman"/>
                <a:cs typeface="Times New Roman"/>
              </a:rPr>
              <a:t> </a:t>
            </a:r>
            <a:r>
              <a:rPr sz="1750" dirty="0">
                <a:latin typeface="Times New Roman"/>
                <a:cs typeface="Times New Roman"/>
              </a:rPr>
              <a:t>detection</a:t>
            </a:r>
            <a:r>
              <a:rPr sz="1750" spc="-5" dirty="0">
                <a:latin typeface="Times New Roman"/>
                <a:cs typeface="Times New Roman"/>
              </a:rPr>
              <a:t> </a:t>
            </a:r>
            <a:r>
              <a:rPr sz="1750" dirty="0">
                <a:latin typeface="Times New Roman"/>
                <a:cs typeface="Times New Roman"/>
              </a:rPr>
              <a:t>techniques</a:t>
            </a:r>
            <a:r>
              <a:rPr sz="1750" spc="-40" dirty="0">
                <a:latin typeface="Times New Roman"/>
                <a:cs typeface="Times New Roman"/>
              </a:rPr>
              <a:t> </a:t>
            </a:r>
            <a:r>
              <a:rPr sz="1750" dirty="0">
                <a:latin typeface="Times New Roman"/>
                <a:cs typeface="Times New Roman"/>
              </a:rPr>
              <a:t>and</a:t>
            </a:r>
            <a:r>
              <a:rPr sz="1750" spc="-85" dirty="0">
                <a:latin typeface="Times New Roman"/>
                <a:cs typeface="Times New Roman"/>
              </a:rPr>
              <a:t> </a:t>
            </a:r>
            <a:r>
              <a:rPr sz="1750" dirty="0">
                <a:latin typeface="Times New Roman"/>
                <a:cs typeface="Times New Roman"/>
              </a:rPr>
              <a:t>their</a:t>
            </a:r>
            <a:r>
              <a:rPr sz="1750" spc="-40" dirty="0">
                <a:latin typeface="Times New Roman"/>
                <a:cs typeface="Times New Roman"/>
              </a:rPr>
              <a:t> </a:t>
            </a:r>
            <a:r>
              <a:rPr sz="1750" dirty="0">
                <a:latin typeface="Times New Roman"/>
                <a:cs typeface="Times New Roman"/>
              </a:rPr>
              <a:t>limitations</a:t>
            </a:r>
            <a:r>
              <a:rPr sz="1750" spc="15" dirty="0">
                <a:latin typeface="Times New Roman"/>
                <a:cs typeface="Times New Roman"/>
              </a:rPr>
              <a:t> </a:t>
            </a:r>
            <a:r>
              <a:rPr sz="1750" dirty="0">
                <a:latin typeface="Times New Roman"/>
                <a:cs typeface="Times New Roman"/>
              </a:rPr>
              <a:t>in</a:t>
            </a:r>
            <a:r>
              <a:rPr sz="1750" spc="-60" dirty="0">
                <a:latin typeface="Times New Roman"/>
                <a:cs typeface="Times New Roman"/>
              </a:rPr>
              <a:t> </a:t>
            </a:r>
            <a:r>
              <a:rPr sz="1750" dirty="0">
                <a:latin typeface="Times New Roman"/>
                <a:cs typeface="Times New Roman"/>
              </a:rPr>
              <a:t>evolving</a:t>
            </a:r>
            <a:r>
              <a:rPr sz="1750" spc="-25" dirty="0">
                <a:latin typeface="Times New Roman"/>
                <a:cs typeface="Times New Roman"/>
              </a:rPr>
              <a:t> </a:t>
            </a:r>
            <a:r>
              <a:rPr sz="1750" spc="-10" dirty="0">
                <a:latin typeface="Times New Roman"/>
                <a:cs typeface="Times New Roman"/>
              </a:rPr>
              <a:t>digital ecosystems.</a:t>
            </a:r>
            <a:endParaRPr sz="1750">
              <a:latin typeface="Times New Roman"/>
              <a:cs typeface="Times New Roman"/>
            </a:endParaRPr>
          </a:p>
          <a:p>
            <a:pPr marL="328295" indent="-315595">
              <a:lnSpc>
                <a:spcPts val="2095"/>
              </a:lnSpc>
              <a:buAutoNum type="arabicPlain" startAt="4"/>
              <a:tabLst>
                <a:tab pos="328295" algn="l"/>
              </a:tabLst>
            </a:pPr>
            <a:r>
              <a:rPr sz="1750" b="1" dirty="0">
                <a:latin typeface="Times New Roman"/>
                <a:cs typeface="Times New Roman"/>
              </a:rPr>
              <a:t>Davis</a:t>
            </a:r>
            <a:r>
              <a:rPr sz="1750" b="1" spc="-30" dirty="0">
                <a:latin typeface="Times New Roman"/>
                <a:cs typeface="Times New Roman"/>
              </a:rPr>
              <a:t> </a:t>
            </a:r>
            <a:r>
              <a:rPr sz="1750" b="1" dirty="0">
                <a:latin typeface="Times New Roman"/>
                <a:cs typeface="Times New Roman"/>
              </a:rPr>
              <a:t>et</a:t>
            </a:r>
            <a:r>
              <a:rPr sz="1750" b="1" spc="-5" dirty="0">
                <a:latin typeface="Times New Roman"/>
                <a:cs typeface="Times New Roman"/>
              </a:rPr>
              <a:t> </a:t>
            </a:r>
            <a:r>
              <a:rPr sz="1750" b="1" dirty="0">
                <a:latin typeface="Times New Roman"/>
                <a:cs typeface="Times New Roman"/>
              </a:rPr>
              <a:t>al.</a:t>
            </a:r>
            <a:r>
              <a:rPr sz="1750" b="1" spc="-20" dirty="0">
                <a:latin typeface="Times New Roman"/>
                <a:cs typeface="Times New Roman"/>
              </a:rPr>
              <a:t> </a:t>
            </a:r>
            <a:r>
              <a:rPr sz="1750" b="1" spc="-10" dirty="0">
                <a:latin typeface="Times New Roman"/>
                <a:cs typeface="Times New Roman"/>
              </a:rPr>
              <a:t>(2016):</a:t>
            </a:r>
            <a:endParaRPr sz="1750">
              <a:latin typeface="Times New Roman"/>
              <a:cs typeface="Times New Roman"/>
            </a:endParaRPr>
          </a:p>
          <a:p>
            <a:pPr marL="12700">
              <a:lnSpc>
                <a:spcPts val="2095"/>
              </a:lnSpc>
            </a:pPr>
            <a:r>
              <a:rPr sz="1750" dirty="0">
                <a:latin typeface="Times New Roman"/>
                <a:cs typeface="Times New Roman"/>
              </a:rPr>
              <a:t>Introduced</a:t>
            </a:r>
            <a:r>
              <a:rPr sz="1750" spc="-15" dirty="0">
                <a:latin typeface="Times New Roman"/>
                <a:cs typeface="Times New Roman"/>
              </a:rPr>
              <a:t> </a:t>
            </a:r>
            <a:r>
              <a:rPr sz="1750" b="1" dirty="0">
                <a:latin typeface="Times New Roman"/>
                <a:cs typeface="Times New Roman"/>
              </a:rPr>
              <a:t>BotOrNot</a:t>
            </a:r>
            <a:r>
              <a:rPr sz="1750" dirty="0">
                <a:latin typeface="Times New Roman"/>
                <a:cs typeface="Times New Roman"/>
              </a:rPr>
              <a:t>,</a:t>
            </a:r>
            <a:r>
              <a:rPr sz="1750" spc="-75" dirty="0">
                <a:latin typeface="Times New Roman"/>
                <a:cs typeface="Times New Roman"/>
              </a:rPr>
              <a:t> </a:t>
            </a:r>
            <a:r>
              <a:rPr sz="1750" dirty="0">
                <a:latin typeface="Times New Roman"/>
                <a:cs typeface="Times New Roman"/>
              </a:rPr>
              <a:t>one</a:t>
            </a:r>
            <a:r>
              <a:rPr sz="1750" spc="-80" dirty="0">
                <a:latin typeface="Times New Roman"/>
                <a:cs typeface="Times New Roman"/>
              </a:rPr>
              <a:t> </a:t>
            </a:r>
            <a:r>
              <a:rPr sz="1750" dirty="0">
                <a:latin typeface="Times New Roman"/>
                <a:cs typeface="Times New Roman"/>
              </a:rPr>
              <a:t>of</a:t>
            </a:r>
            <a:r>
              <a:rPr sz="1750" spc="-55" dirty="0">
                <a:latin typeface="Times New Roman"/>
                <a:cs typeface="Times New Roman"/>
              </a:rPr>
              <a:t> </a:t>
            </a:r>
            <a:r>
              <a:rPr sz="1750" dirty="0">
                <a:latin typeface="Times New Roman"/>
                <a:cs typeface="Times New Roman"/>
              </a:rPr>
              <a:t>the</a:t>
            </a:r>
            <a:r>
              <a:rPr sz="1750" spc="-60" dirty="0">
                <a:latin typeface="Times New Roman"/>
                <a:cs typeface="Times New Roman"/>
              </a:rPr>
              <a:t> </a:t>
            </a:r>
            <a:r>
              <a:rPr sz="1750" dirty="0">
                <a:latin typeface="Times New Roman"/>
                <a:cs typeface="Times New Roman"/>
              </a:rPr>
              <a:t>first</a:t>
            </a:r>
            <a:r>
              <a:rPr sz="1750" spc="-40" dirty="0">
                <a:latin typeface="Times New Roman"/>
                <a:cs typeface="Times New Roman"/>
              </a:rPr>
              <a:t> </a:t>
            </a:r>
            <a:r>
              <a:rPr sz="1750" dirty="0">
                <a:latin typeface="Times New Roman"/>
                <a:cs typeface="Times New Roman"/>
              </a:rPr>
              <a:t>automated</a:t>
            </a:r>
            <a:r>
              <a:rPr sz="1750" spc="20" dirty="0">
                <a:latin typeface="Times New Roman"/>
                <a:cs typeface="Times New Roman"/>
              </a:rPr>
              <a:t> </a:t>
            </a:r>
            <a:r>
              <a:rPr sz="1750" dirty="0">
                <a:latin typeface="Times New Roman"/>
                <a:cs typeface="Times New Roman"/>
              </a:rPr>
              <a:t>systems</a:t>
            </a:r>
            <a:r>
              <a:rPr sz="1750" spc="5" dirty="0">
                <a:latin typeface="Times New Roman"/>
                <a:cs typeface="Times New Roman"/>
              </a:rPr>
              <a:t> </a:t>
            </a:r>
            <a:r>
              <a:rPr sz="1750" dirty="0">
                <a:latin typeface="Times New Roman"/>
                <a:cs typeface="Times New Roman"/>
              </a:rPr>
              <a:t>to</a:t>
            </a:r>
            <a:r>
              <a:rPr sz="1750" spc="-65" dirty="0">
                <a:latin typeface="Times New Roman"/>
                <a:cs typeface="Times New Roman"/>
              </a:rPr>
              <a:t> </a:t>
            </a:r>
            <a:r>
              <a:rPr sz="1750" dirty="0">
                <a:latin typeface="Times New Roman"/>
                <a:cs typeface="Times New Roman"/>
              </a:rPr>
              <a:t>classify</a:t>
            </a:r>
            <a:r>
              <a:rPr sz="1750" spc="-20" dirty="0">
                <a:latin typeface="Times New Roman"/>
                <a:cs typeface="Times New Roman"/>
              </a:rPr>
              <a:t> </a:t>
            </a:r>
            <a:r>
              <a:rPr sz="1750" dirty="0">
                <a:latin typeface="Times New Roman"/>
                <a:cs typeface="Times New Roman"/>
              </a:rPr>
              <a:t>Twitter</a:t>
            </a:r>
            <a:r>
              <a:rPr sz="1750" spc="-35" dirty="0">
                <a:latin typeface="Times New Roman"/>
                <a:cs typeface="Times New Roman"/>
              </a:rPr>
              <a:t> </a:t>
            </a:r>
            <a:r>
              <a:rPr sz="1750" dirty="0">
                <a:latin typeface="Times New Roman"/>
                <a:cs typeface="Times New Roman"/>
              </a:rPr>
              <a:t>accounts</a:t>
            </a:r>
            <a:r>
              <a:rPr sz="1750" spc="-60" dirty="0">
                <a:latin typeface="Times New Roman"/>
                <a:cs typeface="Times New Roman"/>
              </a:rPr>
              <a:t> </a:t>
            </a:r>
            <a:r>
              <a:rPr sz="1750" dirty="0">
                <a:latin typeface="Times New Roman"/>
                <a:cs typeface="Times New Roman"/>
              </a:rPr>
              <a:t>based</a:t>
            </a:r>
            <a:r>
              <a:rPr sz="1750" spc="-40" dirty="0">
                <a:latin typeface="Times New Roman"/>
                <a:cs typeface="Times New Roman"/>
              </a:rPr>
              <a:t> </a:t>
            </a:r>
            <a:r>
              <a:rPr sz="1750" dirty="0">
                <a:latin typeface="Times New Roman"/>
                <a:cs typeface="Times New Roman"/>
              </a:rPr>
              <a:t>on</a:t>
            </a:r>
            <a:r>
              <a:rPr sz="1750" spc="-65" dirty="0">
                <a:latin typeface="Times New Roman"/>
                <a:cs typeface="Times New Roman"/>
              </a:rPr>
              <a:t> </a:t>
            </a:r>
            <a:r>
              <a:rPr sz="1750" dirty="0">
                <a:latin typeface="Times New Roman"/>
                <a:cs typeface="Times New Roman"/>
              </a:rPr>
              <a:t>metadata</a:t>
            </a:r>
            <a:r>
              <a:rPr sz="1750" spc="5" dirty="0">
                <a:latin typeface="Times New Roman"/>
                <a:cs typeface="Times New Roman"/>
              </a:rPr>
              <a:t> </a:t>
            </a:r>
            <a:r>
              <a:rPr sz="1750" dirty="0">
                <a:latin typeface="Times New Roman"/>
                <a:cs typeface="Times New Roman"/>
              </a:rPr>
              <a:t>and</a:t>
            </a:r>
            <a:r>
              <a:rPr sz="1750" spc="-65" dirty="0">
                <a:latin typeface="Times New Roman"/>
                <a:cs typeface="Times New Roman"/>
              </a:rPr>
              <a:t> </a:t>
            </a:r>
            <a:r>
              <a:rPr sz="1750" dirty="0">
                <a:latin typeface="Times New Roman"/>
                <a:cs typeface="Times New Roman"/>
              </a:rPr>
              <a:t>activity</a:t>
            </a:r>
            <a:r>
              <a:rPr sz="1750" spc="-20" dirty="0">
                <a:latin typeface="Times New Roman"/>
                <a:cs typeface="Times New Roman"/>
              </a:rPr>
              <a:t> </a:t>
            </a:r>
            <a:r>
              <a:rPr sz="1750" spc="-10" dirty="0">
                <a:latin typeface="Times New Roman"/>
                <a:cs typeface="Times New Roman"/>
              </a:rPr>
              <a:t>features.</a:t>
            </a:r>
            <a:endParaRPr sz="1750">
              <a:latin typeface="Times New Roman"/>
              <a:cs typeface="Times New Roman"/>
            </a:endParaRPr>
          </a:p>
          <a:p>
            <a:pPr marL="328295" indent="-315595">
              <a:lnSpc>
                <a:spcPts val="2095"/>
              </a:lnSpc>
              <a:spcBef>
                <a:spcPts val="15"/>
              </a:spcBef>
              <a:buAutoNum type="arabicPlain" startAt="5"/>
              <a:tabLst>
                <a:tab pos="328295" algn="l"/>
              </a:tabLst>
            </a:pPr>
            <a:r>
              <a:rPr sz="1750" b="1" dirty="0">
                <a:latin typeface="Times New Roman"/>
                <a:cs typeface="Times New Roman"/>
              </a:rPr>
              <a:t>Cresci</a:t>
            </a:r>
            <a:r>
              <a:rPr sz="1750" b="1" spc="-20" dirty="0">
                <a:latin typeface="Times New Roman"/>
                <a:cs typeface="Times New Roman"/>
              </a:rPr>
              <a:t> </a:t>
            </a:r>
            <a:r>
              <a:rPr sz="1750" b="1" dirty="0">
                <a:latin typeface="Times New Roman"/>
                <a:cs typeface="Times New Roman"/>
              </a:rPr>
              <a:t>et</a:t>
            </a:r>
            <a:r>
              <a:rPr sz="1750" b="1" spc="-20" dirty="0">
                <a:latin typeface="Times New Roman"/>
                <a:cs typeface="Times New Roman"/>
              </a:rPr>
              <a:t> </a:t>
            </a:r>
            <a:r>
              <a:rPr sz="1750" b="1" dirty="0">
                <a:latin typeface="Times New Roman"/>
                <a:cs typeface="Times New Roman"/>
              </a:rPr>
              <a:t>al.</a:t>
            </a:r>
            <a:r>
              <a:rPr sz="1750" b="1" spc="-35" dirty="0">
                <a:latin typeface="Times New Roman"/>
                <a:cs typeface="Times New Roman"/>
              </a:rPr>
              <a:t> </a:t>
            </a:r>
            <a:r>
              <a:rPr sz="1750" b="1" spc="-10" dirty="0">
                <a:latin typeface="Times New Roman"/>
                <a:cs typeface="Times New Roman"/>
              </a:rPr>
              <a:t>(2017):</a:t>
            </a:r>
            <a:endParaRPr sz="1750">
              <a:latin typeface="Times New Roman"/>
              <a:cs typeface="Times New Roman"/>
            </a:endParaRPr>
          </a:p>
          <a:p>
            <a:pPr marL="12700">
              <a:lnSpc>
                <a:spcPts val="2095"/>
              </a:lnSpc>
            </a:pPr>
            <a:r>
              <a:rPr sz="1750" dirty="0">
                <a:latin typeface="Times New Roman"/>
                <a:cs typeface="Times New Roman"/>
              </a:rPr>
              <a:t>Presented</a:t>
            </a:r>
            <a:r>
              <a:rPr sz="1750" spc="20" dirty="0">
                <a:latin typeface="Times New Roman"/>
                <a:cs typeface="Times New Roman"/>
              </a:rPr>
              <a:t> </a:t>
            </a:r>
            <a:r>
              <a:rPr sz="1750" dirty="0">
                <a:latin typeface="Times New Roman"/>
                <a:cs typeface="Times New Roman"/>
              </a:rPr>
              <a:t>evidence</a:t>
            </a:r>
            <a:r>
              <a:rPr sz="1750" spc="-15" dirty="0">
                <a:latin typeface="Times New Roman"/>
                <a:cs typeface="Times New Roman"/>
              </a:rPr>
              <a:t> </a:t>
            </a:r>
            <a:r>
              <a:rPr sz="1750" dirty="0">
                <a:latin typeface="Times New Roman"/>
                <a:cs typeface="Times New Roman"/>
              </a:rPr>
              <a:t>of</a:t>
            </a:r>
            <a:r>
              <a:rPr sz="1750" spc="-50" dirty="0">
                <a:latin typeface="Times New Roman"/>
                <a:cs typeface="Times New Roman"/>
              </a:rPr>
              <a:t> </a:t>
            </a:r>
            <a:r>
              <a:rPr sz="1750" dirty="0">
                <a:latin typeface="Times New Roman"/>
                <a:cs typeface="Times New Roman"/>
              </a:rPr>
              <a:t>advanced</a:t>
            </a:r>
            <a:r>
              <a:rPr sz="1750" spc="-40" dirty="0">
                <a:latin typeface="Times New Roman"/>
                <a:cs typeface="Times New Roman"/>
              </a:rPr>
              <a:t> </a:t>
            </a:r>
            <a:r>
              <a:rPr sz="1750" dirty="0">
                <a:latin typeface="Times New Roman"/>
                <a:cs typeface="Times New Roman"/>
              </a:rPr>
              <a:t>spambots</a:t>
            </a:r>
            <a:r>
              <a:rPr sz="1750" spc="-30" dirty="0">
                <a:latin typeface="Times New Roman"/>
                <a:cs typeface="Times New Roman"/>
              </a:rPr>
              <a:t> </a:t>
            </a:r>
            <a:r>
              <a:rPr sz="1750" dirty="0">
                <a:latin typeface="Times New Roman"/>
                <a:cs typeface="Times New Roman"/>
              </a:rPr>
              <a:t>that</a:t>
            </a:r>
            <a:r>
              <a:rPr sz="1750" spc="-55" dirty="0">
                <a:latin typeface="Times New Roman"/>
                <a:cs typeface="Times New Roman"/>
              </a:rPr>
              <a:t> </a:t>
            </a:r>
            <a:r>
              <a:rPr sz="1750" dirty="0">
                <a:latin typeface="Times New Roman"/>
                <a:cs typeface="Times New Roman"/>
              </a:rPr>
              <a:t>imitate</a:t>
            </a:r>
            <a:r>
              <a:rPr sz="1750" spc="10" dirty="0">
                <a:latin typeface="Times New Roman"/>
                <a:cs typeface="Times New Roman"/>
              </a:rPr>
              <a:t> </a:t>
            </a:r>
            <a:r>
              <a:rPr sz="1750" dirty="0">
                <a:latin typeface="Times New Roman"/>
                <a:cs typeface="Times New Roman"/>
              </a:rPr>
              <a:t>human</a:t>
            </a:r>
            <a:r>
              <a:rPr sz="1750" spc="-55" dirty="0">
                <a:latin typeface="Times New Roman"/>
                <a:cs typeface="Times New Roman"/>
              </a:rPr>
              <a:t> </a:t>
            </a:r>
            <a:r>
              <a:rPr sz="1750" dirty="0">
                <a:latin typeface="Times New Roman"/>
                <a:cs typeface="Times New Roman"/>
              </a:rPr>
              <a:t>interactions,</a:t>
            </a:r>
            <a:r>
              <a:rPr sz="1750" spc="10" dirty="0">
                <a:latin typeface="Times New Roman"/>
                <a:cs typeface="Times New Roman"/>
              </a:rPr>
              <a:t> </a:t>
            </a:r>
            <a:r>
              <a:rPr sz="1750" dirty="0">
                <a:latin typeface="Times New Roman"/>
                <a:cs typeface="Times New Roman"/>
              </a:rPr>
              <a:t>marking</a:t>
            </a:r>
            <a:r>
              <a:rPr sz="1750" spc="-15" dirty="0">
                <a:latin typeface="Times New Roman"/>
                <a:cs typeface="Times New Roman"/>
              </a:rPr>
              <a:t> </a:t>
            </a:r>
            <a:r>
              <a:rPr sz="1750" dirty="0">
                <a:latin typeface="Times New Roman"/>
                <a:cs typeface="Times New Roman"/>
              </a:rPr>
              <a:t>a</a:t>
            </a:r>
            <a:r>
              <a:rPr sz="1750" spc="-55" dirty="0">
                <a:latin typeface="Times New Roman"/>
                <a:cs typeface="Times New Roman"/>
              </a:rPr>
              <a:t> </a:t>
            </a:r>
            <a:r>
              <a:rPr sz="1750" dirty="0">
                <a:latin typeface="Times New Roman"/>
                <a:cs typeface="Times New Roman"/>
              </a:rPr>
              <a:t>major</a:t>
            </a:r>
            <a:r>
              <a:rPr sz="1750" spc="-30" dirty="0">
                <a:latin typeface="Times New Roman"/>
                <a:cs typeface="Times New Roman"/>
              </a:rPr>
              <a:t> </a:t>
            </a:r>
            <a:r>
              <a:rPr sz="1750" dirty="0">
                <a:latin typeface="Times New Roman"/>
                <a:cs typeface="Times New Roman"/>
              </a:rPr>
              <a:t>shift</a:t>
            </a:r>
            <a:r>
              <a:rPr sz="1750" spc="-55" dirty="0">
                <a:latin typeface="Times New Roman"/>
                <a:cs typeface="Times New Roman"/>
              </a:rPr>
              <a:t> </a:t>
            </a:r>
            <a:r>
              <a:rPr sz="1750" dirty="0">
                <a:latin typeface="Times New Roman"/>
                <a:cs typeface="Times New Roman"/>
              </a:rPr>
              <a:t>in</a:t>
            </a:r>
            <a:r>
              <a:rPr sz="1750" spc="-55" dirty="0">
                <a:latin typeface="Times New Roman"/>
                <a:cs typeface="Times New Roman"/>
              </a:rPr>
              <a:t> </a:t>
            </a:r>
            <a:r>
              <a:rPr sz="1750" dirty="0">
                <a:latin typeface="Times New Roman"/>
                <a:cs typeface="Times New Roman"/>
              </a:rPr>
              <a:t>bot</a:t>
            </a:r>
            <a:r>
              <a:rPr sz="1750" spc="-50" dirty="0">
                <a:latin typeface="Times New Roman"/>
                <a:cs typeface="Times New Roman"/>
              </a:rPr>
              <a:t> </a:t>
            </a:r>
            <a:r>
              <a:rPr sz="1750" spc="-10" dirty="0">
                <a:latin typeface="Times New Roman"/>
                <a:cs typeface="Times New Roman"/>
              </a:rPr>
              <a:t>sophistication.</a:t>
            </a:r>
            <a:endParaRPr sz="1750">
              <a:latin typeface="Times New Roman"/>
              <a:cs typeface="Times New Roman"/>
            </a:endParaRPr>
          </a:p>
          <a:p>
            <a:pPr marL="328930" indent="-316230">
              <a:lnSpc>
                <a:spcPts val="2095"/>
              </a:lnSpc>
              <a:spcBef>
                <a:spcPts val="15"/>
              </a:spcBef>
              <a:buAutoNum type="arabicPlain" startAt="6"/>
              <a:tabLst>
                <a:tab pos="328930" algn="l"/>
              </a:tabLst>
            </a:pPr>
            <a:r>
              <a:rPr sz="1750" b="1" dirty="0">
                <a:latin typeface="Times New Roman"/>
                <a:cs typeface="Times New Roman"/>
              </a:rPr>
              <a:t>Chavoshi</a:t>
            </a:r>
            <a:r>
              <a:rPr sz="1750" b="1" spc="-55" dirty="0">
                <a:latin typeface="Times New Roman"/>
                <a:cs typeface="Times New Roman"/>
              </a:rPr>
              <a:t> </a:t>
            </a:r>
            <a:r>
              <a:rPr sz="1750" b="1" dirty="0">
                <a:latin typeface="Times New Roman"/>
                <a:cs typeface="Times New Roman"/>
              </a:rPr>
              <a:t>et al.</a:t>
            </a:r>
            <a:r>
              <a:rPr sz="1750" b="1" spc="-15" dirty="0">
                <a:latin typeface="Times New Roman"/>
                <a:cs typeface="Times New Roman"/>
              </a:rPr>
              <a:t> </a:t>
            </a:r>
            <a:r>
              <a:rPr sz="1750" b="1" spc="-10" dirty="0">
                <a:latin typeface="Times New Roman"/>
                <a:cs typeface="Times New Roman"/>
              </a:rPr>
              <a:t>(2016):</a:t>
            </a:r>
            <a:endParaRPr sz="1750">
              <a:latin typeface="Times New Roman"/>
              <a:cs typeface="Times New Roman"/>
            </a:endParaRPr>
          </a:p>
          <a:p>
            <a:pPr marL="12700">
              <a:lnSpc>
                <a:spcPts val="2095"/>
              </a:lnSpc>
            </a:pPr>
            <a:r>
              <a:rPr sz="1750" dirty="0">
                <a:latin typeface="Times New Roman"/>
                <a:cs typeface="Times New Roman"/>
              </a:rPr>
              <a:t>Proposed</a:t>
            </a:r>
            <a:r>
              <a:rPr sz="1750" spc="-5" dirty="0">
                <a:latin typeface="Times New Roman"/>
                <a:cs typeface="Times New Roman"/>
              </a:rPr>
              <a:t> </a:t>
            </a:r>
            <a:r>
              <a:rPr sz="1750" b="1" dirty="0">
                <a:latin typeface="Times New Roman"/>
                <a:cs typeface="Times New Roman"/>
              </a:rPr>
              <a:t>DeBot</a:t>
            </a:r>
            <a:r>
              <a:rPr sz="1750" dirty="0">
                <a:latin typeface="Times New Roman"/>
                <a:cs typeface="Times New Roman"/>
              </a:rPr>
              <a:t>,</a:t>
            </a:r>
            <a:r>
              <a:rPr sz="1750" spc="-80" dirty="0">
                <a:latin typeface="Times New Roman"/>
                <a:cs typeface="Times New Roman"/>
              </a:rPr>
              <a:t> </a:t>
            </a:r>
            <a:r>
              <a:rPr sz="1750" dirty="0">
                <a:latin typeface="Times New Roman"/>
                <a:cs typeface="Times New Roman"/>
              </a:rPr>
              <a:t>a</a:t>
            </a:r>
            <a:r>
              <a:rPr sz="1750" spc="-50" dirty="0">
                <a:latin typeface="Times New Roman"/>
                <a:cs typeface="Times New Roman"/>
              </a:rPr>
              <a:t> </a:t>
            </a:r>
            <a:r>
              <a:rPr sz="1750" dirty="0">
                <a:latin typeface="Times New Roman"/>
                <a:cs typeface="Times New Roman"/>
              </a:rPr>
              <a:t>method</a:t>
            </a:r>
            <a:r>
              <a:rPr sz="1750" spc="15" dirty="0">
                <a:latin typeface="Times New Roman"/>
                <a:cs typeface="Times New Roman"/>
              </a:rPr>
              <a:t> </a:t>
            </a:r>
            <a:r>
              <a:rPr sz="1750" dirty="0">
                <a:latin typeface="Times New Roman"/>
                <a:cs typeface="Times New Roman"/>
              </a:rPr>
              <a:t>using</a:t>
            </a:r>
            <a:r>
              <a:rPr sz="1750" spc="-70" dirty="0">
                <a:latin typeface="Times New Roman"/>
                <a:cs typeface="Times New Roman"/>
              </a:rPr>
              <a:t> </a:t>
            </a:r>
            <a:r>
              <a:rPr sz="1750" dirty="0">
                <a:latin typeface="Times New Roman"/>
                <a:cs typeface="Times New Roman"/>
              </a:rPr>
              <a:t>warped</a:t>
            </a:r>
            <a:r>
              <a:rPr sz="1750" spc="-30" dirty="0">
                <a:latin typeface="Times New Roman"/>
                <a:cs typeface="Times New Roman"/>
              </a:rPr>
              <a:t> </a:t>
            </a:r>
            <a:r>
              <a:rPr sz="1750" dirty="0">
                <a:latin typeface="Times New Roman"/>
                <a:cs typeface="Times New Roman"/>
              </a:rPr>
              <a:t>correlation</a:t>
            </a:r>
            <a:r>
              <a:rPr sz="1750" spc="35" dirty="0">
                <a:latin typeface="Times New Roman"/>
                <a:cs typeface="Times New Roman"/>
              </a:rPr>
              <a:t> </a:t>
            </a:r>
            <a:r>
              <a:rPr sz="1750" dirty="0">
                <a:latin typeface="Times New Roman"/>
                <a:cs typeface="Times New Roman"/>
              </a:rPr>
              <a:t>to</a:t>
            </a:r>
            <a:r>
              <a:rPr sz="1750" spc="-55" dirty="0">
                <a:latin typeface="Times New Roman"/>
                <a:cs typeface="Times New Roman"/>
              </a:rPr>
              <a:t> </a:t>
            </a:r>
            <a:r>
              <a:rPr sz="1750" dirty="0">
                <a:latin typeface="Times New Roman"/>
                <a:cs typeface="Times New Roman"/>
              </a:rPr>
              <a:t>identify</a:t>
            </a:r>
            <a:r>
              <a:rPr sz="1750" spc="-25" dirty="0">
                <a:latin typeface="Times New Roman"/>
                <a:cs typeface="Times New Roman"/>
              </a:rPr>
              <a:t> </a:t>
            </a:r>
            <a:r>
              <a:rPr sz="1750" dirty="0">
                <a:latin typeface="Times New Roman"/>
                <a:cs typeface="Times New Roman"/>
              </a:rPr>
              <a:t>groups</a:t>
            </a:r>
            <a:r>
              <a:rPr sz="1750" spc="-25" dirty="0">
                <a:latin typeface="Times New Roman"/>
                <a:cs typeface="Times New Roman"/>
              </a:rPr>
              <a:t> </a:t>
            </a:r>
            <a:r>
              <a:rPr sz="1750" dirty="0">
                <a:latin typeface="Times New Roman"/>
                <a:cs typeface="Times New Roman"/>
              </a:rPr>
              <a:t>of</a:t>
            </a:r>
            <a:r>
              <a:rPr sz="1750" spc="-45" dirty="0">
                <a:latin typeface="Times New Roman"/>
                <a:cs typeface="Times New Roman"/>
              </a:rPr>
              <a:t> </a:t>
            </a:r>
            <a:r>
              <a:rPr sz="1750" dirty="0">
                <a:latin typeface="Times New Roman"/>
                <a:cs typeface="Times New Roman"/>
              </a:rPr>
              <a:t>synchronized</a:t>
            </a:r>
            <a:r>
              <a:rPr sz="1750" spc="-30" dirty="0">
                <a:latin typeface="Times New Roman"/>
                <a:cs typeface="Times New Roman"/>
              </a:rPr>
              <a:t> </a:t>
            </a:r>
            <a:r>
              <a:rPr sz="1750" dirty="0">
                <a:latin typeface="Times New Roman"/>
                <a:cs typeface="Times New Roman"/>
              </a:rPr>
              <a:t>bot</a:t>
            </a:r>
            <a:r>
              <a:rPr sz="1750" spc="-65" dirty="0">
                <a:latin typeface="Times New Roman"/>
                <a:cs typeface="Times New Roman"/>
              </a:rPr>
              <a:t> </a:t>
            </a:r>
            <a:r>
              <a:rPr sz="1750" dirty="0">
                <a:latin typeface="Times New Roman"/>
                <a:cs typeface="Times New Roman"/>
              </a:rPr>
              <a:t>activities</a:t>
            </a:r>
            <a:r>
              <a:rPr sz="1750" spc="35" dirty="0">
                <a:latin typeface="Times New Roman"/>
                <a:cs typeface="Times New Roman"/>
              </a:rPr>
              <a:t> </a:t>
            </a:r>
            <a:r>
              <a:rPr sz="1750" dirty="0">
                <a:latin typeface="Times New Roman"/>
                <a:cs typeface="Times New Roman"/>
              </a:rPr>
              <a:t>on</a:t>
            </a:r>
            <a:r>
              <a:rPr sz="1750" spc="-45" dirty="0">
                <a:latin typeface="Times New Roman"/>
                <a:cs typeface="Times New Roman"/>
              </a:rPr>
              <a:t> </a:t>
            </a:r>
            <a:r>
              <a:rPr sz="1750" spc="-10" dirty="0">
                <a:latin typeface="Times New Roman"/>
                <a:cs typeface="Times New Roman"/>
              </a:rPr>
              <a:t>Twitter.</a:t>
            </a:r>
            <a:endParaRPr sz="1750">
              <a:latin typeface="Times New Roman"/>
              <a:cs typeface="Times New Roman"/>
            </a:endParaRPr>
          </a:p>
          <a:p>
            <a:pPr marL="328295" indent="-315595">
              <a:lnSpc>
                <a:spcPts val="2095"/>
              </a:lnSpc>
              <a:spcBef>
                <a:spcPts val="10"/>
              </a:spcBef>
              <a:buAutoNum type="arabicPlain" startAt="7"/>
              <a:tabLst>
                <a:tab pos="328295" algn="l"/>
              </a:tabLst>
            </a:pPr>
            <a:r>
              <a:rPr sz="1750" b="1" dirty="0">
                <a:latin typeface="Times New Roman"/>
                <a:cs typeface="Times New Roman"/>
              </a:rPr>
              <a:t>Miller</a:t>
            </a:r>
            <a:r>
              <a:rPr sz="1750" b="1" spc="-15" dirty="0">
                <a:latin typeface="Times New Roman"/>
                <a:cs typeface="Times New Roman"/>
              </a:rPr>
              <a:t> </a:t>
            </a:r>
            <a:r>
              <a:rPr sz="1750" b="1" dirty="0">
                <a:latin typeface="Times New Roman"/>
                <a:cs typeface="Times New Roman"/>
              </a:rPr>
              <a:t>and</a:t>
            </a:r>
            <a:r>
              <a:rPr sz="1750" b="1" spc="-40" dirty="0">
                <a:latin typeface="Times New Roman"/>
                <a:cs typeface="Times New Roman"/>
              </a:rPr>
              <a:t> </a:t>
            </a:r>
            <a:r>
              <a:rPr sz="1750" b="1" dirty="0">
                <a:latin typeface="Times New Roman"/>
                <a:cs typeface="Times New Roman"/>
              </a:rPr>
              <a:t>Hagen</a:t>
            </a:r>
            <a:r>
              <a:rPr sz="1750" b="1" spc="-35" dirty="0">
                <a:latin typeface="Times New Roman"/>
                <a:cs typeface="Times New Roman"/>
              </a:rPr>
              <a:t> </a:t>
            </a:r>
            <a:r>
              <a:rPr sz="1750" b="1" spc="-10" dirty="0">
                <a:latin typeface="Times New Roman"/>
                <a:cs typeface="Times New Roman"/>
              </a:rPr>
              <a:t>(2021):</a:t>
            </a:r>
            <a:endParaRPr sz="1750">
              <a:latin typeface="Times New Roman"/>
              <a:cs typeface="Times New Roman"/>
            </a:endParaRPr>
          </a:p>
          <a:p>
            <a:pPr marL="12700">
              <a:lnSpc>
                <a:spcPts val="2095"/>
              </a:lnSpc>
            </a:pPr>
            <a:r>
              <a:rPr sz="1750" dirty="0">
                <a:latin typeface="Times New Roman"/>
                <a:cs typeface="Times New Roman"/>
              </a:rPr>
              <a:t>Analyzed</a:t>
            </a:r>
            <a:r>
              <a:rPr sz="1750" spc="-55" dirty="0">
                <a:latin typeface="Times New Roman"/>
                <a:cs typeface="Times New Roman"/>
              </a:rPr>
              <a:t> </a:t>
            </a:r>
            <a:r>
              <a:rPr sz="1750" dirty="0">
                <a:latin typeface="Times New Roman"/>
                <a:cs typeface="Times New Roman"/>
              </a:rPr>
              <a:t>modern</a:t>
            </a:r>
            <a:r>
              <a:rPr sz="1750" spc="25" dirty="0">
                <a:latin typeface="Times New Roman"/>
                <a:cs typeface="Times New Roman"/>
              </a:rPr>
              <a:t> </a:t>
            </a:r>
            <a:r>
              <a:rPr sz="1750" spc="-20" dirty="0">
                <a:latin typeface="Times New Roman"/>
                <a:cs typeface="Times New Roman"/>
              </a:rPr>
              <a:t>AI-</a:t>
            </a:r>
            <a:r>
              <a:rPr sz="1750" dirty="0">
                <a:latin typeface="Times New Roman"/>
                <a:cs typeface="Times New Roman"/>
              </a:rPr>
              <a:t>based</a:t>
            </a:r>
            <a:r>
              <a:rPr sz="1750" spc="-15" dirty="0">
                <a:latin typeface="Times New Roman"/>
                <a:cs typeface="Times New Roman"/>
              </a:rPr>
              <a:t> </a:t>
            </a:r>
            <a:r>
              <a:rPr sz="1750" dirty="0">
                <a:latin typeface="Times New Roman"/>
                <a:cs typeface="Times New Roman"/>
              </a:rPr>
              <a:t>approaches</a:t>
            </a:r>
            <a:r>
              <a:rPr sz="1750" spc="-30" dirty="0">
                <a:latin typeface="Times New Roman"/>
                <a:cs typeface="Times New Roman"/>
              </a:rPr>
              <a:t> </a:t>
            </a:r>
            <a:r>
              <a:rPr sz="1750" dirty="0">
                <a:latin typeface="Times New Roman"/>
                <a:cs typeface="Times New Roman"/>
              </a:rPr>
              <a:t>for</a:t>
            </a:r>
            <a:r>
              <a:rPr sz="1750" spc="-55" dirty="0">
                <a:latin typeface="Times New Roman"/>
                <a:cs typeface="Times New Roman"/>
              </a:rPr>
              <a:t> </a:t>
            </a:r>
            <a:r>
              <a:rPr sz="1750" dirty="0">
                <a:latin typeface="Times New Roman"/>
                <a:cs typeface="Times New Roman"/>
              </a:rPr>
              <a:t>social</a:t>
            </a:r>
            <a:r>
              <a:rPr sz="1750" spc="-30" dirty="0">
                <a:latin typeface="Times New Roman"/>
                <a:cs typeface="Times New Roman"/>
              </a:rPr>
              <a:t> </a:t>
            </a:r>
            <a:r>
              <a:rPr sz="1750" dirty="0">
                <a:latin typeface="Times New Roman"/>
                <a:cs typeface="Times New Roman"/>
              </a:rPr>
              <a:t>bot</a:t>
            </a:r>
            <a:r>
              <a:rPr sz="1750" spc="-50" dirty="0">
                <a:latin typeface="Times New Roman"/>
                <a:cs typeface="Times New Roman"/>
              </a:rPr>
              <a:t> </a:t>
            </a:r>
            <a:r>
              <a:rPr sz="1750" dirty="0">
                <a:latin typeface="Times New Roman"/>
                <a:cs typeface="Times New Roman"/>
              </a:rPr>
              <a:t>identification</a:t>
            </a:r>
            <a:r>
              <a:rPr sz="1750" spc="5" dirty="0">
                <a:latin typeface="Times New Roman"/>
                <a:cs typeface="Times New Roman"/>
              </a:rPr>
              <a:t> </a:t>
            </a:r>
            <a:r>
              <a:rPr sz="1750" dirty="0">
                <a:latin typeface="Times New Roman"/>
                <a:cs typeface="Times New Roman"/>
              </a:rPr>
              <a:t>and</a:t>
            </a:r>
            <a:r>
              <a:rPr sz="1750" spc="-50" dirty="0">
                <a:latin typeface="Times New Roman"/>
                <a:cs typeface="Times New Roman"/>
              </a:rPr>
              <a:t> </a:t>
            </a:r>
            <a:r>
              <a:rPr sz="1750" dirty="0">
                <a:latin typeface="Times New Roman"/>
                <a:cs typeface="Times New Roman"/>
              </a:rPr>
              <a:t>their</a:t>
            </a:r>
            <a:r>
              <a:rPr sz="1750" spc="-35" dirty="0">
                <a:latin typeface="Times New Roman"/>
                <a:cs typeface="Times New Roman"/>
              </a:rPr>
              <a:t> </a:t>
            </a:r>
            <a:r>
              <a:rPr sz="1750" dirty="0">
                <a:latin typeface="Times New Roman"/>
                <a:cs typeface="Times New Roman"/>
              </a:rPr>
              <a:t>ethical</a:t>
            </a:r>
            <a:r>
              <a:rPr sz="1750" spc="-30" dirty="0">
                <a:latin typeface="Times New Roman"/>
                <a:cs typeface="Times New Roman"/>
              </a:rPr>
              <a:t> </a:t>
            </a:r>
            <a:r>
              <a:rPr sz="1750" dirty="0">
                <a:latin typeface="Times New Roman"/>
                <a:cs typeface="Times New Roman"/>
              </a:rPr>
              <a:t>implications</a:t>
            </a:r>
            <a:r>
              <a:rPr sz="1750" spc="10" dirty="0">
                <a:latin typeface="Times New Roman"/>
                <a:cs typeface="Times New Roman"/>
              </a:rPr>
              <a:t> </a:t>
            </a:r>
            <a:r>
              <a:rPr sz="1750" dirty="0">
                <a:latin typeface="Times New Roman"/>
                <a:cs typeface="Times New Roman"/>
              </a:rPr>
              <a:t>in</a:t>
            </a:r>
            <a:r>
              <a:rPr sz="1750" spc="-55" dirty="0">
                <a:latin typeface="Times New Roman"/>
                <a:cs typeface="Times New Roman"/>
              </a:rPr>
              <a:t> </a:t>
            </a:r>
            <a:r>
              <a:rPr sz="1750" dirty="0">
                <a:latin typeface="Times New Roman"/>
                <a:cs typeface="Times New Roman"/>
              </a:rPr>
              <a:t>online</a:t>
            </a:r>
            <a:r>
              <a:rPr sz="1750" spc="-75" dirty="0">
                <a:latin typeface="Times New Roman"/>
                <a:cs typeface="Times New Roman"/>
              </a:rPr>
              <a:t> </a:t>
            </a:r>
            <a:r>
              <a:rPr sz="1750" spc="-10" dirty="0">
                <a:latin typeface="Times New Roman"/>
                <a:cs typeface="Times New Roman"/>
              </a:rPr>
              <a:t>environments.</a:t>
            </a:r>
            <a:endParaRPr sz="1750">
              <a:latin typeface="Times New Roman"/>
              <a:cs typeface="Times New Roman"/>
            </a:endParaRPr>
          </a:p>
          <a:p>
            <a:pPr marL="328295" indent="-315595">
              <a:lnSpc>
                <a:spcPts val="2095"/>
              </a:lnSpc>
              <a:spcBef>
                <a:spcPts val="15"/>
              </a:spcBef>
              <a:buAutoNum type="arabicPlain" startAt="8"/>
              <a:tabLst>
                <a:tab pos="328295" algn="l"/>
              </a:tabLst>
            </a:pPr>
            <a:r>
              <a:rPr sz="1750" b="1" dirty="0">
                <a:latin typeface="Times New Roman"/>
                <a:cs typeface="Times New Roman"/>
              </a:rPr>
              <a:t>Beskow</a:t>
            </a:r>
            <a:r>
              <a:rPr sz="1750" b="1" spc="-50" dirty="0">
                <a:latin typeface="Times New Roman"/>
                <a:cs typeface="Times New Roman"/>
              </a:rPr>
              <a:t> </a:t>
            </a:r>
            <a:r>
              <a:rPr sz="1750" b="1" dirty="0">
                <a:latin typeface="Times New Roman"/>
                <a:cs typeface="Times New Roman"/>
              </a:rPr>
              <a:t>and</a:t>
            </a:r>
            <a:r>
              <a:rPr sz="1750" b="1" spc="-45" dirty="0">
                <a:latin typeface="Times New Roman"/>
                <a:cs typeface="Times New Roman"/>
              </a:rPr>
              <a:t> </a:t>
            </a:r>
            <a:r>
              <a:rPr sz="1750" b="1" dirty="0">
                <a:latin typeface="Times New Roman"/>
                <a:cs typeface="Times New Roman"/>
              </a:rPr>
              <a:t>Carley</a:t>
            </a:r>
            <a:r>
              <a:rPr sz="1750" b="1" spc="-15" dirty="0">
                <a:latin typeface="Times New Roman"/>
                <a:cs typeface="Times New Roman"/>
              </a:rPr>
              <a:t> </a:t>
            </a:r>
            <a:r>
              <a:rPr sz="1750" b="1" spc="-10" dirty="0">
                <a:latin typeface="Times New Roman"/>
                <a:cs typeface="Times New Roman"/>
              </a:rPr>
              <a:t>(2020):</a:t>
            </a:r>
            <a:endParaRPr sz="1750">
              <a:latin typeface="Times New Roman"/>
              <a:cs typeface="Times New Roman"/>
            </a:endParaRPr>
          </a:p>
          <a:p>
            <a:pPr marL="12700">
              <a:lnSpc>
                <a:spcPts val="2095"/>
              </a:lnSpc>
            </a:pPr>
            <a:r>
              <a:rPr sz="1750" dirty="0">
                <a:latin typeface="Times New Roman"/>
                <a:cs typeface="Times New Roman"/>
              </a:rPr>
              <a:t>Developed</a:t>
            </a:r>
            <a:r>
              <a:rPr sz="1750" spc="40" dirty="0">
                <a:latin typeface="Times New Roman"/>
                <a:cs typeface="Times New Roman"/>
              </a:rPr>
              <a:t> </a:t>
            </a:r>
            <a:r>
              <a:rPr sz="1750" b="1" dirty="0">
                <a:latin typeface="Times New Roman"/>
                <a:cs typeface="Times New Roman"/>
              </a:rPr>
              <a:t>BotHunter</a:t>
            </a:r>
            <a:r>
              <a:rPr sz="1750" dirty="0">
                <a:latin typeface="Times New Roman"/>
                <a:cs typeface="Times New Roman"/>
              </a:rPr>
              <a:t>,</a:t>
            </a:r>
            <a:r>
              <a:rPr sz="1750" spc="-60" dirty="0">
                <a:latin typeface="Times New Roman"/>
                <a:cs typeface="Times New Roman"/>
              </a:rPr>
              <a:t> </a:t>
            </a:r>
            <a:r>
              <a:rPr sz="1750" dirty="0">
                <a:latin typeface="Times New Roman"/>
                <a:cs typeface="Times New Roman"/>
              </a:rPr>
              <a:t>a</a:t>
            </a:r>
            <a:r>
              <a:rPr sz="1750" spc="-70" dirty="0">
                <a:latin typeface="Times New Roman"/>
                <a:cs typeface="Times New Roman"/>
              </a:rPr>
              <a:t> </a:t>
            </a:r>
            <a:r>
              <a:rPr sz="1750" spc="-25" dirty="0">
                <a:latin typeface="Times New Roman"/>
                <a:cs typeface="Times New Roman"/>
              </a:rPr>
              <a:t>multi-</a:t>
            </a:r>
            <a:r>
              <a:rPr sz="1750" dirty="0">
                <a:latin typeface="Times New Roman"/>
                <a:cs typeface="Times New Roman"/>
              </a:rPr>
              <a:t>level</a:t>
            </a:r>
            <a:r>
              <a:rPr sz="1750" spc="45" dirty="0">
                <a:latin typeface="Times New Roman"/>
                <a:cs typeface="Times New Roman"/>
              </a:rPr>
              <a:t> </a:t>
            </a:r>
            <a:r>
              <a:rPr sz="1750" dirty="0">
                <a:latin typeface="Times New Roman"/>
                <a:cs typeface="Times New Roman"/>
              </a:rPr>
              <a:t>detection</a:t>
            </a:r>
            <a:r>
              <a:rPr sz="1750" spc="15" dirty="0">
                <a:latin typeface="Times New Roman"/>
                <a:cs typeface="Times New Roman"/>
              </a:rPr>
              <a:t> </a:t>
            </a:r>
            <a:r>
              <a:rPr sz="1750" dirty="0">
                <a:latin typeface="Times New Roman"/>
                <a:cs typeface="Times New Roman"/>
              </a:rPr>
              <a:t>framework</a:t>
            </a:r>
            <a:r>
              <a:rPr sz="1750" spc="45" dirty="0">
                <a:latin typeface="Times New Roman"/>
                <a:cs typeface="Times New Roman"/>
              </a:rPr>
              <a:t> </a:t>
            </a:r>
            <a:r>
              <a:rPr sz="1750" dirty="0">
                <a:latin typeface="Times New Roman"/>
                <a:cs typeface="Times New Roman"/>
              </a:rPr>
              <a:t>for</a:t>
            </a:r>
            <a:r>
              <a:rPr sz="1750" spc="-45" dirty="0">
                <a:latin typeface="Times New Roman"/>
                <a:cs typeface="Times New Roman"/>
              </a:rPr>
              <a:t> </a:t>
            </a:r>
            <a:r>
              <a:rPr sz="1750" dirty="0">
                <a:latin typeface="Times New Roman"/>
                <a:cs typeface="Times New Roman"/>
              </a:rPr>
              <a:t>characterizing</a:t>
            </a:r>
            <a:r>
              <a:rPr sz="1750" spc="20" dirty="0">
                <a:latin typeface="Times New Roman"/>
                <a:cs typeface="Times New Roman"/>
              </a:rPr>
              <a:t> </a:t>
            </a:r>
            <a:r>
              <a:rPr sz="1750" dirty="0">
                <a:latin typeface="Times New Roman"/>
                <a:cs typeface="Times New Roman"/>
              </a:rPr>
              <a:t>and</a:t>
            </a:r>
            <a:r>
              <a:rPr sz="1750" spc="-70" dirty="0">
                <a:latin typeface="Times New Roman"/>
                <a:cs typeface="Times New Roman"/>
              </a:rPr>
              <a:t> </a:t>
            </a:r>
            <a:r>
              <a:rPr sz="1750" dirty="0">
                <a:latin typeface="Times New Roman"/>
                <a:cs typeface="Times New Roman"/>
              </a:rPr>
              <a:t>identifying malicious bot</a:t>
            </a:r>
            <a:r>
              <a:rPr sz="1750" spc="-40" dirty="0">
                <a:latin typeface="Times New Roman"/>
                <a:cs typeface="Times New Roman"/>
              </a:rPr>
              <a:t> </a:t>
            </a:r>
            <a:r>
              <a:rPr sz="1750" spc="-10" dirty="0">
                <a:latin typeface="Times New Roman"/>
                <a:cs typeface="Times New Roman"/>
              </a:rPr>
              <a:t>behavior.</a:t>
            </a:r>
            <a:endParaRPr sz="175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0738" y="232105"/>
            <a:ext cx="3775710" cy="695325"/>
          </a:xfrm>
          <a:prstGeom prst="rect">
            <a:avLst/>
          </a:prstGeom>
        </p:spPr>
        <p:txBody>
          <a:bodyPr vert="horz" wrap="square" lIns="0" tIns="12065" rIns="0" bIns="0" rtlCol="0">
            <a:spAutoFit/>
          </a:bodyPr>
          <a:lstStyle/>
          <a:p>
            <a:pPr marL="12700">
              <a:lnSpc>
                <a:spcPct val="100000"/>
              </a:lnSpc>
              <a:spcBef>
                <a:spcPts val="95"/>
              </a:spcBef>
            </a:pPr>
            <a:r>
              <a:rPr spc="-10" dirty="0"/>
              <a:t>REFERENCES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30</a:t>
            </a:fld>
            <a:endParaRPr spc="-25" dirty="0"/>
          </a:p>
        </p:txBody>
      </p:sp>
      <p:sp>
        <p:nvSpPr>
          <p:cNvPr id="3" name="object 3"/>
          <p:cNvSpPr txBox="1"/>
          <p:nvPr/>
        </p:nvSpPr>
        <p:spPr>
          <a:xfrm>
            <a:off x="499973" y="1090676"/>
            <a:ext cx="11134090" cy="4690745"/>
          </a:xfrm>
          <a:prstGeom prst="rect">
            <a:avLst/>
          </a:prstGeom>
        </p:spPr>
        <p:txBody>
          <a:bodyPr vert="horz" wrap="square" lIns="0" tIns="12700" rIns="0" bIns="0" rtlCol="0">
            <a:spAutoFit/>
          </a:bodyPr>
          <a:lstStyle/>
          <a:p>
            <a:pPr marL="334645" indent="-321945">
              <a:lnSpc>
                <a:spcPct val="100000"/>
              </a:lnSpc>
              <a:spcBef>
                <a:spcPts val="100"/>
              </a:spcBef>
              <a:buAutoNum type="arabicPlain" startAt="9"/>
              <a:tabLst>
                <a:tab pos="334645" algn="l"/>
              </a:tabLst>
            </a:pPr>
            <a:r>
              <a:rPr sz="1800" b="1" dirty="0">
                <a:latin typeface="Times New Roman"/>
                <a:cs typeface="Times New Roman"/>
              </a:rPr>
              <a:t>Zhao</a:t>
            </a:r>
            <a:r>
              <a:rPr sz="1800" b="1" spc="25" dirty="0">
                <a:latin typeface="Times New Roman"/>
                <a:cs typeface="Times New Roman"/>
              </a:rPr>
              <a:t> </a:t>
            </a:r>
            <a:r>
              <a:rPr sz="1800" b="1" dirty="0">
                <a:latin typeface="Times New Roman"/>
                <a:cs typeface="Times New Roman"/>
              </a:rPr>
              <a:t>and</a:t>
            </a:r>
            <a:r>
              <a:rPr sz="1800" b="1" spc="-20" dirty="0">
                <a:latin typeface="Times New Roman"/>
                <a:cs typeface="Times New Roman"/>
              </a:rPr>
              <a:t> </a:t>
            </a:r>
            <a:r>
              <a:rPr sz="1800" b="1" dirty="0">
                <a:latin typeface="Times New Roman"/>
                <a:cs typeface="Times New Roman"/>
              </a:rPr>
              <a:t>Jin</a:t>
            </a:r>
            <a:r>
              <a:rPr sz="1800" b="1" spc="-35" dirty="0">
                <a:latin typeface="Times New Roman"/>
                <a:cs typeface="Times New Roman"/>
              </a:rPr>
              <a:t> </a:t>
            </a:r>
            <a:r>
              <a:rPr sz="1800" b="1" spc="-10" dirty="0">
                <a:latin typeface="Times New Roman"/>
                <a:cs typeface="Times New Roman"/>
              </a:rPr>
              <a:t>(2020):</a:t>
            </a:r>
            <a:endParaRPr sz="1800">
              <a:latin typeface="Times New Roman"/>
              <a:cs typeface="Times New Roman"/>
            </a:endParaRPr>
          </a:p>
          <a:p>
            <a:pPr marL="12700">
              <a:lnSpc>
                <a:spcPct val="100000"/>
              </a:lnSpc>
            </a:pPr>
            <a:r>
              <a:rPr sz="1800" dirty="0">
                <a:latin typeface="Times New Roman"/>
                <a:cs typeface="Times New Roman"/>
              </a:rPr>
              <a:t>Applied</a:t>
            </a:r>
            <a:r>
              <a:rPr sz="1800" spc="-45" dirty="0">
                <a:latin typeface="Times New Roman"/>
                <a:cs typeface="Times New Roman"/>
              </a:rPr>
              <a:t> </a:t>
            </a:r>
            <a:r>
              <a:rPr sz="1800" b="1" dirty="0">
                <a:latin typeface="Times New Roman"/>
                <a:cs typeface="Times New Roman"/>
              </a:rPr>
              <a:t>BERT</a:t>
            </a:r>
            <a:r>
              <a:rPr sz="1800" b="1" spc="-65"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tweet</a:t>
            </a:r>
            <a:r>
              <a:rPr sz="1800" spc="-15" dirty="0">
                <a:latin typeface="Times New Roman"/>
                <a:cs typeface="Times New Roman"/>
              </a:rPr>
              <a:t> </a:t>
            </a:r>
            <a:r>
              <a:rPr sz="1800" dirty="0">
                <a:latin typeface="Times New Roman"/>
                <a:cs typeface="Times New Roman"/>
              </a:rPr>
              <a:t>classification,</a:t>
            </a:r>
            <a:r>
              <a:rPr sz="1800" spc="-35" dirty="0">
                <a:latin typeface="Times New Roman"/>
                <a:cs typeface="Times New Roman"/>
              </a:rPr>
              <a:t> </a:t>
            </a:r>
            <a:r>
              <a:rPr sz="1800" dirty="0">
                <a:latin typeface="Times New Roman"/>
                <a:cs typeface="Times New Roman"/>
              </a:rPr>
              <a:t>demonstrating</a:t>
            </a:r>
            <a:r>
              <a:rPr sz="1800" spc="-55" dirty="0">
                <a:latin typeface="Times New Roman"/>
                <a:cs typeface="Times New Roman"/>
              </a:rPr>
              <a:t> </a:t>
            </a:r>
            <a:r>
              <a:rPr sz="1800" dirty="0">
                <a:latin typeface="Times New Roman"/>
                <a:cs typeface="Times New Roman"/>
              </a:rPr>
              <a:t>improved</a:t>
            </a:r>
            <a:r>
              <a:rPr sz="1800" spc="-30" dirty="0">
                <a:latin typeface="Times New Roman"/>
                <a:cs typeface="Times New Roman"/>
              </a:rPr>
              <a:t> </a:t>
            </a:r>
            <a:r>
              <a:rPr sz="1800" dirty="0">
                <a:latin typeface="Times New Roman"/>
                <a:cs typeface="Times New Roman"/>
              </a:rPr>
              <a:t>text</a:t>
            </a:r>
            <a:r>
              <a:rPr sz="1800" spc="-15" dirty="0">
                <a:latin typeface="Times New Roman"/>
                <a:cs typeface="Times New Roman"/>
              </a:rPr>
              <a:t> </a:t>
            </a:r>
            <a:r>
              <a:rPr sz="1800" dirty="0">
                <a:latin typeface="Times New Roman"/>
                <a:cs typeface="Times New Roman"/>
              </a:rPr>
              <a:t>comprehension</a:t>
            </a:r>
            <a:r>
              <a:rPr sz="1800" spc="-50" dirty="0">
                <a:latin typeface="Times New Roman"/>
                <a:cs typeface="Times New Roman"/>
              </a:rPr>
              <a:t> </a:t>
            </a:r>
            <a:r>
              <a:rPr sz="1800" dirty="0">
                <a:latin typeface="Times New Roman"/>
                <a:cs typeface="Times New Roman"/>
              </a:rPr>
              <a:t>for</a:t>
            </a:r>
            <a:r>
              <a:rPr sz="1800" spc="-40" dirty="0">
                <a:latin typeface="Times New Roman"/>
                <a:cs typeface="Times New Roman"/>
              </a:rPr>
              <a:t> </a:t>
            </a:r>
            <a:r>
              <a:rPr sz="1800" dirty="0">
                <a:latin typeface="Times New Roman"/>
                <a:cs typeface="Times New Roman"/>
              </a:rPr>
              <a:t>social</a:t>
            </a:r>
            <a:r>
              <a:rPr sz="1800" spc="-40" dirty="0">
                <a:latin typeface="Times New Roman"/>
                <a:cs typeface="Times New Roman"/>
              </a:rPr>
              <a:t> </a:t>
            </a:r>
            <a:r>
              <a:rPr sz="1800" dirty="0">
                <a:latin typeface="Times New Roman"/>
                <a:cs typeface="Times New Roman"/>
              </a:rPr>
              <a:t>media</a:t>
            </a:r>
            <a:r>
              <a:rPr sz="1800" spc="-20" dirty="0">
                <a:latin typeface="Times New Roman"/>
                <a:cs typeface="Times New Roman"/>
              </a:rPr>
              <a:t> </a:t>
            </a:r>
            <a:r>
              <a:rPr sz="1800" spc="-10" dirty="0">
                <a:latin typeface="Times New Roman"/>
                <a:cs typeface="Times New Roman"/>
              </a:rPr>
              <a:t>data.</a:t>
            </a:r>
            <a:endParaRPr sz="1800">
              <a:latin typeface="Times New Roman"/>
              <a:cs typeface="Times New Roman"/>
            </a:endParaRPr>
          </a:p>
          <a:p>
            <a:pPr marL="450215" indent="-437515">
              <a:lnSpc>
                <a:spcPct val="100000"/>
              </a:lnSpc>
              <a:buAutoNum type="arabicPlain" startAt="10"/>
              <a:tabLst>
                <a:tab pos="450215" algn="l"/>
              </a:tabLst>
            </a:pPr>
            <a:r>
              <a:rPr sz="1800" b="1" dirty="0">
                <a:latin typeface="Times New Roman"/>
                <a:cs typeface="Times New Roman"/>
              </a:rPr>
              <a:t>Vaswani et</a:t>
            </a:r>
            <a:r>
              <a:rPr sz="1800" b="1" spc="-25" dirty="0">
                <a:latin typeface="Times New Roman"/>
                <a:cs typeface="Times New Roman"/>
              </a:rPr>
              <a:t> </a:t>
            </a:r>
            <a:r>
              <a:rPr sz="1800" b="1" dirty="0">
                <a:latin typeface="Times New Roman"/>
                <a:cs typeface="Times New Roman"/>
              </a:rPr>
              <a:t>al.</a:t>
            </a:r>
            <a:r>
              <a:rPr sz="1800" b="1" spc="-40" dirty="0">
                <a:latin typeface="Times New Roman"/>
                <a:cs typeface="Times New Roman"/>
              </a:rPr>
              <a:t> </a:t>
            </a:r>
            <a:r>
              <a:rPr sz="1800" b="1" spc="-10" dirty="0">
                <a:latin typeface="Times New Roman"/>
                <a:cs typeface="Times New Roman"/>
              </a:rPr>
              <a:t>(2017):</a:t>
            </a:r>
            <a:endParaRPr sz="1800">
              <a:latin typeface="Times New Roman"/>
              <a:cs typeface="Times New Roman"/>
            </a:endParaRPr>
          </a:p>
          <a:p>
            <a:pPr marL="12700">
              <a:lnSpc>
                <a:spcPct val="100000"/>
              </a:lnSpc>
            </a:pPr>
            <a:r>
              <a:rPr sz="1800" dirty="0">
                <a:latin typeface="Times New Roman"/>
                <a:cs typeface="Times New Roman"/>
              </a:rPr>
              <a:t>Introduced</a:t>
            </a:r>
            <a:r>
              <a:rPr sz="1800" spc="-70"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b="1" spc="-10" dirty="0">
                <a:latin typeface="Times New Roman"/>
                <a:cs typeface="Times New Roman"/>
              </a:rPr>
              <a:t>Transformer</a:t>
            </a:r>
            <a:r>
              <a:rPr sz="1800" b="1" spc="75" dirty="0">
                <a:latin typeface="Times New Roman"/>
                <a:cs typeface="Times New Roman"/>
              </a:rPr>
              <a:t> </a:t>
            </a:r>
            <a:r>
              <a:rPr sz="1800" b="1" dirty="0">
                <a:latin typeface="Times New Roman"/>
                <a:cs typeface="Times New Roman"/>
              </a:rPr>
              <a:t>architecture</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revolutionizing</a:t>
            </a:r>
            <a:r>
              <a:rPr sz="1800" spc="-85" dirty="0">
                <a:latin typeface="Times New Roman"/>
                <a:cs typeface="Times New Roman"/>
              </a:rPr>
              <a:t> </a:t>
            </a:r>
            <a:r>
              <a:rPr sz="1800" dirty="0">
                <a:latin typeface="Times New Roman"/>
                <a:cs typeface="Times New Roman"/>
              </a:rPr>
              <a:t>NLP</a:t>
            </a:r>
            <a:r>
              <a:rPr sz="1800" spc="-2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forming</a:t>
            </a:r>
            <a:r>
              <a:rPr sz="1800" spc="-5" dirty="0">
                <a:latin typeface="Times New Roman"/>
                <a:cs typeface="Times New Roman"/>
              </a:rPr>
              <a:t> </a:t>
            </a:r>
            <a:r>
              <a:rPr sz="1800" dirty="0">
                <a:latin typeface="Times New Roman"/>
                <a:cs typeface="Times New Roman"/>
              </a:rPr>
              <a:t>the</a:t>
            </a:r>
            <a:r>
              <a:rPr sz="1800" spc="-60" dirty="0">
                <a:latin typeface="Times New Roman"/>
                <a:cs typeface="Times New Roman"/>
              </a:rPr>
              <a:t> </a:t>
            </a:r>
            <a:r>
              <a:rPr sz="1800" dirty="0">
                <a:latin typeface="Times New Roman"/>
                <a:cs typeface="Times New Roman"/>
              </a:rPr>
              <a:t>foundation</a:t>
            </a:r>
            <a:r>
              <a:rPr sz="1800" spc="-65" dirty="0">
                <a:latin typeface="Times New Roman"/>
                <a:cs typeface="Times New Roman"/>
              </a:rPr>
              <a:t> </a:t>
            </a:r>
            <a:r>
              <a:rPr sz="1800" dirty="0">
                <a:latin typeface="Times New Roman"/>
                <a:cs typeface="Times New Roman"/>
              </a:rPr>
              <a:t>for</a:t>
            </a:r>
            <a:r>
              <a:rPr sz="1800" spc="-30" dirty="0">
                <a:latin typeface="Times New Roman"/>
                <a:cs typeface="Times New Roman"/>
              </a:rPr>
              <a:t> </a:t>
            </a:r>
            <a:r>
              <a:rPr sz="1800" dirty="0">
                <a:latin typeface="Times New Roman"/>
                <a:cs typeface="Times New Roman"/>
              </a:rPr>
              <a:t>models</a:t>
            </a:r>
            <a:r>
              <a:rPr sz="1800" spc="-15" dirty="0">
                <a:latin typeface="Times New Roman"/>
                <a:cs typeface="Times New Roman"/>
              </a:rPr>
              <a:t> </a:t>
            </a:r>
            <a:r>
              <a:rPr sz="1800" dirty="0">
                <a:latin typeface="Times New Roman"/>
                <a:cs typeface="Times New Roman"/>
              </a:rPr>
              <a:t>like</a:t>
            </a:r>
            <a:r>
              <a:rPr sz="1800" spc="-35" dirty="0">
                <a:latin typeface="Times New Roman"/>
                <a:cs typeface="Times New Roman"/>
              </a:rPr>
              <a:t> </a:t>
            </a:r>
            <a:r>
              <a:rPr sz="1800" dirty="0">
                <a:latin typeface="Times New Roman"/>
                <a:cs typeface="Times New Roman"/>
              </a:rPr>
              <a:t>BERT</a:t>
            </a:r>
            <a:r>
              <a:rPr sz="1800" spc="-50" dirty="0">
                <a:latin typeface="Times New Roman"/>
                <a:cs typeface="Times New Roman"/>
              </a:rPr>
              <a:t> </a:t>
            </a:r>
            <a:r>
              <a:rPr sz="1800" spc="-25" dirty="0">
                <a:latin typeface="Times New Roman"/>
                <a:cs typeface="Times New Roman"/>
              </a:rPr>
              <a:t>and</a:t>
            </a:r>
            <a:endParaRPr sz="1800">
              <a:latin typeface="Times New Roman"/>
              <a:cs typeface="Times New Roman"/>
            </a:endParaRPr>
          </a:p>
          <a:p>
            <a:pPr marL="12700">
              <a:lnSpc>
                <a:spcPct val="100000"/>
              </a:lnSpc>
            </a:pPr>
            <a:r>
              <a:rPr sz="1800" spc="-10" dirty="0">
                <a:latin typeface="Times New Roman"/>
                <a:cs typeface="Times New Roman"/>
              </a:rPr>
              <a:t>RoBERTa.</a:t>
            </a:r>
            <a:endParaRPr sz="1800">
              <a:latin typeface="Times New Roman"/>
              <a:cs typeface="Times New Roman"/>
            </a:endParaRPr>
          </a:p>
          <a:p>
            <a:pPr marL="450215" indent="-437515">
              <a:lnSpc>
                <a:spcPct val="100000"/>
              </a:lnSpc>
              <a:spcBef>
                <a:spcPts val="5"/>
              </a:spcBef>
              <a:buAutoNum type="arabicPlain" startAt="11"/>
              <a:tabLst>
                <a:tab pos="450215" algn="l"/>
              </a:tabLst>
            </a:pPr>
            <a:r>
              <a:rPr sz="1800" b="1" dirty="0">
                <a:latin typeface="Times New Roman"/>
                <a:cs typeface="Times New Roman"/>
              </a:rPr>
              <a:t>Yang</a:t>
            </a:r>
            <a:r>
              <a:rPr sz="1800" b="1" spc="-20" dirty="0">
                <a:latin typeface="Times New Roman"/>
                <a:cs typeface="Times New Roman"/>
              </a:rPr>
              <a:t> </a:t>
            </a:r>
            <a:r>
              <a:rPr sz="1800" b="1" dirty="0">
                <a:latin typeface="Times New Roman"/>
                <a:cs typeface="Times New Roman"/>
              </a:rPr>
              <a:t>et</a:t>
            </a:r>
            <a:r>
              <a:rPr sz="1800" b="1" spc="-20" dirty="0">
                <a:latin typeface="Times New Roman"/>
                <a:cs typeface="Times New Roman"/>
              </a:rPr>
              <a:t> </a:t>
            </a:r>
            <a:r>
              <a:rPr sz="1800" b="1" dirty="0">
                <a:latin typeface="Times New Roman"/>
                <a:cs typeface="Times New Roman"/>
              </a:rPr>
              <a:t>al.</a:t>
            </a:r>
            <a:r>
              <a:rPr sz="1800" b="1" spc="-15" dirty="0">
                <a:latin typeface="Times New Roman"/>
                <a:cs typeface="Times New Roman"/>
              </a:rPr>
              <a:t> </a:t>
            </a:r>
            <a:r>
              <a:rPr sz="1800" b="1" spc="-10" dirty="0">
                <a:latin typeface="Times New Roman"/>
                <a:cs typeface="Times New Roman"/>
              </a:rPr>
              <a:t>(2020):</a:t>
            </a:r>
            <a:endParaRPr sz="1800">
              <a:latin typeface="Times New Roman"/>
              <a:cs typeface="Times New Roman"/>
            </a:endParaRPr>
          </a:p>
          <a:p>
            <a:pPr marL="12700">
              <a:lnSpc>
                <a:spcPct val="100000"/>
              </a:lnSpc>
            </a:pPr>
            <a:r>
              <a:rPr sz="1800" dirty="0">
                <a:latin typeface="Times New Roman"/>
                <a:cs typeface="Times New Roman"/>
              </a:rPr>
              <a:t>Proposed</a:t>
            </a:r>
            <a:r>
              <a:rPr sz="1800" spc="-80" dirty="0">
                <a:latin typeface="Times New Roman"/>
                <a:cs typeface="Times New Roman"/>
              </a:rPr>
              <a:t> </a:t>
            </a:r>
            <a:r>
              <a:rPr sz="1800" dirty="0">
                <a:latin typeface="Times New Roman"/>
                <a:cs typeface="Times New Roman"/>
              </a:rPr>
              <a:t>scalable</a:t>
            </a:r>
            <a:r>
              <a:rPr sz="1800" spc="-25"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generalizable</a:t>
            </a:r>
            <a:r>
              <a:rPr sz="1800" spc="-5" dirty="0">
                <a:latin typeface="Times New Roman"/>
                <a:cs typeface="Times New Roman"/>
              </a:rPr>
              <a:t> </a:t>
            </a:r>
            <a:r>
              <a:rPr sz="1800" dirty="0">
                <a:latin typeface="Times New Roman"/>
                <a:cs typeface="Times New Roman"/>
              </a:rPr>
              <a:t>methods</a:t>
            </a:r>
            <a:r>
              <a:rPr sz="1800" spc="-20"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social</a:t>
            </a:r>
            <a:r>
              <a:rPr sz="1800" spc="-25" dirty="0">
                <a:latin typeface="Times New Roman"/>
                <a:cs typeface="Times New Roman"/>
              </a:rPr>
              <a:t> </a:t>
            </a:r>
            <a:r>
              <a:rPr sz="1800" dirty="0">
                <a:latin typeface="Times New Roman"/>
                <a:cs typeface="Times New Roman"/>
              </a:rPr>
              <a:t>bot</a:t>
            </a:r>
            <a:r>
              <a:rPr sz="1800" spc="-40" dirty="0">
                <a:latin typeface="Times New Roman"/>
                <a:cs typeface="Times New Roman"/>
              </a:rPr>
              <a:t> </a:t>
            </a:r>
            <a:r>
              <a:rPr sz="1800" dirty="0">
                <a:latin typeface="Times New Roman"/>
                <a:cs typeface="Times New Roman"/>
              </a:rPr>
              <a:t>detection</a:t>
            </a:r>
            <a:r>
              <a:rPr sz="1800" spc="-55" dirty="0">
                <a:latin typeface="Times New Roman"/>
                <a:cs typeface="Times New Roman"/>
              </a:rPr>
              <a:t> </a:t>
            </a:r>
            <a:r>
              <a:rPr sz="1800" dirty="0">
                <a:latin typeface="Times New Roman"/>
                <a:cs typeface="Times New Roman"/>
              </a:rPr>
              <a:t>using</a:t>
            </a:r>
            <a:r>
              <a:rPr sz="1800" spc="-35" dirty="0">
                <a:latin typeface="Times New Roman"/>
                <a:cs typeface="Times New Roman"/>
              </a:rPr>
              <a:t> </a:t>
            </a:r>
            <a:r>
              <a:rPr sz="1800" dirty="0">
                <a:latin typeface="Times New Roman"/>
                <a:cs typeface="Times New Roman"/>
              </a:rPr>
              <a:t>large-scale</a:t>
            </a:r>
            <a:r>
              <a:rPr sz="1800" spc="-5" dirty="0">
                <a:latin typeface="Times New Roman"/>
                <a:cs typeface="Times New Roman"/>
              </a:rPr>
              <a:t> </a:t>
            </a:r>
            <a:r>
              <a:rPr sz="1800" dirty="0">
                <a:latin typeface="Times New Roman"/>
                <a:cs typeface="Times New Roman"/>
              </a:rPr>
              <a:t>transformer</a:t>
            </a:r>
            <a:r>
              <a:rPr sz="1800" spc="25" dirty="0">
                <a:latin typeface="Times New Roman"/>
                <a:cs typeface="Times New Roman"/>
              </a:rPr>
              <a:t> </a:t>
            </a:r>
            <a:r>
              <a:rPr sz="1800" spc="-10" dirty="0">
                <a:latin typeface="Times New Roman"/>
                <a:cs typeface="Times New Roman"/>
              </a:rPr>
              <a:t>models.</a:t>
            </a:r>
            <a:endParaRPr sz="1800">
              <a:latin typeface="Times New Roman"/>
              <a:cs typeface="Times New Roman"/>
            </a:endParaRPr>
          </a:p>
          <a:p>
            <a:pPr marL="450215" indent="-437515">
              <a:lnSpc>
                <a:spcPct val="100000"/>
              </a:lnSpc>
              <a:buAutoNum type="arabicPlain" startAt="12"/>
              <a:tabLst>
                <a:tab pos="450215" algn="l"/>
              </a:tabLst>
            </a:pPr>
            <a:r>
              <a:rPr sz="1800" b="1" dirty="0">
                <a:latin typeface="Times New Roman"/>
                <a:cs typeface="Times New Roman"/>
              </a:rPr>
              <a:t>Sallah</a:t>
            </a:r>
            <a:r>
              <a:rPr sz="1800" b="1" spc="-15" dirty="0">
                <a:latin typeface="Times New Roman"/>
                <a:cs typeface="Times New Roman"/>
              </a:rPr>
              <a:t> </a:t>
            </a:r>
            <a:r>
              <a:rPr sz="1800" b="1" dirty="0">
                <a:latin typeface="Times New Roman"/>
                <a:cs typeface="Times New Roman"/>
              </a:rPr>
              <a:t>et</a:t>
            </a:r>
            <a:r>
              <a:rPr sz="1800" b="1" spc="-10" dirty="0">
                <a:latin typeface="Times New Roman"/>
                <a:cs typeface="Times New Roman"/>
              </a:rPr>
              <a:t> </a:t>
            </a:r>
            <a:r>
              <a:rPr sz="1800" b="1" dirty="0">
                <a:latin typeface="Times New Roman"/>
                <a:cs typeface="Times New Roman"/>
              </a:rPr>
              <a:t>al.</a:t>
            </a:r>
            <a:r>
              <a:rPr sz="1800" b="1" spc="-35" dirty="0">
                <a:latin typeface="Times New Roman"/>
                <a:cs typeface="Times New Roman"/>
              </a:rPr>
              <a:t> </a:t>
            </a:r>
            <a:r>
              <a:rPr sz="1800" b="1" spc="-10" dirty="0">
                <a:latin typeface="Times New Roman"/>
                <a:cs typeface="Times New Roman"/>
              </a:rPr>
              <a:t>(2024):</a:t>
            </a:r>
            <a:endParaRPr sz="1800">
              <a:latin typeface="Times New Roman"/>
              <a:cs typeface="Times New Roman"/>
            </a:endParaRPr>
          </a:p>
          <a:p>
            <a:pPr marL="12700">
              <a:lnSpc>
                <a:spcPct val="100000"/>
              </a:lnSpc>
            </a:pPr>
            <a:r>
              <a:rPr sz="1800" spc="-10" dirty="0">
                <a:latin typeface="Times New Roman"/>
                <a:cs typeface="Times New Roman"/>
              </a:rPr>
              <a:t>Fine-</a:t>
            </a:r>
            <a:r>
              <a:rPr sz="1800" dirty="0">
                <a:latin typeface="Times New Roman"/>
                <a:cs typeface="Times New Roman"/>
              </a:rPr>
              <a:t>tuned</a:t>
            </a:r>
            <a:r>
              <a:rPr sz="1800" spc="-75" dirty="0">
                <a:latin typeface="Times New Roman"/>
                <a:cs typeface="Times New Roman"/>
              </a:rPr>
              <a:t> </a:t>
            </a:r>
            <a:r>
              <a:rPr sz="1800" dirty="0">
                <a:latin typeface="Times New Roman"/>
                <a:cs typeface="Times New Roman"/>
              </a:rPr>
              <a:t>pretrained</a:t>
            </a:r>
            <a:r>
              <a:rPr sz="1800" spc="-50" dirty="0">
                <a:latin typeface="Times New Roman"/>
                <a:cs typeface="Times New Roman"/>
              </a:rPr>
              <a:t> </a:t>
            </a:r>
            <a:r>
              <a:rPr sz="1800" dirty="0">
                <a:latin typeface="Times New Roman"/>
                <a:cs typeface="Times New Roman"/>
              </a:rPr>
              <a:t>transformers</a:t>
            </a:r>
            <a:r>
              <a:rPr sz="1800" spc="-5" dirty="0">
                <a:latin typeface="Times New Roman"/>
                <a:cs typeface="Times New Roman"/>
              </a:rPr>
              <a:t> </a:t>
            </a:r>
            <a:r>
              <a:rPr sz="1800" dirty="0">
                <a:latin typeface="Times New Roman"/>
                <a:cs typeface="Times New Roman"/>
              </a:rPr>
              <a:t>to</a:t>
            </a:r>
            <a:r>
              <a:rPr sz="1800" spc="-45" dirty="0">
                <a:latin typeface="Times New Roman"/>
                <a:cs typeface="Times New Roman"/>
              </a:rPr>
              <a:t> </a:t>
            </a:r>
            <a:r>
              <a:rPr sz="1800" dirty="0">
                <a:latin typeface="Times New Roman"/>
                <a:cs typeface="Times New Roman"/>
              </a:rPr>
              <a:t>improve</a:t>
            </a:r>
            <a:r>
              <a:rPr sz="1800" spc="-40" dirty="0">
                <a:latin typeface="Times New Roman"/>
                <a:cs typeface="Times New Roman"/>
              </a:rPr>
              <a:t> </a:t>
            </a:r>
            <a:r>
              <a:rPr sz="1800" dirty="0">
                <a:latin typeface="Times New Roman"/>
                <a:cs typeface="Times New Roman"/>
              </a:rPr>
              <a:t>Twitter bot</a:t>
            </a:r>
            <a:r>
              <a:rPr sz="1800" spc="-55" dirty="0">
                <a:latin typeface="Times New Roman"/>
                <a:cs typeface="Times New Roman"/>
              </a:rPr>
              <a:t> </a:t>
            </a:r>
            <a:r>
              <a:rPr sz="1800" dirty="0">
                <a:latin typeface="Times New Roman"/>
                <a:cs typeface="Times New Roman"/>
              </a:rPr>
              <a:t>detection</a:t>
            </a:r>
            <a:r>
              <a:rPr sz="1800" spc="-75" dirty="0">
                <a:latin typeface="Times New Roman"/>
                <a:cs typeface="Times New Roman"/>
              </a:rPr>
              <a:t> </a:t>
            </a:r>
            <a:r>
              <a:rPr sz="1800" dirty="0">
                <a:latin typeface="Times New Roman"/>
                <a:cs typeface="Times New Roman"/>
              </a:rPr>
              <a:t>performance,</a:t>
            </a:r>
            <a:r>
              <a:rPr sz="1800" spc="10" dirty="0">
                <a:latin typeface="Times New Roman"/>
                <a:cs typeface="Times New Roman"/>
              </a:rPr>
              <a:t> </a:t>
            </a:r>
            <a:r>
              <a:rPr sz="1800" dirty="0">
                <a:latin typeface="Times New Roman"/>
                <a:cs typeface="Times New Roman"/>
              </a:rPr>
              <a:t>enhancing</a:t>
            </a:r>
            <a:r>
              <a:rPr sz="1800" spc="-70" dirty="0">
                <a:latin typeface="Times New Roman"/>
                <a:cs typeface="Times New Roman"/>
              </a:rPr>
              <a:t> </a:t>
            </a:r>
            <a:r>
              <a:rPr sz="1800" dirty="0">
                <a:latin typeface="Times New Roman"/>
                <a:cs typeface="Times New Roman"/>
              </a:rPr>
              <a:t>robustness</a:t>
            </a:r>
            <a:r>
              <a:rPr sz="1800" spc="-70" dirty="0">
                <a:latin typeface="Times New Roman"/>
                <a:cs typeface="Times New Roman"/>
              </a:rPr>
              <a:t> </a:t>
            </a:r>
            <a:r>
              <a:rPr sz="1800" dirty="0">
                <a:latin typeface="Times New Roman"/>
                <a:cs typeface="Times New Roman"/>
              </a:rPr>
              <a:t>across</a:t>
            </a:r>
            <a:r>
              <a:rPr sz="1800" spc="-45" dirty="0">
                <a:latin typeface="Times New Roman"/>
                <a:cs typeface="Times New Roman"/>
              </a:rPr>
              <a:t> </a:t>
            </a:r>
            <a:r>
              <a:rPr sz="1800" spc="-10" dirty="0">
                <a:latin typeface="Times New Roman"/>
                <a:cs typeface="Times New Roman"/>
              </a:rPr>
              <a:t>datasets.</a:t>
            </a:r>
            <a:endParaRPr sz="1800">
              <a:latin typeface="Times New Roman"/>
              <a:cs typeface="Times New Roman"/>
            </a:endParaRPr>
          </a:p>
          <a:p>
            <a:pPr marL="449580" indent="-436880">
              <a:lnSpc>
                <a:spcPct val="100000"/>
              </a:lnSpc>
              <a:buAutoNum type="arabicPlain" startAt="13"/>
              <a:tabLst>
                <a:tab pos="449580" algn="l"/>
              </a:tabLst>
            </a:pPr>
            <a:r>
              <a:rPr sz="1800" b="1" spc="-10" dirty="0">
                <a:latin typeface="Times New Roman"/>
                <a:cs typeface="Times New Roman"/>
              </a:rPr>
              <a:t>Martín-</a:t>
            </a:r>
            <a:r>
              <a:rPr sz="1800" b="1" dirty="0">
                <a:latin typeface="Times New Roman"/>
                <a:cs typeface="Times New Roman"/>
              </a:rPr>
              <a:t>Gutiérrez et</a:t>
            </a:r>
            <a:r>
              <a:rPr sz="1800" b="1" spc="-25" dirty="0">
                <a:latin typeface="Times New Roman"/>
                <a:cs typeface="Times New Roman"/>
              </a:rPr>
              <a:t> </a:t>
            </a:r>
            <a:r>
              <a:rPr sz="1800" b="1" dirty="0">
                <a:latin typeface="Times New Roman"/>
                <a:cs typeface="Times New Roman"/>
              </a:rPr>
              <a:t>al.</a:t>
            </a:r>
            <a:r>
              <a:rPr sz="1800" b="1" spc="-25" dirty="0">
                <a:latin typeface="Times New Roman"/>
                <a:cs typeface="Times New Roman"/>
              </a:rPr>
              <a:t> </a:t>
            </a:r>
            <a:r>
              <a:rPr sz="1800" b="1" spc="-10" dirty="0">
                <a:latin typeface="Times New Roman"/>
                <a:cs typeface="Times New Roman"/>
              </a:rPr>
              <a:t>(2021):</a:t>
            </a:r>
            <a:endParaRPr sz="1800">
              <a:latin typeface="Times New Roman"/>
              <a:cs typeface="Times New Roman"/>
            </a:endParaRPr>
          </a:p>
          <a:p>
            <a:pPr marL="12700">
              <a:lnSpc>
                <a:spcPct val="100000"/>
              </a:lnSpc>
              <a:spcBef>
                <a:spcPts val="5"/>
              </a:spcBef>
            </a:pPr>
            <a:r>
              <a:rPr sz="1800" dirty="0">
                <a:latin typeface="Times New Roman"/>
                <a:cs typeface="Times New Roman"/>
              </a:rPr>
              <a:t>Designed</a:t>
            </a:r>
            <a:r>
              <a:rPr sz="1800" spc="-60" dirty="0">
                <a:latin typeface="Times New Roman"/>
                <a:cs typeface="Times New Roman"/>
              </a:rPr>
              <a:t> </a:t>
            </a:r>
            <a:r>
              <a:rPr sz="1800" dirty="0">
                <a:latin typeface="Times New Roman"/>
                <a:cs typeface="Times New Roman"/>
              </a:rPr>
              <a:t>a</a:t>
            </a:r>
            <a:r>
              <a:rPr sz="1800" spc="-65" dirty="0">
                <a:latin typeface="Times New Roman"/>
                <a:cs typeface="Times New Roman"/>
              </a:rPr>
              <a:t> </a:t>
            </a:r>
            <a:r>
              <a:rPr sz="1800" dirty="0">
                <a:latin typeface="Times New Roman"/>
                <a:cs typeface="Times New Roman"/>
              </a:rPr>
              <a:t>hybrid</a:t>
            </a:r>
            <a:r>
              <a:rPr sz="1800" spc="-55" dirty="0">
                <a:latin typeface="Times New Roman"/>
                <a:cs typeface="Times New Roman"/>
              </a:rPr>
              <a:t> </a:t>
            </a:r>
            <a:r>
              <a:rPr sz="1800" dirty="0">
                <a:latin typeface="Times New Roman"/>
                <a:cs typeface="Times New Roman"/>
              </a:rPr>
              <a:t>deep</a:t>
            </a:r>
            <a:r>
              <a:rPr sz="1800" spc="-70" dirty="0">
                <a:latin typeface="Times New Roman"/>
                <a:cs typeface="Times New Roman"/>
              </a:rPr>
              <a:t> </a:t>
            </a:r>
            <a:r>
              <a:rPr sz="1800" dirty="0">
                <a:latin typeface="Times New Roman"/>
                <a:cs typeface="Times New Roman"/>
              </a:rPr>
              <a:t>learning</a:t>
            </a:r>
            <a:r>
              <a:rPr sz="1800" spc="-75" dirty="0">
                <a:latin typeface="Times New Roman"/>
                <a:cs typeface="Times New Roman"/>
              </a:rPr>
              <a:t> </a:t>
            </a:r>
            <a:r>
              <a:rPr sz="1800" dirty="0">
                <a:latin typeface="Times New Roman"/>
                <a:cs typeface="Times New Roman"/>
              </a:rPr>
              <a:t>framework</a:t>
            </a:r>
            <a:r>
              <a:rPr sz="1800" spc="10" dirty="0">
                <a:latin typeface="Times New Roman"/>
                <a:cs typeface="Times New Roman"/>
              </a:rPr>
              <a:t> </a:t>
            </a:r>
            <a:r>
              <a:rPr sz="1800" dirty="0">
                <a:latin typeface="Times New Roman"/>
                <a:cs typeface="Times New Roman"/>
              </a:rPr>
              <a:t>integrating</a:t>
            </a:r>
            <a:r>
              <a:rPr sz="1800" spc="-55" dirty="0">
                <a:latin typeface="Times New Roman"/>
                <a:cs typeface="Times New Roman"/>
              </a:rPr>
              <a:t> </a:t>
            </a:r>
            <a:r>
              <a:rPr sz="1800" b="1" spc="-10" dirty="0">
                <a:latin typeface="Times New Roman"/>
                <a:cs typeface="Times New Roman"/>
              </a:rPr>
              <a:t>transformer</a:t>
            </a:r>
            <a:r>
              <a:rPr sz="1800" b="1" spc="35" dirty="0">
                <a:latin typeface="Times New Roman"/>
                <a:cs typeface="Times New Roman"/>
              </a:rPr>
              <a:t> </a:t>
            </a:r>
            <a:r>
              <a:rPr sz="1800" b="1" dirty="0">
                <a:latin typeface="Times New Roman"/>
                <a:cs typeface="Times New Roman"/>
              </a:rPr>
              <a:t>embeddings</a:t>
            </a:r>
            <a:r>
              <a:rPr sz="1800" b="1" spc="15" dirty="0">
                <a:latin typeface="Times New Roman"/>
                <a:cs typeface="Times New Roman"/>
              </a:rPr>
              <a:t> </a:t>
            </a:r>
            <a:r>
              <a:rPr sz="1800" b="1" dirty="0">
                <a:latin typeface="Times New Roman"/>
                <a:cs typeface="Times New Roman"/>
              </a:rPr>
              <a:t>and</a:t>
            </a:r>
            <a:r>
              <a:rPr sz="1800" b="1" spc="-35" dirty="0">
                <a:latin typeface="Times New Roman"/>
                <a:cs typeface="Times New Roman"/>
              </a:rPr>
              <a:t> </a:t>
            </a:r>
            <a:r>
              <a:rPr sz="1800" b="1" dirty="0">
                <a:latin typeface="Times New Roman"/>
                <a:cs typeface="Times New Roman"/>
              </a:rPr>
              <a:t>metadata</a:t>
            </a:r>
            <a:r>
              <a:rPr sz="1800" b="1" spc="30" dirty="0">
                <a:latin typeface="Times New Roman"/>
                <a:cs typeface="Times New Roman"/>
              </a:rPr>
              <a:t> </a:t>
            </a:r>
            <a:r>
              <a:rPr sz="1800" dirty="0">
                <a:latin typeface="Times New Roman"/>
                <a:cs typeface="Times New Roman"/>
              </a:rPr>
              <a:t>for</a:t>
            </a:r>
            <a:r>
              <a:rPr sz="1800" spc="-45" dirty="0">
                <a:latin typeface="Times New Roman"/>
                <a:cs typeface="Times New Roman"/>
              </a:rPr>
              <a:t> </a:t>
            </a:r>
            <a:r>
              <a:rPr sz="1800" dirty="0">
                <a:latin typeface="Times New Roman"/>
                <a:cs typeface="Times New Roman"/>
              </a:rPr>
              <a:t>improved</a:t>
            </a:r>
            <a:r>
              <a:rPr sz="1800" spc="-55" dirty="0">
                <a:latin typeface="Times New Roman"/>
                <a:cs typeface="Times New Roman"/>
              </a:rPr>
              <a:t> </a:t>
            </a:r>
            <a:r>
              <a:rPr sz="1800" spc="-10" dirty="0">
                <a:latin typeface="Times New Roman"/>
                <a:cs typeface="Times New Roman"/>
              </a:rPr>
              <a:t>detection</a:t>
            </a:r>
            <a:endParaRPr sz="1800">
              <a:latin typeface="Times New Roman"/>
              <a:cs typeface="Times New Roman"/>
            </a:endParaRPr>
          </a:p>
          <a:p>
            <a:pPr marL="12700">
              <a:lnSpc>
                <a:spcPct val="100000"/>
              </a:lnSpc>
            </a:pPr>
            <a:r>
              <a:rPr sz="1800" spc="-10" dirty="0">
                <a:latin typeface="Times New Roman"/>
                <a:cs typeface="Times New Roman"/>
              </a:rPr>
              <a:t>accuracy.</a:t>
            </a:r>
            <a:endParaRPr sz="1800">
              <a:latin typeface="Times New Roman"/>
              <a:cs typeface="Times New Roman"/>
            </a:endParaRPr>
          </a:p>
          <a:p>
            <a:pPr marL="450215" indent="-437515">
              <a:lnSpc>
                <a:spcPct val="100000"/>
              </a:lnSpc>
              <a:buAutoNum type="arabicPlain" startAt="14"/>
              <a:tabLst>
                <a:tab pos="450215" algn="l"/>
              </a:tabLst>
            </a:pPr>
            <a:r>
              <a:rPr sz="1800" b="1" dirty="0">
                <a:latin typeface="Times New Roman"/>
                <a:cs typeface="Times New Roman"/>
              </a:rPr>
              <a:t>Feng</a:t>
            </a:r>
            <a:r>
              <a:rPr sz="1800" b="1" spc="-20" dirty="0">
                <a:latin typeface="Times New Roman"/>
                <a:cs typeface="Times New Roman"/>
              </a:rPr>
              <a:t> </a:t>
            </a:r>
            <a:r>
              <a:rPr sz="1800" b="1" dirty="0">
                <a:latin typeface="Times New Roman"/>
                <a:cs typeface="Times New Roman"/>
              </a:rPr>
              <a:t>et</a:t>
            </a:r>
            <a:r>
              <a:rPr sz="1800" b="1" spc="-25" dirty="0">
                <a:latin typeface="Times New Roman"/>
                <a:cs typeface="Times New Roman"/>
              </a:rPr>
              <a:t> </a:t>
            </a:r>
            <a:r>
              <a:rPr sz="1800" b="1" dirty="0">
                <a:latin typeface="Times New Roman"/>
                <a:cs typeface="Times New Roman"/>
              </a:rPr>
              <a:t>al.</a:t>
            </a:r>
            <a:r>
              <a:rPr sz="1800" b="1" spc="-20" dirty="0">
                <a:latin typeface="Times New Roman"/>
                <a:cs typeface="Times New Roman"/>
              </a:rPr>
              <a:t> </a:t>
            </a:r>
            <a:r>
              <a:rPr sz="1800" b="1" spc="-10" dirty="0">
                <a:latin typeface="Times New Roman"/>
                <a:cs typeface="Times New Roman"/>
              </a:rPr>
              <a:t>(2021):</a:t>
            </a:r>
            <a:endParaRPr sz="1800">
              <a:latin typeface="Times New Roman"/>
              <a:cs typeface="Times New Roman"/>
            </a:endParaRPr>
          </a:p>
          <a:p>
            <a:pPr marL="12700">
              <a:lnSpc>
                <a:spcPct val="100000"/>
              </a:lnSpc>
            </a:pPr>
            <a:r>
              <a:rPr sz="1800" dirty="0">
                <a:latin typeface="Times New Roman"/>
                <a:cs typeface="Times New Roman"/>
              </a:rPr>
              <a:t>Developed</a:t>
            </a:r>
            <a:r>
              <a:rPr sz="1800" spc="-20" dirty="0">
                <a:latin typeface="Times New Roman"/>
                <a:cs typeface="Times New Roman"/>
              </a:rPr>
              <a:t> </a:t>
            </a:r>
            <a:r>
              <a:rPr sz="1800" b="1" dirty="0">
                <a:latin typeface="Times New Roman"/>
                <a:cs typeface="Times New Roman"/>
              </a:rPr>
              <a:t>TwiBot-20</a:t>
            </a:r>
            <a:r>
              <a:rPr sz="1800" dirty="0">
                <a:latin typeface="Times New Roman"/>
                <a:cs typeface="Times New Roman"/>
              </a:rPr>
              <a:t>,</a:t>
            </a:r>
            <a:r>
              <a:rPr sz="1800" spc="-100" dirty="0">
                <a:latin typeface="Times New Roman"/>
                <a:cs typeface="Times New Roman"/>
              </a:rPr>
              <a:t> </a:t>
            </a:r>
            <a:r>
              <a:rPr sz="1800" dirty="0">
                <a:latin typeface="Times New Roman"/>
                <a:cs typeface="Times New Roman"/>
              </a:rPr>
              <a:t>a</a:t>
            </a:r>
            <a:r>
              <a:rPr sz="1800" spc="-40" dirty="0">
                <a:latin typeface="Times New Roman"/>
                <a:cs typeface="Times New Roman"/>
              </a:rPr>
              <a:t> </a:t>
            </a:r>
            <a:r>
              <a:rPr sz="1800" dirty="0">
                <a:latin typeface="Times New Roman"/>
                <a:cs typeface="Times New Roman"/>
              </a:rPr>
              <a:t>multimodal</a:t>
            </a:r>
            <a:r>
              <a:rPr sz="1800" spc="-35" dirty="0">
                <a:latin typeface="Times New Roman"/>
                <a:cs typeface="Times New Roman"/>
              </a:rPr>
              <a:t> </a:t>
            </a:r>
            <a:r>
              <a:rPr sz="1800" dirty="0">
                <a:latin typeface="Times New Roman"/>
                <a:cs typeface="Times New Roman"/>
              </a:rPr>
              <a:t>benchmark dataset</a:t>
            </a:r>
            <a:r>
              <a:rPr sz="1800" spc="-30" dirty="0">
                <a:latin typeface="Times New Roman"/>
                <a:cs typeface="Times New Roman"/>
              </a:rPr>
              <a:t> </a:t>
            </a:r>
            <a:r>
              <a:rPr sz="1800" dirty="0">
                <a:latin typeface="Times New Roman"/>
                <a:cs typeface="Times New Roman"/>
              </a:rPr>
              <a:t>containing</a:t>
            </a:r>
            <a:r>
              <a:rPr sz="1800" spc="-90" dirty="0">
                <a:latin typeface="Times New Roman"/>
                <a:cs typeface="Times New Roman"/>
              </a:rPr>
              <a:t> </a:t>
            </a:r>
            <a:r>
              <a:rPr sz="1800" dirty="0">
                <a:latin typeface="Times New Roman"/>
                <a:cs typeface="Times New Roman"/>
              </a:rPr>
              <a:t>textual</a:t>
            </a:r>
            <a:r>
              <a:rPr sz="1800" spc="-3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metadata</a:t>
            </a:r>
            <a:r>
              <a:rPr sz="1800" spc="5" dirty="0">
                <a:latin typeface="Times New Roman"/>
                <a:cs typeface="Times New Roman"/>
              </a:rPr>
              <a:t> </a:t>
            </a:r>
            <a:r>
              <a:rPr sz="1800" dirty="0">
                <a:latin typeface="Times New Roman"/>
                <a:cs typeface="Times New Roman"/>
              </a:rPr>
              <a:t>features</a:t>
            </a:r>
            <a:r>
              <a:rPr sz="1800" spc="-20" dirty="0">
                <a:latin typeface="Times New Roman"/>
                <a:cs typeface="Times New Roman"/>
              </a:rPr>
              <a:t> </a:t>
            </a:r>
            <a:r>
              <a:rPr sz="1800" dirty="0">
                <a:latin typeface="Times New Roman"/>
                <a:cs typeface="Times New Roman"/>
              </a:rPr>
              <a:t>for</a:t>
            </a:r>
            <a:r>
              <a:rPr sz="1800" spc="-35" dirty="0">
                <a:latin typeface="Times New Roman"/>
                <a:cs typeface="Times New Roman"/>
              </a:rPr>
              <a:t> </a:t>
            </a:r>
            <a:r>
              <a:rPr sz="1800" dirty="0">
                <a:latin typeface="Times New Roman"/>
                <a:cs typeface="Times New Roman"/>
              </a:rPr>
              <a:t>fair</a:t>
            </a:r>
            <a:r>
              <a:rPr sz="1800" spc="-10" dirty="0">
                <a:latin typeface="Times New Roman"/>
                <a:cs typeface="Times New Roman"/>
              </a:rPr>
              <a:t> </a:t>
            </a:r>
            <a:r>
              <a:rPr sz="1800" dirty="0">
                <a:latin typeface="Times New Roman"/>
                <a:cs typeface="Times New Roman"/>
              </a:rPr>
              <a:t>bot</a:t>
            </a:r>
            <a:r>
              <a:rPr sz="1800" spc="-50" dirty="0">
                <a:latin typeface="Times New Roman"/>
                <a:cs typeface="Times New Roman"/>
              </a:rPr>
              <a:t> </a:t>
            </a:r>
            <a:r>
              <a:rPr sz="1800" spc="-10" dirty="0">
                <a:latin typeface="Times New Roman"/>
                <a:cs typeface="Times New Roman"/>
              </a:rPr>
              <a:t>detection</a:t>
            </a:r>
            <a:endParaRPr sz="1800">
              <a:latin typeface="Times New Roman"/>
              <a:cs typeface="Times New Roman"/>
            </a:endParaRPr>
          </a:p>
          <a:p>
            <a:pPr marL="12700">
              <a:lnSpc>
                <a:spcPct val="100000"/>
              </a:lnSpc>
            </a:pPr>
            <a:r>
              <a:rPr sz="1800" spc="-10" dirty="0">
                <a:latin typeface="Times New Roman"/>
                <a:cs typeface="Times New Roman"/>
              </a:rPr>
              <a:t>evaluation.</a:t>
            </a:r>
            <a:endParaRPr sz="1800">
              <a:latin typeface="Times New Roman"/>
              <a:cs typeface="Times New Roman"/>
            </a:endParaRPr>
          </a:p>
          <a:p>
            <a:pPr marL="450215" indent="-437515">
              <a:lnSpc>
                <a:spcPct val="100000"/>
              </a:lnSpc>
              <a:buAutoNum type="arabicPlain" startAt="15"/>
              <a:tabLst>
                <a:tab pos="450215" algn="l"/>
              </a:tabLst>
            </a:pPr>
            <a:r>
              <a:rPr sz="1800" b="1" dirty="0">
                <a:latin typeface="Times New Roman"/>
                <a:cs typeface="Times New Roman"/>
              </a:rPr>
              <a:t>Nguyen</a:t>
            </a:r>
            <a:r>
              <a:rPr sz="1800" b="1" spc="-45" dirty="0">
                <a:latin typeface="Times New Roman"/>
                <a:cs typeface="Times New Roman"/>
              </a:rPr>
              <a:t> </a:t>
            </a:r>
            <a:r>
              <a:rPr sz="1800" b="1" dirty="0">
                <a:latin typeface="Times New Roman"/>
                <a:cs typeface="Times New Roman"/>
              </a:rPr>
              <a:t>and Thai </a:t>
            </a:r>
            <a:r>
              <a:rPr sz="1800" b="1" spc="-10" dirty="0">
                <a:latin typeface="Times New Roman"/>
                <a:cs typeface="Times New Roman"/>
              </a:rPr>
              <a:t>(2020):</a:t>
            </a:r>
            <a:endParaRPr sz="1800">
              <a:latin typeface="Times New Roman"/>
              <a:cs typeface="Times New Roman"/>
            </a:endParaRPr>
          </a:p>
          <a:p>
            <a:pPr marL="12700">
              <a:lnSpc>
                <a:spcPct val="100000"/>
              </a:lnSpc>
              <a:spcBef>
                <a:spcPts val="5"/>
              </a:spcBef>
            </a:pPr>
            <a:r>
              <a:rPr sz="1800" dirty="0">
                <a:latin typeface="Times New Roman"/>
                <a:cs typeface="Times New Roman"/>
              </a:rPr>
              <a:t>Used</a:t>
            </a:r>
            <a:r>
              <a:rPr sz="1800" spc="-15" dirty="0">
                <a:latin typeface="Times New Roman"/>
                <a:cs typeface="Times New Roman"/>
              </a:rPr>
              <a:t> </a:t>
            </a:r>
            <a:r>
              <a:rPr sz="1800" b="1" dirty="0">
                <a:latin typeface="Times New Roman"/>
                <a:cs typeface="Times New Roman"/>
              </a:rPr>
              <a:t>Graph</a:t>
            </a:r>
            <a:r>
              <a:rPr sz="1800" b="1" spc="10" dirty="0">
                <a:latin typeface="Times New Roman"/>
                <a:cs typeface="Times New Roman"/>
              </a:rPr>
              <a:t> </a:t>
            </a:r>
            <a:r>
              <a:rPr sz="1800" b="1" dirty="0">
                <a:latin typeface="Times New Roman"/>
                <a:cs typeface="Times New Roman"/>
              </a:rPr>
              <a:t>Neural</a:t>
            </a:r>
            <a:r>
              <a:rPr sz="1800" b="1" spc="30" dirty="0">
                <a:latin typeface="Times New Roman"/>
                <a:cs typeface="Times New Roman"/>
              </a:rPr>
              <a:t> </a:t>
            </a:r>
            <a:r>
              <a:rPr sz="1800" b="1" dirty="0">
                <a:latin typeface="Times New Roman"/>
                <a:cs typeface="Times New Roman"/>
              </a:rPr>
              <a:t>Networks (GNNs)</a:t>
            </a:r>
            <a:r>
              <a:rPr sz="1800" b="1" spc="-75" dirty="0">
                <a:latin typeface="Times New Roman"/>
                <a:cs typeface="Times New Roman"/>
              </a:rPr>
              <a:t> </a:t>
            </a:r>
            <a:r>
              <a:rPr sz="1800" dirty="0">
                <a:latin typeface="Times New Roman"/>
                <a:cs typeface="Times New Roman"/>
              </a:rPr>
              <a:t>to</a:t>
            </a:r>
            <a:r>
              <a:rPr sz="1800" spc="-15" dirty="0">
                <a:latin typeface="Times New Roman"/>
                <a:cs typeface="Times New Roman"/>
              </a:rPr>
              <a:t> </a:t>
            </a:r>
            <a:r>
              <a:rPr sz="1800" dirty="0">
                <a:latin typeface="Times New Roman"/>
                <a:cs typeface="Times New Roman"/>
              </a:rPr>
              <a:t>model</a:t>
            </a:r>
            <a:r>
              <a:rPr sz="1800" spc="-20" dirty="0">
                <a:latin typeface="Times New Roman"/>
                <a:cs typeface="Times New Roman"/>
              </a:rPr>
              <a:t> </a:t>
            </a:r>
            <a:r>
              <a:rPr sz="1800" dirty="0">
                <a:latin typeface="Times New Roman"/>
                <a:cs typeface="Times New Roman"/>
              </a:rPr>
              <a:t>relationships</a:t>
            </a:r>
            <a:r>
              <a:rPr sz="1800" spc="-75"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interactions</a:t>
            </a:r>
            <a:r>
              <a:rPr sz="1800" spc="-50" dirty="0">
                <a:latin typeface="Times New Roman"/>
                <a:cs typeface="Times New Roman"/>
              </a:rPr>
              <a:t> </a:t>
            </a:r>
            <a:r>
              <a:rPr sz="1800" dirty="0">
                <a:latin typeface="Times New Roman"/>
                <a:cs typeface="Times New Roman"/>
              </a:rPr>
              <a:t>among</a:t>
            </a:r>
            <a:r>
              <a:rPr sz="1800" spc="-10" dirty="0">
                <a:latin typeface="Times New Roman"/>
                <a:cs typeface="Times New Roman"/>
              </a:rPr>
              <a:t> </a:t>
            </a:r>
            <a:r>
              <a:rPr sz="1800" dirty="0">
                <a:latin typeface="Times New Roman"/>
                <a:cs typeface="Times New Roman"/>
              </a:rPr>
              <a:t>Twitter</a:t>
            </a:r>
            <a:r>
              <a:rPr sz="1800" spc="-10" dirty="0">
                <a:latin typeface="Times New Roman"/>
                <a:cs typeface="Times New Roman"/>
              </a:rPr>
              <a:t> </a:t>
            </a:r>
            <a:r>
              <a:rPr sz="1800" dirty="0">
                <a:latin typeface="Times New Roman"/>
                <a:cs typeface="Times New Roman"/>
              </a:rPr>
              <a:t>users</a:t>
            </a:r>
            <a:r>
              <a:rPr sz="1800" spc="-25" dirty="0">
                <a:latin typeface="Times New Roman"/>
                <a:cs typeface="Times New Roman"/>
              </a:rPr>
              <a:t> </a:t>
            </a:r>
            <a:r>
              <a:rPr sz="1800" dirty="0">
                <a:latin typeface="Times New Roman"/>
                <a:cs typeface="Times New Roman"/>
              </a:rPr>
              <a:t>for</a:t>
            </a:r>
            <a:r>
              <a:rPr sz="1800" spc="-25" dirty="0">
                <a:latin typeface="Times New Roman"/>
                <a:cs typeface="Times New Roman"/>
              </a:rPr>
              <a:t> </a:t>
            </a:r>
            <a:r>
              <a:rPr sz="1800" dirty="0">
                <a:latin typeface="Times New Roman"/>
                <a:cs typeface="Times New Roman"/>
              </a:rPr>
              <a:t>bot</a:t>
            </a:r>
            <a:r>
              <a:rPr sz="1800" spc="-45" dirty="0">
                <a:latin typeface="Times New Roman"/>
                <a:cs typeface="Times New Roman"/>
              </a:rPr>
              <a:t> </a:t>
            </a:r>
            <a:r>
              <a:rPr sz="1800" spc="-10" dirty="0">
                <a:latin typeface="Times New Roman"/>
                <a:cs typeface="Times New Roman"/>
              </a:rPr>
              <a:t>detection.</a:t>
            </a:r>
            <a:endParaRPr sz="18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786889">
              <a:lnSpc>
                <a:spcPct val="100000"/>
              </a:lnSpc>
              <a:spcBef>
                <a:spcPts val="95"/>
              </a:spcBef>
            </a:pPr>
            <a:r>
              <a:rPr spc="-10" dirty="0"/>
              <a:t>ACKNOWLEGEMENTS</a:t>
            </a:r>
          </a:p>
        </p:txBody>
      </p:sp>
      <p:sp>
        <p:nvSpPr>
          <p:cNvPr id="3" name="object 3"/>
          <p:cNvSpPr txBox="1"/>
          <p:nvPr/>
        </p:nvSpPr>
        <p:spPr>
          <a:xfrm>
            <a:off x="673404" y="1561591"/>
            <a:ext cx="11144885" cy="1078230"/>
          </a:xfrm>
          <a:prstGeom prst="rect">
            <a:avLst/>
          </a:prstGeom>
        </p:spPr>
        <p:txBody>
          <a:bodyPr vert="horz" wrap="square" lIns="0" tIns="13335" rIns="0" bIns="0" rtlCol="0">
            <a:spAutoFit/>
          </a:bodyPr>
          <a:lstStyle/>
          <a:p>
            <a:pPr marL="12700">
              <a:lnSpc>
                <a:spcPct val="100000"/>
              </a:lnSpc>
              <a:spcBef>
                <a:spcPts val="105"/>
              </a:spcBef>
            </a:pPr>
            <a:r>
              <a:rPr sz="2300" b="1" dirty="0">
                <a:latin typeface="Times New Roman"/>
                <a:cs typeface="Times New Roman"/>
              </a:rPr>
              <a:t>Thank</a:t>
            </a:r>
            <a:r>
              <a:rPr sz="2300" b="1" spc="-45" dirty="0">
                <a:latin typeface="Times New Roman"/>
                <a:cs typeface="Times New Roman"/>
              </a:rPr>
              <a:t> </a:t>
            </a:r>
            <a:r>
              <a:rPr sz="2300" b="1" spc="-20" dirty="0">
                <a:latin typeface="Times New Roman"/>
                <a:cs typeface="Times New Roman"/>
              </a:rPr>
              <a:t>You!</a:t>
            </a:r>
            <a:endParaRPr sz="2300" dirty="0">
              <a:latin typeface="Times New Roman"/>
              <a:cs typeface="Times New Roman"/>
            </a:endParaRPr>
          </a:p>
          <a:p>
            <a:pPr marL="12700">
              <a:lnSpc>
                <a:spcPct val="100000"/>
              </a:lnSpc>
            </a:pPr>
            <a:r>
              <a:rPr sz="2300" dirty="0">
                <a:latin typeface="Times New Roman"/>
                <a:cs typeface="Times New Roman"/>
              </a:rPr>
              <a:t>We sincerely</a:t>
            </a:r>
            <a:r>
              <a:rPr sz="2300" spc="-20" dirty="0">
                <a:latin typeface="Times New Roman"/>
                <a:cs typeface="Times New Roman"/>
              </a:rPr>
              <a:t> </a:t>
            </a:r>
            <a:r>
              <a:rPr sz="2300" b="1" dirty="0">
                <a:latin typeface="Times New Roman"/>
                <a:cs typeface="Times New Roman"/>
              </a:rPr>
              <a:t>thank</a:t>
            </a:r>
            <a:r>
              <a:rPr sz="2300" b="1" spc="-35" dirty="0">
                <a:latin typeface="Times New Roman"/>
                <a:cs typeface="Times New Roman"/>
              </a:rPr>
              <a:t> </a:t>
            </a:r>
            <a:r>
              <a:rPr sz="2300" b="1" dirty="0">
                <a:latin typeface="Times New Roman"/>
                <a:cs typeface="Times New Roman"/>
              </a:rPr>
              <a:t>the</a:t>
            </a:r>
            <a:r>
              <a:rPr sz="2300" b="1" spc="-40" dirty="0">
                <a:latin typeface="Times New Roman"/>
                <a:cs typeface="Times New Roman"/>
              </a:rPr>
              <a:t> </a:t>
            </a:r>
            <a:r>
              <a:rPr sz="2300" b="1" spc="-10" dirty="0">
                <a:latin typeface="Times New Roman"/>
                <a:cs typeface="Times New Roman"/>
              </a:rPr>
              <a:t>Co-</a:t>
            </a:r>
            <a:r>
              <a:rPr sz="2300" b="1" dirty="0">
                <a:latin typeface="Times New Roman"/>
                <a:cs typeface="Times New Roman"/>
              </a:rPr>
              <a:t>ordintor’s,</a:t>
            </a:r>
            <a:r>
              <a:rPr sz="2300" b="1" spc="-45" dirty="0">
                <a:latin typeface="Times New Roman"/>
                <a:cs typeface="Times New Roman"/>
              </a:rPr>
              <a:t> </a:t>
            </a:r>
            <a:r>
              <a:rPr sz="2300" b="1" dirty="0">
                <a:latin typeface="Times New Roman"/>
                <a:cs typeface="Times New Roman"/>
              </a:rPr>
              <a:t>faculty,</a:t>
            </a:r>
            <a:r>
              <a:rPr sz="2300" b="1" spc="-65" dirty="0">
                <a:latin typeface="Times New Roman"/>
                <a:cs typeface="Times New Roman"/>
              </a:rPr>
              <a:t> </a:t>
            </a:r>
            <a:r>
              <a:rPr sz="2300" b="1" dirty="0">
                <a:latin typeface="Times New Roman"/>
                <a:cs typeface="Times New Roman"/>
              </a:rPr>
              <a:t>and</a:t>
            </a:r>
            <a:r>
              <a:rPr sz="2300" b="1" spc="-30" dirty="0">
                <a:latin typeface="Times New Roman"/>
                <a:cs typeface="Times New Roman"/>
              </a:rPr>
              <a:t> </a:t>
            </a:r>
            <a:r>
              <a:rPr sz="2300" b="1" dirty="0">
                <a:latin typeface="Times New Roman"/>
                <a:cs typeface="Times New Roman"/>
              </a:rPr>
              <a:t>audience</a:t>
            </a:r>
            <a:r>
              <a:rPr sz="2300" b="1" spc="-25" dirty="0">
                <a:latin typeface="Times New Roman"/>
                <a:cs typeface="Times New Roman"/>
              </a:rPr>
              <a:t> </a:t>
            </a:r>
            <a:r>
              <a:rPr sz="2300" dirty="0">
                <a:latin typeface="Times New Roman"/>
                <a:cs typeface="Times New Roman"/>
              </a:rPr>
              <a:t>for</a:t>
            </a:r>
            <a:r>
              <a:rPr sz="2300" spc="-20" dirty="0">
                <a:latin typeface="Times New Roman"/>
                <a:cs typeface="Times New Roman"/>
              </a:rPr>
              <a:t> </a:t>
            </a:r>
            <a:r>
              <a:rPr sz="2300" dirty="0">
                <a:latin typeface="Times New Roman"/>
                <a:cs typeface="Times New Roman"/>
              </a:rPr>
              <a:t>giving us</a:t>
            </a:r>
            <a:r>
              <a:rPr sz="2300" spc="-30" dirty="0">
                <a:latin typeface="Times New Roman"/>
                <a:cs typeface="Times New Roman"/>
              </a:rPr>
              <a:t> </a:t>
            </a:r>
            <a:r>
              <a:rPr sz="2300" dirty="0">
                <a:latin typeface="Times New Roman"/>
                <a:cs typeface="Times New Roman"/>
              </a:rPr>
              <a:t>the</a:t>
            </a:r>
            <a:r>
              <a:rPr sz="2300" spc="-10" dirty="0">
                <a:latin typeface="Times New Roman"/>
                <a:cs typeface="Times New Roman"/>
              </a:rPr>
              <a:t> </a:t>
            </a:r>
            <a:r>
              <a:rPr sz="2300" dirty="0">
                <a:latin typeface="Times New Roman"/>
                <a:cs typeface="Times New Roman"/>
              </a:rPr>
              <a:t>opportunity</a:t>
            </a:r>
            <a:r>
              <a:rPr sz="2300" spc="-95" dirty="0">
                <a:latin typeface="Times New Roman"/>
                <a:cs typeface="Times New Roman"/>
              </a:rPr>
              <a:t> </a:t>
            </a:r>
            <a:r>
              <a:rPr sz="2300" spc="-25" dirty="0">
                <a:latin typeface="Times New Roman"/>
                <a:cs typeface="Times New Roman"/>
              </a:rPr>
              <a:t>to</a:t>
            </a:r>
            <a:endParaRPr sz="2300" dirty="0">
              <a:latin typeface="Times New Roman"/>
              <a:cs typeface="Times New Roman"/>
            </a:endParaRPr>
          </a:p>
          <a:p>
            <a:pPr marL="12700">
              <a:lnSpc>
                <a:spcPct val="100000"/>
              </a:lnSpc>
            </a:pPr>
            <a:r>
              <a:rPr sz="2300" dirty="0">
                <a:latin typeface="Times New Roman"/>
                <a:cs typeface="Times New Roman"/>
              </a:rPr>
              <a:t>present</a:t>
            </a:r>
            <a:r>
              <a:rPr sz="2300" spc="-30" dirty="0">
                <a:latin typeface="Times New Roman"/>
                <a:cs typeface="Times New Roman"/>
              </a:rPr>
              <a:t> </a:t>
            </a:r>
            <a:r>
              <a:rPr sz="2300" dirty="0">
                <a:latin typeface="Times New Roman"/>
                <a:cs typeface="Times New Roman"/>
              </a:rPr>
              <a:t>our</a:t>
            </a:r>
            <a:r>
              <a:rPr sz="2300" spc="-10" dirty="0">
                <a:latin typeface="Times New Roman"/>
                <a:cs typeface="Times New Roman"/>
              </a:rPr>
              <a:t> </a:t>
            </a:r>
            <a:r>
              <a:rPr sz="2300" dirty="0">
                <a:latin typeface="Times New Roman"/>
                <a:cs typeface="Times New Roman"/>
              </a:rPr>
              <a:t>project</a:t>
            </a:r>
            <a:r>
              <a:rPr sz="2300" spc="-30" dirty="0">
                <a:latin typeface="Times New Roman"/>
                <a:cs typeface="Times New Roman"/>
              </a:rPr>
              <a:t> </a:t>
            </a:r>
            <a:r>
              <a:rPr sz="2300" spc="-50" dirty="0">
                <a:latin typeface="Times New Roman"/>
                <a:cs typeface="Times New Roman"/>
              </a:rPr>
              <a:t>—</a:t>
            </a:r>
            <a:endParaRPr sz="2300" dirty="0">
              <a:latin typeface="Times New Roman"/>
              <a:cs typeface="Times New Roman"/>
            </a:endParaRPr>
          </a:p>
        </p:txBody>
      </p:sp>
      <p:grpSp>
        <p:nvGrpSpPr>
          <p:cNvPr id="4" name="object 4"/>
          <p:cNvGrpSpPr/>
          <p:nvPr/>
        </p:nvGrpSpPr>
        <p:grpSpPr>
          <a:xfrm>
            <a:off x="1922970" y="2742709"/>
            <a:ext cx="9417050" cy="300355"/>
            <a:chOff x="1737360" y="2703512"/>
            <a:chExt cx="9417050" cy="300355"/>
          </a:xfrm>
          <a:solidFill>
            <a:schemeClr val="bg1"/>
          </a:solidFill>
        </p:grpSpPr>
        <p:pic>
          <p:nvPicPr>
            <p:cNvPr id="5" name="object 5"/>
            <p:cNvPicPr/>
            <p:nvPr/>
          </p:nvPicPr>
          <p:blipFill>
            <a:blip r:embed="rId2" cstate="print"/>
            <a:stretch>
              <a:fillRect/>
            </a:stretch>
          </p:blipFill>
          <p:spPr>
            <a:xfrm>
              <a:off x="1737360" y="2703512"/>
              <a:ext cx="9416542" cy="300037"/>
            </a:xfrm>
            <a:prstGeom prst="rect">
              <a:avLst/>
            </a:prstGeom>
            <a:grpFill/>
          </p:spPr>
        </p:pic>
        <p:pic>
          <p:nvPicPr>
            <p:cNvPr id="6" name="object 6"/>
            <p:cNvPicPr/>
            <p:nvPr/>
          </p:nvPicPr>
          <p:blipFill>
            <a:blip r:embed="rId3" cstate="print"/>
            <a:stretch>
              <a:fillRect/>
            </a:stretch>
          </p:blipFill>
          <p:spPr>
            <a:xfrm>
              <a:off x="1752600" y="2719197"/>
              <a:ext cx="9378188" cy="261492"/>
            </a:xfrm>
            <a:prstGeom prst="rect">
              <a:avLst/>
            </a:prstGeom>
            <a:grpFill/>
          </p:spPr>
        </p:pic>
      </p:gr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11" name="object 11"/>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31</a:t>
            </a:fld>
            <a:endParaRPr spc="-25" dirty="0"/>
          </a:p>
        </p:txBody>
      </p:sp>
      <p:sp>
        <p:nvSpPr>
          <p:cNvPr id="8" name="object 8"/>
          <p:cNvSpPr txBox="1"/>
          <p:nvPr/>
        </p:nvSpPr>
        <p:spPr>
          <a:xfrm>
            <a:off x="673404" y="2742709"/>
            <a:ext cx="9516745" cy="3342453"/>
          </a:xfrm>
          <a:prstGeom prst="rect">
            <a:avLst/>
          </a:prstGeom>
        </p:spPr>
        <p:txBody>
          <a:bodyPr vert="horz" wrap="square" lIns="0" tIns="13335" rIns="0" bIns="0" rtlCol="0">
            <a:spAutoFit/>
          </a:bodyPr>
          <a:lstStyle/>
          <a:p>
            <a:pPr marL="926465">
              <a:lnSpc>
                <a:spcPct val="100000"/>
              </a:lnSpc>
              <a:spcBef>
                <a:spcPts val="105"/>
              </a:spcBef>
            </a:pPr>
            <a:endParaRPr sz="2300" dirty="0">
              <a:latin typeface="Times New Roman"/>
              <a:cs typeface="Times New Roman"/>
            </a:endParaRPr>
          </a:p>
          <a:p>
            <a:pPr marL="12700">
              <a:lnSpc>
                <a:spcPct val="100000"/>
              </a:lnSpc>
              <a:spcBef>
                <a:spcPts val="5"/>
              </a:spcBef>
            </a:pPr>
            <a:r>
              <a:rPr sz="2300" dirty="0">
                <a:latin typeface="Times New Roman"/>
                <a:cs typeface="Times New Roman"/>
              </a:rPr>
              <a:t>Your</a:t>
            </a:r>
            <a:r>
              <a:rPr sz="2300" spc="-15" dirty="0">
                <a:latin typeface="Times New Roman"/>
                <a:cs typeface="Times New Roman"/>
              </a:rPr>
              <a:t> </a:t>
            </a:r>
            <a:r>
              <a:rPr sz="2300" dirty="0">
                <a:latin typeface="Times New Roman"/>
                <a:cs typeface="Times New Roman"/>
              </a:rPr>
              <a:t>attention,</a:t>
            </a:r>
            <a:r>
              <a:rPr sz="2300" spc="-85" dirty="0">
                <a:latin typeface="Times New Roman"/>
                <a:cs typeface="Times New Roman"/>
              </a:rPr>
              <a:t> </a:t>
            </a:r>
            <a:r>
              <a:rPr sz="2300" dirty="0">
                <a:latin typeface="Times New Roman"/>
                <a:cs typeface="Times New Roman"/>
              </a:rPr>
              <a:t>feedback,</a:t>
            </a:r>
            <a:r>
              <a:rPr sz="2300" spc="-35" dirty="0">
                <a:latin typeface="Times New Roman"/>
                <a:cs typeface="Times New Roman"/>
              </a:rPr>
              <a:t> </a:t>
            </a:r>
            <a:r>
              <a:rPr sz="2300" dirty="0">
                <a:latin typeface="Times New Roman"/>
                <a:cs typeface="Times New Roman"/>
              </a:rPr>
              <a:t>and</a:t>
            </a:r>
            <a:r>
              <a:rPr sz="2300" spc="-10" dirty="0">
                <a:latin typeface="Times New Roman"/>
                <a:cs typeface="Times New Roman"/>
              </a:rPr>
              <a:t> </a:t>
            </a:r>
            <a:r>
              <a:rPr sz="2300" dirty="0">
                <a:latin typeface="Times New Roman"/>
                <a:cs typeface="Times New Roman"/>
              </a:rPr>
              <a:t>questions</a:t>
            </a:r>
            <a:r>
              <a:rPr sz="2300" spc="-45" dirty="0">
                <a:latin typeface="Times New Roman"/>
                <a:cs typeface="Times New Roman"/>
              </a:rPr>
              <a:t> </a:t>
            </a:r>
            <a:r>
              <a:rPr sz="2300" dirty="0">
                <a:latin typeface="Times New Roman"/>
                <a:cs typeface="Times New Roman"/>
              </a:rPr>
              <a:t>are</a:t>
            </a:r>
            <a:r>
              <a:rPr sz="2300" spc="-10" dirty="0">
                <a:latin typeface="Times New Roman"/>
                <a:cs typeface="Times New Roman"/>
              </a:rPr>
              <a:t> </a:t>
            </a:r>
            <a:r>
              <a:rPr sz="2300" dirty="0">
                <a:latin typeface="Times New Roman"/>
                <a:cs typeface="Times New Roman"/>
              </a:rPr>
              <a:t>truly</a:t>
            </a:r>
            <a:r>
              <a:rPr sz="2300" spc="-60" dirty="0">
                <a:latin typeface="Times New Roman"/>
                <a:cs typeface="Times New Roman"/>
              </a:rPr>
              <a:t> </a:t>
            </a:r>
            <a:r>
              <a:rPr sz="2300" spc="-10" dirty="0">
                <a:latin typeface="Times New Roman"/>
                <a:cs typeface="Times New Roman"/>
              </a:rPr>
              <a:t>appreciated.</a:t>
            </a:r>
            <a:endParaRPr sz="2300" dirty="0">
              <a:latin typeface="Times New Roman"/>
              <a:cs typeface="Times New Roman"/>
            </a:endParaRPr>
          </a:p>
          <a:p>
            <a:pPr marL="12700">
              <a:lnSpc>
                <a:spcPts val="2755"/>
              </a:lnSpc>
            </a:pPr>
            <a:r>
              <a:rPr sz="2300" dirty="0">
                <a:latin typeface="Times New Roman"/>
                <a:cs typeface="Times New Roman"/>
              </a:rPr>
              <a:t>For</a:t>
            </a:r>
            <a:r>
              <a:rPr sz="2300" spc="-5" dirty="0">
                <a:latin typeface="Times New Roman"/>
                <a:cs typeface="Times New Roman"/>
              </a:rPr>
              <a:t> </a:t>
            </a:r>
            <a:r>
              <a:rPr sz="2300" dirty="0">
                <a:latin typeface="Times New Roman"/>
                <a:cs typeface="Times New Roman"/>
              </a:rPr>
              <a:t>any</a:t>
            </a:r>
            <a:r>
              <a:rPr sz="2300" spc="-55" dirty="0">
                <a:latin typeface="Times New Roman"/>
                <a:cs typeface="Times New Roman"/>
              </a:rPr>
              <a:t> </a:t>
            </a:r>
            <a:r>
              <a:rPr sz="2300" dirty="0">
                <a:latin typeface="Times New Roman"/>
                <a:cs typeface="Times New Roman"/>
              </a:rPr>
              <a:t>further</a:t>
            </a:r>
            <a:r>
              <a:rPr sz="2300" spc="-25" dirty="0">
                <a:latin typeface="Times New Roman"/>
                <a:cs typeface="Times New Roman"/>
              </a:rPr>
              <a:t> </a:t>
            </a:r>
            <a:r>
              <a:rPr sz="2300" dirty="0">
                <a:latin typeface="Times New Roman"/>
                <a:cs typeface="Times New Roman"/>
              </a:rPr>
              <a:t>discussions</a:t>
            </a:r>
            <a:r>
              <a:rPr sz="2300" spc="-30" dirty="0">
                <a:latin typeface="Times New Roman"/>
                <a:cs typeface="Times New Roman"/>
              </a:rPr>
              <a:t> </a:t>
            </a:r>
            <a:r>
              <a:rPr sz="2300" dirty="0">
                <a:latin typeface="Times New Roman"/>
                <a:cs typeface="Times New Roman"/>
              </a:rPr>
              <a:t>or</a:t>
            </a:r>
            <a:r>
              <a:rPr sz="2300" spc="-25" dirty="0">
                <a:latin typeface="Times New Roman"/>
                <a:cs typeface="Times New Roman"/>
              </a:rPr>
              <a:t> </a:t>
            </a:r>
            <a:r>
              <a:rPr sz="2300" dirty="0">
                <a:latin typeface="Times New Roman"/>
                <a:cs typeface="Times New Roman"/>
              </a:rPr>
              <a:t>collaboration</a:t>
            </a:r>
            <a:r>
              <a:rPr sz="2300" spc="-114" dirty="0">
                <a:latin typeface="Times New Roman"/>
                <a:cs typeface="Times New Roman"/>
              </a:rPr>
              <a:t> </a:t>
            </a:r>
            <a:r>
              <a:rPr sz="2300" dirty="0">
                <a:latin typeface="Times New Roman"/>
                <a:cs typeface="Times New Roman"/>
              </a:rPr>
              <a:t>inquiries,</a:t>
            </a:r>
            <a:r>
              <a:rPr sz="2300" spc="-45" dirty="0">
                <a:latin typeface="Times New Roman"/>
                <a:cs typeface="Times New Roman"/>
              </a:rPr>
              <a:t> </a:t>
            </a:r>
            <a:r>
              <a:rPr sz="2300" dirty="0">
                <a:latin typeface="Times New Roman"/>
                <a:cs typeface="Times New Roman"/>
              </a:rPr>
              <a:t>feel</a:t>
            </a:r>
            <a:r>
              <a:rPr sz="2300" spc="-45" dirty="0">
                <a:latin typeface="Times New Roman"/>
                <a:cs typeface="Times New Roman"/>
              </a:rPr>
              <a:t> </a:t>
            </a:r>
            <a:r>
              <a:rPr sz="2300" dirty="0">
                <a:latin typeface="Times New Roman"/>
                <a:cs typeface="Times New Roman"/>
              </a:rPr>
              <a:t>free</a:t>
            </a:r>
            <a:r>
              <a:rPr sz="2300" spc="-20" dirty="0">
                <a:latin typeface="Times New Roman"/>
                <a:cs typeface="Times New Roman"/>
              </a:rPr>
              <a:t> </a:t>
            </a:r>
            <a:r>
              <a:rPr sz="2300" dirty="0">
                <a:latin typeface="Times New Roman"/>
                <a:cs typeface="Times New Roman"/>
              </a:rPr>
              <a:t>to</a:t>
            </a:r>
            <a:r>
              <a:rPr sz="2300" spc="-25" dirty="0">
                <a:latin typeface="Times New Roman"/>
                <a:cs typeface="Times New Roman"/>
              </a:rPr>
              <a:t> </a:t>
            </a:r>
            <a:r>
              <a:rPr sz="2300" dirty="0">
                <a:latin typeface="Times New Roman"/>
                <a:cs typeface="Times New Roman"/>
              </a:rPr>
              <a:t>contact</a:t>
            </a:r>
            <a:r>
              <a:rPr sz="2300" spc="-65" dirty="0">
                <a:latin typeface="Times New Roman"/>
                <a:cs typeface="Times New Roman"/>
              </a:rPr>
              <a:t> </a:t>
            </a:r>
            <a:r>
              <a:rPr sz="2300" spc="-25" dirty="0">
                <a:latin typeface="Times New Roman"/>
                <a:cs typeface="Times New Roman"/>
              </a:rPr>
              <a:t>us:</a:t>
            </a:r>
            <a:endParaRPr lang="en-US" sz="2300" spc="-25" dirty="0">
              <a:latin typeface="Times New Roman"/>
              <a:cs typeface="Times New Roman"/>
            </a:endParaRPr>
          </a:p>
          <a:p>
            <a:pPr marL="4246880">
              <a:lnSpc>
                <a:spcPts val="2995"/>
              </a:lnSpc>
            </a:pPr>
            <a:r>
              <a:rPr lang="en-US" sz="2400" b="1" dirty="0">
                <a:latin typeface="Times New Roman"/>
                <a:cs typeface="Times New Roman"/>
              </a:rPr>
              <a:t>Contact</a:t>
            </a:r>
            <a:r>
              <a:rPr lang="en-US" sz="2400" b="1" spc="-90" dirty="0">
                <a:latin typeface="Times New Roman"/>
                <a:cs typeface="Times New Roman"/>
              </a:rPr>
              <a:t> </a:t>
            </a:r>
            <a:r>
              <a:rPr lang="en-US" sz="2400" b="1" spc="-10" dirty="0">
                <a:latin typeface="Times New Roman"/>
                <a:cs typeface="Times New Roman"/>
              </a:rPr>
              <a:t>Information</a:t>
            </a:r>
            <a:endParaRPr lang="en-US" sz="2400" dirty="0">
              <a:latin typeface="Times New Roman"/>
              <a:cs typeface="Times New Roman"/>
            </a:endParaRPr>
          </a:p>
          <a:p>
            <a:pPr marL="1798955" marR="5080" indent="450850">
              <a:lnSpc>
                <a:spcPct val="100000"/>
              </a:lnSpc>
              <a:spcBef>
                <a:spcPts val="5"/>
              </a:spcBef>
            </a:pPr>
            <a:r>
              <a:rPr lang="en-US" sz="2400" b="1" dirty="0">
                <a:latin typeface="Times New Roman"/>
                <a:cs typeface="Times New Roman"/>
              </a:rPr>
              <a:t>Shaik</a:t>
            </a:r>
            <a:r>
              <a:rPr lang="en-US" sz="2400" b="1" spc="-45" dirty="0">
                <a:latin typeface="Times New Roman"/>
                <a:cs typeface="Times New Roman"/>
              </a:rPr>
              <a:t> </a:t>
            </a:r>
            <a:r>
              <a:rPr lang="en-US" sz="2400" b="1" dirty="0">
                <a:latin typeface="Times New Roman"/>
                <a:cs typeface="Times New Roman"/>
              </a:rPr>
              <a:t>Shakeer</a:t>
            </a:r>
            <a:r>
              <a:rPr lang="en-US" sz="2400" b="1" spc="-35" dirty="0">
                <a:latin typeface="Times New Roman"/>
                <a:cs typeface="Times New Roman"/>
              </a:rPr>
              <a:t> </a:t>
            </a:r>
            <a:r>
              <a:rPr lang="en-US" sz="2400" b="1" dirty="0">
                <a:latin typeface="Times New Roman"/>
                <a:cs typeface="Times New Roman"/>
              </a:rPr>
              <a:t>Ahamad</a:t>
            </a:r>
            <a:r>
              <a:rPr lang="en-US" sz="2400" b="1" spc="-15" dirty="0">
                <a:latin typeface="Times New Roman"/>
                <a:cs typeface="Times New Roman"/>
              </a:rPr>
              <a:t> </a:t>
            </a:r>
            <a:r>
              <a:rPr lang="en-US" sz="2400" dirty="0">
                <a:latin typeface="Times New Roman"/>
                <a:cs typeface="Times New Roman"/>
              </a:rPr>
              <a:t>–</a:t>
            </a:r>
            <a:r>
              <a:rPr lang="en-US" sz="2400" spc="-50" dirty="0">
                <a:latin typeface="Times New Roman"/>
                <a:cs typeface="Times New Roman"/>
              </a:rPr>
              <a:t> </a:t>
            </a:r>
            <a:r>
              <a:rPr lang="en-US" sz="2400" u="sng" spc="-10" dirty="0">
                <a:solidFill>
                  <a:srgbClr val="0000FF"/>
                </a:solidFill>
                <a:uFill>
                  <a:solidFill>
                    <a:srgbClr val="0000FF"/>
                  </a:solidFill>
                </a:uFill>
                <a:latin typeface="Times New Roman"/>
                <a:cs typeface="Times New Roman"/>
                <a:hlinkClick r:id="rId4"/>
              </a:rPr>
              <a:t>db2majorpro@gmail.com</a:t>
            </a:r>
            <a:r>
              <a:rPr lang="en-US" sz="2400" spc="-10" dirty="0">
                <a:solidFill>
                  <a:srgbClr val="0000FF"/>
                </a:solidFill>
                <a:latin typeface="Times New Roman"/>
                <a:cs typeface="Times New Roman"/>
              </a:rPr>
              <a:t> </a:t>
            </a:r>
            <a:r>
              <a:rPr lang="en-US" sz="2400" b="1" dirty="0">
                <a:latin typeface="Times New Roman"/>
                <a:cs typeface="Times New Roman"/>
              </a:rPr>
              <a:t>Shaik</a:t>
            </a:r>
            <a:r>
              <a:rPr lang="en-US" sz="2400" b="1" spc="-60" dirty="0">
                <a:latin typeface="Times New Roman"/>
                <a:cs typeface="Times New Roman"/>
              </a:rPr>
              <a:t> </a:t>
            </a:r>
            <a:r>
              <a:rPr lang="en-US" sz="2400" b="1" dirty="0">
                <a:latin typeface="Times New Roman"/>
                <a:cs typeface="Times New Roman"/>
              </a:rPr>
              <a:t>Khaja</a:t>
            </a:r>
            <a:r>
              <a:rPr lang="en-US" sz="2400" b="1" spc="-60" dirty="0">
                <a:latin typeface="Times New Roman"/>
                <a:cs typeface="Times New Roman"/>
              </a:rPr>
              <a:t> </a:t>
            </a:r>
            <a:r>
              <a:rPr lang="en-US" sz="2400" b="1" dirty="0">
                <a:latin typeface="Times New Roman"/>
                <a:cs typeface="Times New Roman"/>
              </a:rPr>
              <a:t>Mohiddin</a:t>
            </a:r>
            <a:r>
              <a:rPr lang="en-US" sz="2400" b="1" spc="-60" dirty="0">
                <a:latin typeface="Times New Roman"/>
                <a:cs typeface="Times New Roman"/>
              </a:rPr>
              <a:t> </a:t>
            </a:r>
            <a:r>
              <a:rPr lang="en-US" sz="2400" b="1" dirty="0">
                <a:latin typeface="Times New Roman"/>
                <a:cs typeface="Times New Roman"/>
              </a:rPr>
              <a:t>Basha</a:t>
            </a:r>
            <a:r>
              <a:rPr lang="en-US" sz="2400" b="1" spc="-25" dirty="0">
                <a:latin typeface="Times New Roman"/>
                <a:cs typeface="Times New Roman"/>
              </a:rPr>
              <a:t> </a:t>
            </a:r>
            <a:r>
              <a:rPr lang="en-US" sz="2400" dirty="0">
                <a:latin typeface="Times New Roman"/>
                <a:cs typeface="Times New Roman"/>
              </a:rPr>
              <a:t>–</a:t>
            </a:r>
            <a:r>
              <a:rPr lang="en-US" sz="2400" spc="-60" dirty="0">
                <a:latin typeface="Times New Roman"/>
                <a:cs typeface="Times New Roman"/>
              </a:rPr>
              <a:t> </a:t>
            </a:r>
            <a:r>
              <a:rPr lang="en-US" sz="2400" u="sng" spc="-10" dirty="0">
                <a:solidFill>
                  <a:srgbClr val="0000FF"/>
                </a:solidFill>
                <a:uFill>
                  <a:solidFill>
                    <a:srgbClr val="0000FF"/>
                  </a:solidFill>
                </a:uFill>
                <a:latin typeface="Times New Roman"/>
                <a:cs typeface="Times New Roman"/>
                <a:hlinkClick r:id="rId5"/>
              </a:rPr>
              <a:t>sk.basha579@gmail.com</a:t>
            </a:r>
            <a:r>
              <a:rPr lang="en-US" sz="2400" spc="-10" dirty="0">
                <a:solidFill>
                  <a:srgbClr val="0000FF"/>
                </a:solidFill>
                <a:latin typeface="Times New Roman"/>
                <a:cs typeface="Times New Roman"/>
              </a:rPr>
              <a:t> </a:t>
            </a:r>
            <a:r>
              <a:rPr lang="en-US" sz="2400" b="1" dirty="0">
                <a:latin typeface="Times New Roman"/>
                <a:cs typeface="Times New Roman"/>
              </a:rPr>
              <a:t>Shaik</a:t>
            </a:r>
            <a:r>
              <a:rPr lang="en-US" sz="2400" b="1" spc="-65" dirty="0">
                <a:latin typeface="Times New Roman"/>
                <a:cs typeface="Times New Roman"/>
              </a:rPr>
              <a:t> </a:t>
            </a:r>
            <a:r>
              <a:rPr lang="en-US" sz="2400" b="1" dirty="0">
                <a:latin typeface="Times New Roman"/>
                <a:cs typeface="Times New Roman"/>
              </a:rPr>
              <a:t>Chinna</a:t>
            </a:r>
            <a:r>
              <a:rPr lang="en-US" sz="2400" b="1" spc="-65" dirty="0">
                <a:latin typeface="Times New Roman"/>
                <a:cs typeface="Times New Roman"/>
              </a:rPr>
              <a:t> </a:t>
            </a:r>
            <a:r>
              <a:rPr lang="en-US" sz="2400" b="1" dirty="0" err="1">
                <a:latin typeface="Times New Roman"/>
                <a:cs typeface="Times New Roman"/>
              </a:rPr>
              <a:t>Mastanvali</a:t>
            </a:r>
            <a:r>
              <a:rPr lang="en-US" sz="2400" b="1" spc="-10" dirty="0">
                <a:latin typeface="Times New Roman"/>
                <a:cs typeface="Times New Roman"/>
              </a:rPr>
              <a:t> </a:t>
            </a:r>
            <a:r>
              <a:rPr lang="en-US" sz="2400" dirty="0">
                <a:latin typeface="Times New Roman"/>
                <a:cs typeface="Times New Roman"/>
              </a:rPr>
              <a:t>–</a:t>
            </a:r>
            <a:r>
              <a:rPr lang="en-US" sz="2400" spc="-65" dirty="0">
                <a:latin typeface="Times New Roman"/>
                <a:cs typeface="Times New Roman"/>
              </a:rPr>
              <a:t> </a:t>
            </a:r>
            <a:r>
              <a:rPr lang="en-US" sz="2400" u="sng" spc="-10" dirty="0">
                <a:solidFill>
                  <a:srgbClr val="0000FF"/>
                </a:solidFill>
                <a:uFill>
                  <a:solidFill>
                    <a:srgbClr val="0000FF"/>
                  </a:solidFill>
                </a:uFill>
                <a:latin typeface="Times New Roman"/>
                <a:cs typeface="Times New Roman"/>
                <a:hlinkClick r:id="rId6"/>
              </a:rPr>
              <a:t>skmastanvali5707@gmail.com</a:t>
            </a:r>
            <a:endParaRPr lang="en-US" sz="2400" dirty="0">
              <a:latin typeface="Times New Roman"/>
              <a:cs typeface="Times New Roman"/>
            </a:endParaRPr>
          </a:p>
          <a:p>
            <a:pPr marL="2088514">
              <a:lnSpc>
                <a:spcPct val="100000"/>
              </a:lnSpc>
            </a:pPr>
            <a:r>
              <a:rPr lang="en-US" sz="2400" b="1" dirty="0">
                <a:latin typeface="Times New Roman"/>
                <a:cs typeface="Times New Roman"/>
              </a:rPr>
              <a:t>Masimukkala</a:t>
            </a:r>
            <a:r>
              <a:rPr lang="en-US" sz="2400" b="1" spc="5" dirty="0">
                <a:latin typeface="Times New Roman"/>
                <a:cs typeface="Times New Roman"/>
              </a:rPr>
              <a:t> </a:t>
            </a:r>
            <a:r>
              <a:rPr lang="en-US" sz="2400" b="1" dirty="0">
                <a:latin typeface="Times New Roman"/>
                <a:cs typeface="Times New Roman"/>
              </a:rPr>
              <a:t>Phani</a:t>
            </a:r>
            <a:r>
              <a:rPr lang="en-US" sz="2400" b="1" spc="-95" dirty="0">
                <a:latin typeface="Times New Roman"/>
                <a:cs typeface="Times New Roman"/>
              </a:rPr>
              <a:t> </a:t>
            </a:r>
            <a:r>
              <a:rPr lang="en-US" sz="2400" b="1" dirty="0">
                <a:latin typeface="Times New Roman"/>
                <a:cs typeface="Times New Roman"/>
              </a:rPr>
              <a:t>Kumar</a:t>
            </a:r>
            <a:r>
              <a:rPr lang="en-US" sz="2400" b="1" spc="-45" dirty="0">
                <a:latin typeface="Times New Roman"/>
                <a:cs typeface="Times New Roman"/>
              </a:rPr>
              <a:t> </a:t>
            </a:r>
            <a:r>
              <a:rPr lang="en-US" sz="2400" dirty="0">
                <a:latin typeface="Times New Roman"/>
                <a:cs typeface="Times New Roman"/>
              </a:rPr>
              <a:t>–</a:t>
            </a:r>
            <a:r>
              <a:rPr lang="en-US" sz="2400" spc="-90" dirty="0">
                <a:latin typeface="Times New Roman"/>
                <a:cs typeface="Times New Roman"/>
              </a:rPr>
              <a:t> </a:t>
            </a:r>
            <a:r>
              <a:rPr lang="en-US" sz="2400" u="sng" spc="-10" dirty="0">
                <a:solidFill>
                  <a:srgbClr val="0000FF"/>
                </a:solidFill>
                <a:uFill>
                  <a:solidFill>
                    <a:srgbClr val="0000FF"/>
                  </a:solidFill>
                </a:uFill>
                <a:latin typeface="Times New Roman"/>
                <a:cs typeface="Times New Roman"/>
                <a:hlinkClick r:id="rId7"/>
              </a:rPr>
              <a:t>mpk20002@gmail.com</a:t>
            </a:r>
            <a:endParaRPr lang="en-US" sz="2400" dirty="0">
              <a:latin typeface="Times New Roman"/>
              <a:cs typeface="Times New Roman"/>
            </a:endParaRPr>
          </a:p>
          <a:p>
            <a:pPr marL="12700">
              <a:lnSpc>
                <a:spcPts val="2755"/>
              </a:lnSpc>
            </a:pPr>
            <a:endParaRPr sz="2300"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126" y="689305"/>
            <a:ext cx="7168515" cy="695325"/>
          </a:xfrm>
          <a:prstGeom prst="rect">
            <a:avLst/>
          </a:prstGeom>
        </p:spPr>
        <p:txBody>
          <a:bodyPr vert="horz" wrap="square" lIns="0" tIns="12065" rIns="0" bIns="0" rtlCol="0">
            <a:spAutoFit/>
          </a:bodyPr>
          <a:lstStyle/>
          <a:p>
            <a:pPr marL="12700">
              <a:lnSpc>
                <a:spcPct val="100000"/>
              </a:lnSpc>
              <a:spcBef>
                <a:spcPts val="95"/>
              </a:spcBef>
            </a:pPr>
            <a:r>
              <a:rPr spc="-20" dirty="0"/>
              <a:t>QUESTIONS</a:t>
            </a:r>
            <a:r>
              <a:rPr spc="-150" dirty="0"/>
              <a:t> </a:t>
            </a:r>
            <a:r>
              <a:rPr spc="-45" dirty="0"/>
              <a:t>and</a:t>
            </a:r>
            <a:r>
              <a:rPr spc="-285" dirty="0"/>
              <a:t> </a:t>
            </a:r>
            <a:r>
              <a:rPr spc="-10" dirty="0"/>
              <a:t>ANSWERS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11/11/2025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Review</a:t>
            </a:r>
            <a:r>
              <a:rPr spc="-55" dirty="0"/>
              <a:t> </a:t>
            </a:r>
            <a:r>
              <a:rPr dirty="0"/>
              <a:t>No</a:t>
            </a:r>
            <a:r>
              <a:rPr spc="-75" dirty="0"/>
              <a:t> </a:t>
            </a:r>
            <a:r>
              <a:rPr spc="-25" dirty="0"/>
              <a:t>.1</a:t>
            </a:r>
          </a:p>
        </p:txBody>
      </p:sp>
      <p:sp>
        <p:nvSpPr>
          <p:cNvPr id="6" name="object 6"/>
          <p:cNvSpPr txBox="1"/>
          <p:nvPr/>
        </p:nvSpPr>
        <p:spPr>
          <a:xfrm>
            <a:off x="5505958" y="6448890"/>
            <a:ext cx="2251075" cy="194310"/>
          </a:xfrm>
          <a:prstGeom prst="rect">
            <a:avLst/>
          </a:prstGeom>
        </p:spPr>
        <p:txBody>
          <a:bodyPr vert="horz" wrap="square" lIns="0" tIns="0" rIns="0" bIns="0" rtlCol="0">
            <a:spAutoFit/>
          </a:bodyPr>
          <a:lstStyle/>
          <a:p>
            <a:pPr marL="12700">
              <a:lnSpc>
                <a:spcPts val="1410"/>
              </a:lnSpc>
              <a:tabLst>
                <a:tab pos="1050290" algn="l"/>
              </a:tabLst>
            </a:pPr>
            <a:r>
              <a:rPr sz="1200" dirty="0">
                <a:solidFill>
                  <a:srgbClr val="878787"/>
                </a:solidFill>
                <a:latin typeface="Times New Roman"/>
                <a:cs typeface="Times New Roman"/>
              </a:rPr>
              <a:t>Batch</a:t>
            </a:r>
            <a:r>
              <a:rPr sz="1200" spc="-75" dirty="0">
                <a:solidFill>
                  <a:srgbClr val="878787"/>
                </a:solidFill>
                <a:latin typeface="Times New Roman"/>
                <a:cs typeface="Times New Roman"/>
              </a:rPr>
              <a:t> </a:t>
            </a:r>
            <a:r>
              <a:rPr sz="1200" spc="-10" dirty="0">
                <a:solidFill>
                  <a:srgbClr val="878787"/>
                </a:solidFill>
                <a:latin typeface="Times New Roman"/>
                <a:cs typeface="Times New Roman"/>
              </a:rPr>
              <a:t>No.DB2</a:t>
            </a:r>
            <a:r>
              <a:rPr sz="1200" dirty="0">
                <a:solidFill>
                  <a:srgbClr val="878787"/>
                </a:solidFill>
                <a:latin typeface="Times New Roman"/>
                <a:cs typeface="Times New Roman"/>
              </a:rPr>
              <a:t>	</a:t>
            </a:r>
            <a:r>
              <a:rPr sz="1200" spc="-20" dirty="0">
                <a:solidFill>
                  <a:srgbClr val="878787"/>
                </a:solidFill>
                <a:latin typeface="Times New Roman"/>
                <a:cs typeface="Times New Roman"/>
              </a:rPr>
              <a:t>Department </a:t>
            </a:r>
            <a:r>
              <a:rPr sz="1200" dirty="0">
                <a:solidFill>
                  <a:srgbClr val="878787"/>
                </a:solidFill>
                <a:latin typeface="Times New Roman"/>
                <a:cs typeface="Times New Roman"/>
              </a:rPr>
              <a:t>of</a:t>
            </a:r>
            <a:r>
              <a:rPr sz="1200" spc="70" dirty="0">
                <a:solidFill>
                  <a:srgbClr val="878787"/>
                </a:solidFill>
                <a:latin typeface="Times New Roman"/>
                <a:cs typeface="Times New Roman"/>
              </a:rPr>
              <a:t> </a:t>
            </a:r>
            <a:r>
              <a:rPr sz="1200" spc="-25" dirty="0">
                <a:solidFill>
                  <a:srgbClr val="878787"/>
                </a:solidFill>
                <a:latin typeface="Times New Roman"/>
                <a:cs typeface="Times New Roman"/>
              </a:rPr>
              <a:t>CSE</a:t>
            </a:r>
            <a:endParaRPr sz="1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32</a:t>
            </a:fld>
            <a:endParaRPr spc="-25" dirty="0"/>
          </a:p>
        </p:txBody>
      </p:sp>
      <p:sp>
        <p:nvSpPr>
          <p:cNvPr id="3" name="object 3"/>
          <p:cNvSpPr txBox="1"/>
          <p:nvPr/>
        </p:nvSpPr>
        <p:spPr>
          <a:xfrm>
            <a:off x="1481455" y="1803019"/>
            <a:ext cx="9378950" cy="2408555"/>
          </a:xfrm>
          <a:prstGeom prst="rect">
            <a:avLst/>
          </a:prstGeom>
        </p:spPr>
        <p:txBody>
          <a:bodyPr vert="horz" wrap="square" lIns="0" tIns="12700" rIns="0" bIns="0" rtlCol="0">
            <a:spAutoFit/>
          </a:bodyPr>
          <a:lstStyle/>
          <a:p>
            <a:pPr marR="449580" algn="ctr">
              <a:lnSpc>
                <a:spcPct val="100000"/>
              </a:lnSpc>
              <a:spcBef>
                <a:spcPts val="100"/>
              </a:spcBef>
            </a:pPr>
            <a:r>
              <a:rPr sz="3600" b="1" dirty="0">
                <a:latin typeface="Times New Roman"/>
                <a:cs typeface="Times New Roman"/>
              </a:rPr>
              <a:t>Thank</a:t>
            </a:r>
            <a:r>
              <a:rPr sz="3600" b="1" spc="-5" dirty="0">
                <a:latin typeface="Times New Roman"/>
                <a:cs typeface="Times New Roman"/>
              </a:rPr>
              <a:t> </a:t>
            </a:r>
            <a:r>
              <a:rPr sz="3600" b="1" dirty="0">
                <a:latin typeface="Times New Roman"/>
                <a:cs typeface="Times New Roman"/>
              </a:rPr>
              <a:t>You!</a:t>
            </a:r>
            <a:r>
              <a:rPr sz="3600" b="1" spc="-30" dirty="0">
                <a:latin typeface="Times New Roman"/>
                <a:cs typeface="Times New Roman"/>
              </a:rPr>
              <a:t> </a:t>
            </a:r>
            <a:r>
              <a:rPr sz="3600" b="1" dirty="0">
                <a:latin typeface="Times New Roman"/>
                <a:cs typeface="Times New Roman"/>
              </a:rPr>
              <a:t>From</a:t>
            </a:r>
            <a:r>
              <a:rPr sz="3600" b="1" spc="-55" dirty="0">
                <a:latin typeface="Times New Roman"/>
                <a:cs typeface="Times New Roman"/>
              </a:rPr>
              <a:t> </a:t>
            </a:r>
            <a:r>
              <a:rPr sz="3600" b="1" spc="-25" dirty="0">
                <a:solidFill>
                  <a:srgbClr val="FF0000"/>
                </a:solidFill>
                <a:latin typeface="Times New Roman"/>
                <a:cs typeface="Times New Roman"/>
              </a:rPr>
              <a:t>DB2</a:t>
            </a:r>
            <a:endParaRPr sz="3600">
              <a:latin typeface="Times New Roman"/>
              <a:cs typeface="Times New Roman"/>
            </a:endParaRPr>
          </a:p>
          <a:p>
            <a:pPr>
              <a:lnSpc>
                <a:spcPct val="100000"/>
              </a:lnSpc>
              <a:spcBef>
                <a:spcPts val="210"/>
              </a:spcBef>
            </a:pPr>
            <a:endParaRPr sz="3600">
              <a:latin typeface="Times New Roman"/>
              <a:cs typeface="Times New Roman"/>
            </a:endParaRPr>
          </a:p>
          <a:p>
            <a:pPr marL="4445" algn="ctr">
              <a:lnSpc>
                <a:spcPct val="100000"/>
              </a:lnSpc>
              <a:spcBef>
                <a:spcPts val="5"/>
              </a:spcBef>
            </a:pPr>
            <a:r>
              <a:rPr sz="2800" b="1" dirty="0">
                <a:latin typeface="Times New Roman"/>
                <a:cs typeface="Times New Roman"/>
              </a:rPr>
              <a:t>We</a:t>
            </a:r>
            <a:r>
              <a:rPr sz="2800" b="1" spc="-40" dirty="0">
                <a:latin typeface="Times New Roman"/>
                <a:cs typeface="Times New Roman"/>
              </a:rPr>
              <a:t> </a:t>
            </a:r>
            <a:r>
              <a:rPr sz="2800" b="1" dirty="0">
                <a:latin typeface="Times New Roman"/>
                <a:cs typeface="Times New Roman"/>
              </a:rPr>
              <a:t>appreciate</a:t>
            </a:r>
            <a:r>
              <a:rPr sz="2800" b="1" spc="-70" dirty="0">
                <a:latin typeface="Times New Roman"/>
                <a:cs typeface="Times New Roman"/>
              </a:rPr>
              <a:t> </a:t>
            </a:r>
            <a:r>
              <a:rPr sz="2800" b="1" dirty="0">
                <a:latin typeface="Times New Roman"/>
                <a:cs typeface="Times New Roman"/>
              </a:rPr>
              <a:t>your</a:t>
            </a:r>
            <a:r>
              <a:rPr sz="2800" b="1" spc="-25" dirty="0">
                <a:latin typeface="Times New Roman"/>
                <a:cs typeface="Times New Roman"/>
              </a:rPr>
              <a:t> </a:t>
            </a:r>
            <a:r>
              <a:rPr sz="2800" b="1" dirty="0">
                <a:latin typeface="Times New Roman"/>
                <a:cs typeface="Times New Roman"/>
              </a:rPr>
              <a:t>attention</a:t>
            </a:r>
            <a:r>
              <a:rPr sz="2800" b="1" spc="-45" dirty="0">
                <a:latin typeface="Times New Roman"/>
                <a:cs typeface="Times New Roman"/>
              </a:rPr>
              <a:t> </a:t>
            </a:r>
            <a:r>
              <a:rPr sz="2800" b="1" dirty="0">
                <a:latin typeface="Times New Roman"/>
                <a:cs typeface="Times New Roman"/>
              </a:rPr>
              <a:t>and</a:t>
            </a:r>
            <a:r>
              <a:rPr sz="2800" b="1" spc="-25" dirty="0">
                <a:latin typeface="Times New Roman"/>
                <a:cs typeface="Times New Roman"/>
              </a:rPr>
              <a:t> </a:t>
            </a:r>
            <a:r>
              <a:rPr sz="2800" b="1" spc="-10" dirty="0">
                <a:latin typeface="Times New Roman"/>
                <a:cs typeface="Times New Roman"/>
              </a:rPr>
              <a:t>interest.</a:t>
            </a:r>
            <a:endParaRPr sz="2800">
              <a:latin typeface="Times New Roman"/>
              <a:cs typeface="Times New Roman"/>
            </a:endParaRPr>
          </a:p>
          <a:p>
            <a:pPr algn="ctr">
              <a:lnSpc>
                <a:spcPct val="100000"/>
              </a:lnSpc>
            </a:pPr>
            <a:r>
              <a:rPr sz="2800" dirty="0">
                <a:latin typeface="Times New Roman"/>
                <a:cs typeface="Times New Roman"/>
              </a:rPr>
              <a:t>Now,</a:t>
            </a:r>
            <a:r>
              <a:rPr sz="2800" spc="-15" dirty="0">
                <a:latin typeface="Times New Roman"/>
                <a:cs typeface="Times New Roman"/>
              </a:rPr>
              <a:t> </a:t>
            </a:r>
            <a:r>
              <a:rPr sz="2800" dirty="0">
                <a:latin typeface="Times New Roman"/>
                <a:cs typeface="Times New Roman"/>
              </a:rPr>
              <a:t>we’d</a:t>
            </a:r>
            <a:r>
              <a:rPr sz="2800" spc="15" dirty="0">
                <a:latin typeface="Times New Roman"/>
                <a:cs typeface="Times New Roman"/>
              </a:rPr>
              <a:t> </a:t>
            </a:r>
            <a:r>
              <a:rPr sz="2800" dirty="0">
                <a:latin typeface="Times New Roman"/>
                <a:cs typeface="Times New Roman"/>
              </a:rPr>
              <a:t>like</a:t>
            </a:r>
            <a:r>
              <a:rPr sz="2800" spc="-60" dirty="0">
                <a:latin typeface="Times New Roman"/>
                <a:cs typeface="Times New Roman"/>
              </a:rPr>
              <a:t> </a:t>
            </a:r>
            <a:r>
              <a:rPr sz="2800" dirty="0">
                <a:latin typeface="Times New Roman"/>
                <a:cs typeface="Times New Roman"/>
              </a:rPr>
              <a:t>to</a:t>
            </a:r>
            <a:r>
              <a:rPr sz="2800" spc="-15" dirty="0">
                <a:latin typeface="Times New Roman"/>
                <a:cs typeface="Times New Roman"/>
              </a:rPr>
              <a:t> </a:t>
            </a:r>
            <a:r>
              <a:rPr sz="2800" b="1" dirty="0">
                <a:latin typeface="Times New Roman"/>
                <a:cs typeface="Times New Roman"/>
              </a:rPr>
              <a:t>open</a:t>
            </a:r>
            <a:r>
              <a:rPr sz="2800" b="1" spc="-5" dirty="0">
                <a:latin typeface="Times New Roman"/>
                <a:cs typeface="Times New Roman"/>
              </a:rPr>
              <a:t> </a:t>
            </a:r>
            <a:r>
              <a:rPr sz="2800" b="1" dirty="0">
                <a:latin typeface="Times New Roman"/>
                <a:cs typeface="Times New Roman"/>
              </a:rPr>
              <a:t>the</a:t>
            </a:r>
            <a:r>
              <a:rPr sz="2800" b="1" spc="-15" dirty="0">
                <a:latin typeface="Times New Roman"/>
                <a:cs typeface="Times New Roman"/>
              </a:rPr>
              <a:t> </a:t>
            </a:r>
            <a:r>
              <a:rPr sz="2800" b="1" dirty="0">
                <a:latin typeface="Times New Roman"/>
                <a:cs typeface="Times New Roman"/>
              </a:rPr>
              <a:t>floor</a:t>
            </a:r>
            <a:r>
              <a:rPr sz="2800" b="1" spc="-80" dirty="0">
                <a:latin typeface="Times New Roman"/>
                <a:cs typeface="Times New Roman"/>
              </a:rPr>
              <a:t> </a:t>
            </a:r>
            <a:r>
              <a:rPr sz="2800" b="1" dirty="0">
                <a:latin typeface="Times New Roman"/>
                <a:cs typeface="Times New Roman"/>
              </a:rPr>
              <a:t>for</a:t>
            </a:r>
            <a:r>
              <a:rPr sz="2800" b="1" spc="-30" dirty="0">
                <a:latin typeface="Times New Roman"/>
                <a:cs typeface="Times New Roman"/>
              </a:rPr>
              <a:t> </a:t>
            </a:r>
            <a:r>
              <a:rPr sz="2800" b="1" dirty="0">
                <a:latin typeface="Times New Roman"/>
                <a:cs typeface="Times New Roman"/>
              </a:rPr>
              <a:t>questions</a:t>
            </a:r>
            <a:r>
              <a:rPr sz="2800" b="1" spc="-50" dirty="0">
                <a:latin typeface="Times New Roman"/>
                <a:cs typeface="Times New Roman"/>
              </a:rPr>
              <a:t> </a:t>
            </a:r>
            <a:r>
              <a:rPr sz="2800" b="1" dirty="0">
                <a:latin typeface="Times New Roman"/>
                <a:cs typeface="Times New Roman"/>
              </a:rPr>
              <a:t>and</a:t>
            </a:r>
            <a:r>
              <a:rPr sz="2800" b="1" spc="-40" dirty="0">
                <a:latin typeface="Times New Roman"/>
                <a:cs typeface="Times New Roman"/>
              </a:rPr>
              <a:t> </a:t>
            </a:r>
            <a:r>
              <a:rPr sz="2800" b="1" spc="-10" dirty="0">
                <a:latin typeface="Times New Roman"/>
                <a:cs typeface="Times New Roman"/>
              </a:rPr>
              <a:t>discussions.</a:t>
            </a:r>
            <a:endParaRPr sz="2800">
              <a:latin typeface="Times New Roman"/>
              <a:cs typeface="Times New Roman"/>
            </a:endParaRPr>
          </a:p>
          <a:p>
            <a:pPr algn="ctr">
              <a:lnSpc>
                <a:spcPct val="100000"/>
              </a:lnSpc>
              <a:spcBef>
                <a:spcPts val="5"/>
              </a:spcBef>
            </a:pPr>
            <a:r>
              <a:rPr sz="2800" dirty="0">
                <a:latin typeface="Segoe UI Symbol"/>
                <a:cs typeface="Segoe UI Symbol"/>
              </a:rPr>
              <a:t>💬</a:t>
            </a:r>
            <a:r>
              <a:rPr sz="2800" spc="-80" dirty="0">
                <a:latin typeface="Segoe UI Symbol"/>
                <a:cs typeface="Segoe UI Symbol"/>
              </a:rPr>
              <a:t> </a:t>
            </a:r>
            <a:r>
              <a:rPr sz="2800" i="1" dirty="0">
                <a:latin typeface="Times New Roman"/>
                <a:cs typeface="Times New Roman"/>
              </a:rPr>
              <a:t>Feel</a:t>
            </a:r>
            <a:r>
              <a:rPr sz="2800" i="1" spc="-15" dirty="0">
                <a:latin typeface="Times New Roman"/>
                <a:cs typeface="Times New Roman"/>
              </a:rPr>
              <a:t> </a:t>
            </a:r>
            <a:r>
              <a:rPr sz="2800" i="1" dirty="0">
                <a:latin typeface="Times New Roman"/>
                <a:cs typeface="Times New Roman"/>
              </a:rPr>
              <a:t>free</a:t>
            </a:r>
            <a:r>
              <a:rPr sz="2800" i="1" spc="-45" dirty="0">
                <a:latin typeface="Times New Roman"/>
                <a:cs typeface="Times New Roman"/>
              </a:rPr>
              <a:t> </a:t>
            </a:r>
            <a:r>
              <a:rPr sz="2800" i="1" dirty="0">
                <a:latin typeface="Times New Roman"/>
                <a:cs typeface="Times New Roman"/>
              </a:rPr>
              <a:t>to</a:t>
            </a:r>
            <a:r>
              <a:rPr sz="2800" i="1" spc="-40" dirty="0">
                <a:latin typeface="Times New Roman"/>
                <a:cs typeface="Times New Roman"/>
              </a:rPr>
              <a:t> </a:t>
            </a:r>
            <a:r>
              <a:rPr sz="2800" i="1" dirty="0">
                <a:latin typeface="Times New Roman"/>
                <a:cs typeface="Times New Roman"/>
              </a:rPr>
              <a:t>ask</a:t>
            </a:r>
            <a:r>
              <a:rPr sz="2800" i="1" spc="-25" dirty="0">
                <a:latin typeface="Times New Roman"/>
                <a:cs typeface="Times New Roman"/>
              </a:rPr>
              <a:t> </a:t>
            </a:r>
            <a:r>
              <a:rPr sz="2800" i="1" dirty="0">
                <a:latin typeface="Times New Roman"/>
                <a:cs typeface="Times New Roman"/>
              </a:rPr>
              <a:t>about</a:t>
            </a:r>
            <a:r>
              <a:rPr sz="2800" i="1" spc="-5" dirty="0">
                <a:latin typeface="Times New Roman"/>
                <a:cs typeface="Times New Roman"/>
              </a:rPr>
              <a:t> </a:t>
            </a:r>
            <a:r>
              <a:rPr sz="2800" i="1" dirty="0">
                <a:latin typeface="Times New Roman"/>
                <a:cs typeface="Times New Roman"/>
              </a:rPr>
              <a:t>the</a:t>
            </a:r>
            <a:r>
              <a:rPr sz="2800" i="1" spc="-80" dirty="0">
                <a:latin typeface="Times New Roman"/>
                <a:cs typeface="Times New Roman"/>
              </a:rPr>
              <a:t> </a:t>
            </a:r>
            <a:r>
              <a:rPr sz="2800" i="1" dirty="0">
                <a:latin typeface="Times New Roman"/>
                <a:cs typeface="Times New Roman"/>
              </a:rPr>
              <a:t>model,</a:t>
            </a:r>
            <a:r>
              <a:rPr sz="2800" i="1" spc="-55" dirty="0">
                <a:latin typeface="Times New Roman"/>
                <a:cs typeface="Times New Roman"/>
              </a:rPr>
              <a:t> </a:t>
            </a:r>
            <a:r>
              <a:rPr sz="2800" i="1" dirty="0">
                <a:latin typeface="Times New Roman"/>
                <a:cs typeface="Times New Roman"/>
              </a:rPr>
              <a:t>dataset,</a:t>
            </a:r>
            <a:r>
              <a:rPr sz="2800" i="1" spc="-80" dirty="0">
                <a:latin typeface="Times New Roman"/>
                <a:cs typeface="Times New Roman"/>
              </a:rPr>
              <a:t> </a:t>
            </a:r>
            <a:r>
              <a:rPr sz="2800" i="1" dirty="0">
                <a:latin typeface="Times New Roman"/>
                <a:cs typeface="Times New Roman"/>
              </a:rPr>
              <a:t>or</a:t>
            </a:r>
            <a:r>
              <a:rPr sz="2800" i="1" spc="-20" dirty="0">
                <a:latin typeface="Times New Roman"/>
                <a:cs typeface="Times New Roman"/>
              </a:rPr>
              <a:t> </a:t>
            </a:r>
            <a:r>
              <a:rPr sz="2800" i="1" dirty="0">
                <a:latin typeface="Times New Roman"/>
                <a:cs typeface="Times New Roman"/>
              </a:rPr>
              <a:t>future</a:t>
            </a:r>
            <a:r>
              <a:rPr sz="2800" i="1" spc="-70" dirty="0">
                <a:latin typeface="Times New Roman"/>
                <a:cs typeface="Times New Roman"/>
              </a:rPr>
              <a:t> </a:t>
            </a:r>
            <a:r>
              <a:rPr sz="2800" i="1" spc="-10" dirty="0">
                <a:latin typeface="Times New Roman"/>
                <a:cs typeface="Times New Roman"/>
              </a:rPr>
              <a:t>work!</a:t>
            </a:r>
            <a:endParaRPr sz="28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630</TotalTime>
  <Words>3764</Words>
  <Application>Microsoft Office PowerPoint</Application>
  <PresentationFormat>Widescreen</PresentationFormat>
  <Paragraphs>542</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MT</vt:lpstr>
      <vt:lpstr>Calibri</vt:lpstr>
      <vt:lpstr>Segoe UI Symbol</vt:lpstr>
      <vt:lpstr>Times New Roman</vt:lpstr>
      <vt:lpstr>Office Theme</vt:lpstr>
      <vt:lpstr>HYBRIDBERT AND METADATA DEEP LEARNING FOR TWITTER BOT DETECTION</vt:lpstr>
      <vt:lpstr>OUTLINE</vt:lpstr>
      <vt:lpstr>ABSTRACT</vt:lpstr>
      <vt:lpstr>INTRODUCTION</vt:lpstr>
      <vt:lpstr>INTRODUCTION:WHY BOT DETECTION MATTERS</vt:lpstr>
      <vt:lpstr>LIMITATIONS OF EXISTING SYSTEMS</vt:lpstr>
      <vt:lpstr>LITERATURE SURVEY</vt:lpstr>
      <vt:lpstr>RESEARCH GAPS</vt:lpstr>
      <vt:lpstr>DATASET OVERVIEW</vt:lpstr>
      <vt:lpstr>DATASET STRUCTURE</vt:lpstr>
      <vt:lpstr>DATASET FEATURES</vt:lpstr>
      <vt:lpstr>SYSTEM ARCHITECTURE OVERVIEW</vt:lpstr>
      <vt:lpstr>PROBLEM STATEMENT</vt:lpstr>
      <vt:lpstr>OBJECTIVES</vt:lpstr>
      <vt:lpstr>BLOCK DIAGRAM OR FLOW DIAGRAM</vt:lpstr>
      <vt:lpstr>METHODOLOGY</vt:lpstr>
      <vt:lpstr>IMPLEMENTATION</vt:lpstr>
      <vt:lpstr>RESULTS &amp; ANALYSIS</vt:lpstr>
      <vt:lpstr>RESULTS &amp; ANALYSIS</vt:lpstr>
      <vt:lpstr>RESULTS &amp; ANALYSIS</vt:lpstr>
      <vt:lpstr>USER INTERFACE’S</vt:lpstr>
      <vt:lpstr>USER INTERFACE’S</vt:lpstr>
      <vt:lpstr>USER INTERFACE’S</vt:lpstr>
      <vt:lpstr>COMPARISON OF MODELS</vt:lpstr>
      <vt:lpstr>ADVANTAGES OF PROPOSED SYSTEM</vt:lpstr>
      <vt:lpstr>LIMITATIONS</vt:lpstr>
      <vt:lpstr>CONCLUSION and FUTURE SCOPE</vt:lpstr>
      <vt:lpstr>CONCLUSION and FUTURE SCOPE</vt:lpstr>
      <vt:lpstr>REFERENCES</vt:lpstr>
      <vt:lpstr>REFERENCES</vt:lpstr>
      <vt:lpstr>ACKNOWLEGEMENTS</vt:lpstr>
      <vt:lpstr>QUESTIONS and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SHAKEER SHAIK</cp:lastModifiedBy>
  <cp:revision>5</cp:revision>
  <dcterms:created xsi:type="dcterms:W3CDTF">2025-12-06T06:05:53Z</dcterms:created>
  <dcterms:modified xsi:type="dcterms:W3CDTF">2026-02-06T12:03:27Z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2025-11-10T00:00:00Z</vt:filetime>
  </property>
  <property fmtid="{D5CDD505-2E9C-101B-9397-08002B2CF9AE}" pid="3" name="Creator">
    <vt:lpwstr>Microsoft® PowerPoint® 2016</vt:lpwstr>
  </property>
  <property fmtid="{D5CDD505-2E9C-101B-9397-08002B2CF9AE}" pid="4" name="LastSaved">
    <vt:filetime>2025-12-06T00:00:00Z</vt:filetime>
  </property>
  <property fmtid="{D5CDD505-2E9C-101B-9397-08002B2CF9AE}" pid="5" name="Producer">
    <vt:lpwstr>www.ilovepdf.com</vt:lpwstr>
  </property>
</Properties>
</file>