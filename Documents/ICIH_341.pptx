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5753100" cy="3238500"/>
  <p:notesSz cx="6858000" cy="9144000"/>
  <p:embeddedFontLst>
    <p:embeddedFont>
      <p:font typeface="DM Sans" pitchFamily="2" charset="0"/>
      <p:regular r:id="rId11"/>
      <p:bold r:id="rId12"/>
      <p:italic r:id="rId13"/>
      <p:boldItalic r:id="rId14"/>
    </p:embeddedFont>
    <p:embeddedFont>
      <p:font typeface="IBM Plex Sans Condensed" panose="020B0506050203000203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hvpx60kFJchDSxv1XZCtyUwYVs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A43B"/>
    <a:srgbClr val="1D62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214" d="100"/>
          <a:sy n="214" d="100"/>
        </p:scale>
        <p:origin x="924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753100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883177" y="1543050"/>
            <a:ext cx="4032281" cy="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1668AB"/>
              </a:buClr>
              <a:buSzPts val="1100"/>
            </a:pPr>
            <a:r>
              <a:rPr lang="en-US" sz="1100" b="1" i="0" u="none" strike="noStrike" cap="none" dirty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r>
              <a:rPr lang="en-US" sz="1100" b="1" dirty="0">
                <a:solidFill>
                  <a:srgbClr val="1D62A0"/>
                </a:solidFill>
              </a:rPr>
              <a:t>Hybrid BERT and Metadata Deep Learning Model for Twitter Bot Detection</a:t>
            </a:r>
            <a:r>
              <a:rPr lang="en-US" sz="1100" b="1" i="0" u="none" strike="noStrike" cap="none" dirty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68AB"/>
              </a:buClr>
              <a:buSzPts val="1100"/>
              <a:buFont typeface="Calibri"/>
              <a:buNone/>
            </a:pPr>
            <a:r>
              <a:rPr lang="en-US" sz="1100" b="1" i="0" u="none" strike="noStrike" cap="none" dirty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{Paper Id:341}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837642" y="2076775"/>
            <a:ext cx="4259767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1000" b="1" i="0" u="none" strike="noStrike" cap="none" dirty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Authors :</a:t>
            </a:r>
            <a:r>
              <a:rPr lang="en-US" sz="1000" dirty="0">
                <a:solidFill>
                  <a:srgbClr val="1D62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Shaik Khaja Mohiddin Basha, Shaik Shakeer Ahamad, Shaik Chinna Mastan Vali, Masimukkala Phani Kumar, S. Naga Tirumala Rao, Syed Rizwana, Moturi Sireesha</a:t>
            </a:r>
          </a:p>
          <a:p>
            <a:r>
              <a:rPr lang="en-US" sz="1000" b="1" dirty="0">
                <a:solidFill>
                  <a:srgbClr val="1D62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Affiliation:</a:t>
            </a:r>
            <a:br>
              <a:rPr lang="en-US" sz="1000" dirty="0">
                <a:solidFill>
                  <a:srgbClr val="1D62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" dirty="0">
                <a:solidFill>
                  <a:srgbClr val="1D62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</a:t>
            </a:r>
            <a:br>
              <a:rPr lang="en-US" sz="1000" dirty="0">
                <a:solidFill>
                  <a:srgbClr val="1D62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" dirty="0">
                <a:solidFill>
                  <a:srgbClr val="1D62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Narasaraopeta Engineering College (Autonomous), Narasaraopeta, India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68AB"/>
              </a:buClr>
              <a:buSzPts val="1100"/>
              <a:buFont typeface="Calibri"/>
              <a:buNone/>
            </a:pP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323" y="0"/>
            <a:ext cx="5769531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 txBox="1"/>
          <p:nvPr/>
        </p:nvSpPr>
        <p:spPr>
          <a:xfrm>
            <a:off x="-881023" y="88059"/>
            <a:ext cx="2874872" cy="281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2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Paper_id :341</a:t>
            </a:r>
            <a:endParaRPr dirty="0"/>
          </a:p>
        </p:txBody>
      </p:sp>
      <p:sp>
        <p:nvSpPr>
          <p:cNvPr id="93" name="Google Shape;93;p2"/>
          <p:cNvSpPr txBox="1"/>
          <p:nvPr/>
        </p:nvSpPr>
        <p:spPr>
          <a:xfrm>
            <a:off x="80289" y="507080"/>
            <a:ext cx="5843239" cy="249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to Solve: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Twitter bots spread misinformation, manipulate discussions, and undermine trust on social media.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Motivation: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rule-based detection methods fail as bots mimic human behavior convincingly.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Scope / Goal: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deep learning model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fuses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BERT-based semantic understanding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metadata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accurately detect bots.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Enhanced detection accuracy on TwiBot-20 dataset.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Improved robustness through dual-modal learning.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Reliable model for real-world Twitter bot detection.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216" y="0"/>
            <a:ext cx="5769531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"/>
          <p:cNvSpPr txBox="1"/>
          <p:nvPr/>
        </p:nvSpPr>
        <p:spPr>
          <a:xfrm>
            <a:off x="-895350" y="93995"/>
            <a:ext cx="2874872" cy="281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lnSpc>
                <a:spcPct val="112272"/>
              </a:lnSpc>
            </a:pPr>
            <a:r>
              <a:rPr lang="en-US" sz="1100" b="1" dirty="0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Paper_id :341</a:t>
            </a:r>
            <a:endParaRPr lang="en-US" sz="1100" dirty="0"/>
          </a:p>
        </p:txBody>
      </p:sp>
      <p:sp>
        <p:nvSpPr>
          <p:cNvPr id="100" name="Google Shape;100;p3"/>
          <p:cNvSpPr txBox="1"/>
          <p:nvPr/>
        </p:nvSpPr>
        <p:spPr>
          <a:xfrm>
            <a:off x="89780" y="469885"/>
            <a:ext cx="5687215" cy="249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Context: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Twitter is widely used for global communication, but automated accounts (bots) distort genuine discourse.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the Problem: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Detecting bots is critical for maintaining credibility and integrity on social platforms.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Involved: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BERT Transformer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text encoding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Multi Line Perception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metadata analysis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Hybrid Deep Learning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Challenges: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High similarity between human and bot behavior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Class imbalance in datasets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Need for integrating multimodal signals (text + metadata)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434" y="0"/>
            <a:ext cx="5769532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 txBox="1"/>
          <p:nvPr/>
        </p:nvSpPr>
        <p:spPr>
          <a:xfrm>
            <a:off x="-895350" y="89833"/>
            <a:ext cx="2874872" cy="281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lnSpc>
                <a:spcPct val="112272"/>
              </a:lnSpc>
            </a:pPr>
            <a:r>
              <a:rPr lang="en-US" sz="1100" b="1" dirty="0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Paper_id :341</a:t>
            </a:r>
            <a:endParaRPr lang="en-US" sz="1100" dirty="0"/>
          </a:p>
        </p:txBody>
      </p:sp>
      <p:sp>
        <p:nvSpPr>
          <p:cNvPr id="107" name="Google Shape;107;p4"/>
          <p:cNvSpPr txBox="1"/>
          <p:nvPr/>
        </p:nvSpPr>
        <p:spPr>
          <a:xfrm>
            <a:off x="209550" y="461562"/>
            <a:ext cx="5543550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Rule-based models (e.g.,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BotOrNot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Transformer-only methods (BERT,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Graph-based detection networks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Poor generalization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No fusion of user behavior with textual data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Inability to capture contextual + behavioral nuances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 of Proposed Approach: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Combines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(BERT)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behavioral (metadata)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information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Utilizes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loss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class imbalance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Outperforms baseline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integrating user-level signals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761316" cy="3233889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 txBox="1"/>
          <p:nvPr/>
        </p:nvSpPr>
        <p:spPr>
          <a:xfrm>
            <a:off x="268503" y="688303"/>
            <a:ext cx="3392448" cy="205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8746" marR="0" lvl="1" indent="0" algn="l" rtl="0">
              <a:lnSpc>
                <a:spcPct val="8555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 txBox="1"/>
          <p:nvPr/>
        </p:nvSpPr>
        <p:spPr>
          <a:xfrm>
            <a:off x="113860" y="469886"/>
            <a:ext cx="1946885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Overview: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(clean text + normalize metadata)</a:t>
            </a:r>
          </a:p>
          <a:p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Encoder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BERT extracts semantic embeddings</a:t>
            </a:r>
          </a:p>
          <a:p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Metadata Module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MLP captures user behavior</a:t>
            </a:r>
          </a:p>
          <a:p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Fusion Layer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Combines both representations</a:t>
            </a:r>
          </a:p>
          <a:p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Classifier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Predicts human vs bot with sigmoid output</a:t>
            </a:r>
          </a:p>
          <a:p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Highlights: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768D BERT embedding + 128D metadata vector → 896D combined representation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 + </a:t>
            </a:r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AdamW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optimizer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Focal loss for class imbalance</a:t>
            </a:r>
          </a:p>
        </p:txBody>
      </p:sp>
      <p:sp>
        <p:nvSpPr>
          <p:cNvPr id="115" name="Google Shape;115;p5"/>
          <p:cNvSpPr txBox="1"/>
          <p:nvPr/>
        </p:nvSpPr>
        <p:spPr>
          <a:xfrm>
            <a:off x="-910145" y="93995"/>
            <a:ext cx="2874872" cy="281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lnSpc>
                <a:spcPct val="112272"/>
              </a:lnSpc>
            </a:pPr>
            <a:r>
              <a:rPr lang="en-US" sz="1100" b="1" dirty="0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Paper_id :341</a:t>
            </a:r>
            <a:endParaRPr lang="en-US" sz="11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B9C6293-6A1C-32C8-3A9D-1250663CA1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6429" y="499891"/>
            <a:ext cx="1386588" cy="227057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91B49B-AE1D-117E-8BEE-396EDCEBB1CE}"/>
              </a:ext>
            </a:extLst>
          </p:cNvPr>
          <p:cNvSpPr txBox="1"/>
          <p:nvPr/>
        </p:nvSpPr>
        <p:spPr>
          <a:xfrm>
            <a:off x="1964727" y="2749317"/>
            <a:ext cx="150999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E32FE2-AA44-C614-C2F1-0C570A19D4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540" y="625597"/>
            <a:ext cx="1850674" cy="10410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CF0948-88EE-DCB8-0D74-885E9AAEAC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1540" y="1811575"/>
            <a:ext cx="1850673" cy="10410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7C2B233-031F-6D6E-9201-C0EE7629D5D5}"/>
              </a:ext>
            </a:extLst>
          </p:cNvPr>
          <p:cNvSpPr txBox="1"/>
          <p:nvPr/>
        </p:nvSpPr>
        <p:spPr>
          <a:xfrm>
            <a:off x="3878394" y="2829425"/>
            <a:ext cx="1580103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PREDICTING INTERFACE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C3CB1A-5A19-8B41-6CA2-FA9D601EFA00}"/>
              </a:ext>
            </a:extLst>
          </p:cNvPr>
          <p:cNvSpPr txBox="1"/>
          <p:nvPr/>
        </p:nvSpPr>
        <p:spPr>
          <a:xfrm>
            <a:off x="4003288" y="1635178"/>
            <a:ext cx="116466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OF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434" y="-9017"/>
            <a:ext cx="5785594" cy="32475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" name="Google Shape;121;p6"/>
          <p:cNvGrpSpPr/>
          <p:nvPr/>
        </p:nvGrpSpPr>
        <p:grpSpPr>
          <a:xfrm>
            <a:off x="1894836" y="49385"/>
            <a:ext cx="1989385" cy="274495"/>
            <a:chOff x="0" y="-18316"/>
            <a:chExt cx="2652513" cy="365994"/>
          </a:xfrm>
        </p:grpSpPr>
        <p:sp>
          <p:nvSpPr>
            <p:cNvPr id="122" name="Google Shape;122;p6"/>
            <p:cNvSpPr txBox="1"/>
            <p:nvPr/>
          </p:nvSpPr>
          <p:spPr>
            <a:xfrm>
              <a:off x="175023" y="-18316"/>
              <a:ext cx="2335620" cy="3659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49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6"/>
            <p:cNvSpPr txBox="1"/>
            <p:nvPr/>
          </p:nvSpPr>
          <p:spPr>
            <a:xfrm>
              <a:off x="0" y="-6661"/>
              <a:ext cx="2652513" cy="344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6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530" b="1" i="0" u="none" strike="noStrike" cap="none">
                <a:solidFill>
                  <a:srgbClr val="65A43D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24" name="Google Shape;124;p6"/>
          <p:cNvSpPr txBox="1"/>
          <p:nvPr/>
        </p:nvSpPr>
        <p:spPr>
          <a:xfrm>
            <a:off x="99589" y="359196"/>
            <a:ext cx="2834680" cy="140038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Setup:</a:t>
            </a:r>
            <a:b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trained on the </a:t>
            </a: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TwiBot-20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combining tweets and metadata.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Optimizer:</a:t>
            </a:r>
            <a:b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AdamW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optimizer for stable and efficient convergence.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Rate:</a:t>
            </a:r>
            <a:b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</a:t>
            </a: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cosine annealing with warm-up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smooth training.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Size &amp; Epochs:</a:t>
            </a:r>
            <a:b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with a </a:t>
            </a: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size of 32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epochs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ensuring balanced learning.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 Used:</a:t>
            </a:r>
            <a:b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using </a:t>
            </a: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Accuracy, Precision, Recall, F1-score, and ROC-AUC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  <a:b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</a:t>
            </a: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94.3% accuracy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0.935 F1-score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0.960 ROC-AUC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outperforming baselines.</a:t>
            </a:r>
          </a:p>
        </p:txBody>
      </p:sp>
      <p:sp>
        <p:nvSpPr>
          <p:cNvPr id="125" name="Google Shape;125;p6"/>
          <p:cNvSpPr txBox="1"/>
          <p:nvPr/>
        </p:nvSpPr>
        <p:spPr>
          <a:xfrm>
            <a:off x="-955172" y="101391"/>
            <a:ext cx="2874872" cy="281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lnSpc>
                <a:spcPct val="112272"/>
              </a:lnSpc>
            </a:pPr>
            <a:r>
              <a:rPr lang="en-US" sz="1100" b="1" dirty="0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Paper_id :341</a:t>
            </a:r>
            <a:endParaRPr lang="en-US" sz="11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15491B9-DED5-5213-7190-D5BB1B9209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8043951"/>
              </p:ext>
            </p:extLst>
          </p:nvPr>
        </p:nvGraphicFramePr>
        <p:xfrm>
          <a:off x="120649" y="1778558"/>
          <a:ext cx="2813622" cy="119450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68937">
                  <a:extLst>
                    <a:ext uri="{9D8B030D-6E8A-4147-A177-3AD203B41FA5}">
                      <a16:colId xmlns:a16="http://schemas.microsoft.com/office/drawing/2014/main" val="2378328747"/>
                    </a:ext>
                  </a:extLst>
                </a:gridCol>
                <a:gridCol w="468937">
                  <a:extLst>
                    <a:ext uri="{9D8B030D-6E8A-4147-A177-3AD203B41FA5}">
                      <a16:colId xmlns:a16="http://schemas.microsoft.com/office/drawing/2014/main" val="2274116999"/>
                    </a:ext>
                  </a:extLst>
                </a:gridCol>
                <a:gridCol w="468937">
                  <a:extLst>
                    <a:ext uri="{9D8B030D-6E8A-4147-A177-3AD203B41FA5}">
                      <a16:colId xmlns:a16="http://schemas.microsoft.com/office/drawing/2014/main" val="3739813916"/>
                    </a:ext>
                  </a:extLst>
                </a:gridCol>
                <a:gridCol w="468937">
                  <a:extLst>
                    <a:ext uri="{9D8B030D-6E8A-4147-A177-3AD203B41FA5}">
                      <a16:colId xmlns:a16="http://schemas.microsoft.com/office/drawing/2014/main" val="1683143249"/>
                    </a:ext>
                  </a:extLst>
                </a:gridCol>
                <a:gridCol w="468937">
                  <a:extLst>
                    <a:ext uri="{9D8B030D-6E8A-4147-A177-3AD203B41FA5}">
                      <a16:colId xmlns:a16="http://schemas.microsoft.com/office/drawing/2014/main" val="2370912796"/>
                    </a:ext>
                  </a:extLst>
                </a:gridCol>
                <a:gridCol w="468937">
                  <a:extLst>
                    <a:ext uri="{9D8B030D-6E8A-4147-A177-3AD203B41FA5}">
                      <a16:colId xmlns:a16="http://schemas.microsoft.com/office/drawing/2014/main" val="2257592660"/>
                    </a:ext>
                  </a:extLst>
                </a:gridCol>
              </a:tblGrid>
              <a:tr h="213784">
                <a:tc>
                  <a:txBody>
                    <a:bodyPr/>
                    <a:lstStyle/>
                    <a:p>
                      <a:pPr algn="ctr"/>
                      <a:r>
                        <a:rPr lang="en-US" sz="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</a:p>
                    <a:p>
                      <a:pPr algn="ctr"/>
                      <a:r>
                        <a:rPr lang="en-US" sz="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(BOT)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F1-SCORE(HUMAN)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ROC-AUC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144885"/>
                  </a:ext>
                </a:extLst>
              </a:tr>
              <a:tr h="285045">
                <a:tc>
                  <a:txBody>
                    <a:bodyPr/>
                    <a:lstStyle/>
                    <a:p>
                      <a:r>
                        <a:rPr lang="en-US" sz="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BERT-ONLY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 Branch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6642498"/>
                  </a:ext>
                </a:extLst>
              </a:tr>
              <a:tr h="356306">
                <a:tc>
                  <a:txBody>
                    <a:bodyPr/>
                    <a:lstStyle/>
                    <a:p>
                      <a:r>
                        <a:rPr lang="en-US" sz="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RoBERTa</a:t>
                      </a:r>
                      <a:r>
                        <a:rPr lang="en-US" sz="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Transformer based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1249225"/>
                  </a:ext>
                </a:extLst>
              </a:tr>
              <a:tr h="213784">
                <a:tc>
                  <a:txBody>
                    <a:bodyPr/>
                    <a:lstStyle/>
                    <a:p>
                      <a:r>
                        <a:rPr lang="en-US" sz="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Dual 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630731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9837C3C4-9CEF-9A92-DEE2-1726795E35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3443" y="626688"/>
            <a:ext cx="1106416" cy="96016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75414B-C074-B690-215E-B9A99DA671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8047" y="674973"/>
            <a:ext cx="1129069" cy="90604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2DD456-DB71-3121-9731-01CCF0BE281C}"/>
              </a:ext>
            </a:extLst>
          </p:cNvPr>
          <p:cNvSpPr txBox="1"/>
          <p:nvPr/>
        </p:nvSpPr>
        <p:spPr>
          <a:xfrm>
            <a:off x="3040349" y="1649625"/>
            <a:ext cx="2638567" cy="132343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Dynamics &amp; ROC Curve Summary: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Loss: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Steadily decreases → model learns effectively.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 F1-Score: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Stable → good generalization, no overfitting.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Optimizer &amp; LR: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AdamW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cosine annealing ensure smooth convergence.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 Curve: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Above diagonal → better than random.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 = 0.727: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moderate and reliable classification performance.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050" y="-14817"/>
            <a:ext cx="5795928" cy="3253317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7"/>
          <p:cNvSpPr txBox="1"/>
          <p:nvPr/>
        </p:nvSpPr>
        <p:spPr>
          <a:xfrm>
            <a:off x="245328" y="414940"/>
            <a:ext cx="2176718" cy="2585323"/>
          </a:xfrm>
          <a:prstGeom prst="rect">
            <a:avLst/>
          </a:prstGeom>
          <a:noFill/>
          <a:ln w="6350">
            <a:solidFill>
              <a:srgbClr val="92D050"/>
            </a:solidFill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Findings</a:t>
            </a:r>
          </a:p>
          <a:p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hybrid BERT + Metadata model achieved </a:t>
            </a: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94.3% accuracy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0.935 F1-score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TwiBot-20 dataset.</a:t>
            </a:r>
          </a:p>
          <a:p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tweet text and user metadata significantly improves detection reliability.</a:t>
            </a:r>
          </a:p>
          <a:p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generalizes well and maintains stable training performance.</a:t>
            </a:r>
          </a:p>
          <a:p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the Solution</a:t>
            </a:r>
          </a:p>
          <a:p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</a:t>
            </a: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and behavioral features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higher accuracy.</a:t>
            </a:r>
          </a:p>
          <a:p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</a:t>
            </a: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imbalance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focal loss.</a:t>
            </a:r>
          </a:p>
          <a:p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 performance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compared to text-only models.</a:t>
            </a:r>
          </a:p>
          <a:p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Contributions</a:t>
            </a:r>
          </a:p>
          <a:p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 </a:t>
            </a: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dual-branch hybrid architecture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(BERT + MLP).</a:t>
            </a:r>
          </a:p>
          <a:p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</a:t>
            </a: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fusion mechanism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text and metadata.</a:t>
            </a:r>
          </a:p>
          <a:p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measurable improvement over </a:t>
            </a:r>
            <a:r>
              <a:rPr lang="en-US" sz="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baseline.</a:t>
            </a:r>
          </a:p>
          <a:p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Google Shape;132;p7"/>
          <p:cNvSpPr txBox="1"/>
          <p:nvPr/>
        </p:nvSpPr>
        <p:spPr>
          <a:xfrm>
            <a:off x="-979170" y="97028"/>
            <a:ext cx="2874872" cy="281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lnSpc>
                <a:spcPct val="112272"/>
              </a:lnSpc>
            </a:pPr>
            <a:r>
              <a:rPr lang="en-US" sz="1100" b="1" dirty="0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Paper_id :341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7C1BEA-8EB3-1535-3B05-4B18CD365D0F}"/>
              </a:ext>
            </a:extLst>
          </p:cNvPr>
          <p:cNvSpPr txBox="1"/>
          <p:nvPr/>
        </p:nvSpPr>
        <p:spPr>
          <a:xfrm>
            <a:off x="2841330" y="703900"/>
            <a:ext cx="2207941" cy="181588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primarily on </a:t>
            </a: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English tweets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only.</a:t>
            </a:r>
          </a:p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</a:t>
            </a: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computational resources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detection.</a:t>
            </a:r>
          </a:p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further optimization for large-scale deployments.</a:t>
            </a:r>
          </a:p>
          <a:p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to </a:t>
            </a: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and real-time bot detection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 </a:t>
            </a: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neural networks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relational insights.</a:t>
            </a:r>
          </a:p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</a:t>
            </a: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compression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transparency and efficiency.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050" y="0"/>
            <a:ext cx="5791200" cy="3250663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8"/>
          <p:cNvSpPr txBox="1"/>
          <p:nvPr/>
        </p:nvSpPr>
        <p:spPr>
          <a:xfrm>
            <a:off x="178884" y="574445"/>
            <a:ext cx="2550935" cy="226215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E. Ferrara, O. Varol, C. Davis, F. Menczer, and A. Flammini,</a:t>
            </a:r>
            <a:b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“The rise of social bots,”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Communications of the ACM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59, no. 7, pp. 96–104, 2016.</a:t>
            </a:r>
          </a:p>
          <a:p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Z. Chu, S. </a:t>
            </a:r>
            <a:r>
              <a:rPr lang="en-US" sz="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Gianvecchio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H. Wang, and S. </a:t>
            </a:r>
            <a:r>
              <a:rPr lang="en-US" sz="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Jajodia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“Detecting automation of Twitter accounts: Are you a human, bot, or cyborg?”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Trans. Dependable Secure </a:t>
            </a:r>
            <a:r>
              <a:rPr lang="en-US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9, no. 6, pp. 811–824, 2012.</a:t>
            </a:r>
          </a:p>
          <a:p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D. Martín-Gutiérrez, G. Hernández-Peñaloza, A. B. Hernández, A. Lozano-Diez, and F. Álvarez,</a:t>
            </a:r>
            <a:b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 deep learning approach for robust detection of bots in Twitter using transformers,”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9, pp. 54,591–54,601, 2021.</a:t>
            </a:r>
          </a:p>
          <a:p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Y. Sallah, M. Mustafa, and W. Oueslati,</a:t>
            </a:r>
            <a:b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“Fine-tuning pretrained transformers for robust Twitter bot detection,”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12, pp. 15,433–15,446, 2024.</a:t>
            </a:r>
          </a:p>
          <a:p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S. Feng, Y. Wan, J. Wang, and R. </a:t>
            </a:r>
            <a:r>
              <a:rPr lang="en-US" sz="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Zafarani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“Twibot-20: A comprehensive Twitter bot detection benchmark,”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ACM Int. Conf. Inf. </a:t>
            </a:r>
            <a:r>
              <a:rPr lang="en-US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Knowl</a:t>
            </a: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Manage. (CIKM)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2021, pp. 4485–4494.</a:t>
            </a:r>
          </a:p>
          <a:p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A. Vaswani et al.,</a:t>
            </a:r>
            <a:b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“Attention is all you need,”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Advances in Neural Information Processing Systems (</a:t>
            </a:r>
            <a:r>
              <a:rPr lang="en-US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2017.</a:t>
            </a:r>
          </a:p>
        </p:txBody>
      </p:sp>
      <p:sp>
        <p:nvSpPr>
          <p:cNvPr id="139" name="Google Shape;139;p8"/>
          <p:cNvSpPr txBox="1"/>
          <p:nvPr/>
        </p:nvSpPr>
        <p:spPr>
          <a:xfrm>
            <a:off x="-834390" y="111832"/>
            <a:ext cx="2874872" cy="281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2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Paper_id :341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C476FE-39C6-F840-DB21-C93FBDD0D75A}"/>
              </a:ext>
            </a:extLst>
          </p:cNvPr>
          <p:cNvSpPr txBox="1"/>
          <p:nvPr/>
        </p:nvSpPr>
        <p:spPr>
          <a:xfrm>
            <a:off x="2788332" y="574445"/>
            <a:ext cx="2869517" cy="224676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P. Miller and L. M. Hagen,</a:t>
            </a:r>
            <a:b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“Identifying social bots in the age of artificial intelligence,”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Sci. </a:t>
            </a:r>
            <a:r>
              <a:rPr lang="en-US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Rev.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39, no. 6, pp. 1243–1260, 2021.</a:t>
            </a:r>
          </a:p>
          <a:p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D. Beskow and K. M. Carley,</a:t>
            </a:r>
            <a:b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“Introducing </a:t>
            </a:r>
            <a:r>
              <a:rPr lang="en-US" sz="7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BotHunter</a:t>
            </a:r>
            <a:r>
              <a:rPr lang="en-US" sz="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tiered approach to detecting and characterizing automated activity on Twitter,”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Int. Conf. Social </a:t>
            </a:r>
            <a:r>
              <a:rPr lang="en-US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</a:t>
            </a:r>
            <a:r>
              <a:rPr lang="en-US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</a:t>
            </a: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.-Cultural Modeling Predict. </a:t>
            </a:r>
            <a:r>
              <a:rPr lang="en-US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</a:t>
            </a: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Represent. Modeling Simulation (SBP-</a:t>
            </a:r>
            <a:r>
              <a:rPr lang="en-US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BRiMS</a:t>
            </a: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2020, pp. 137–146.</a:t>
            </a:r>
          </a:p>
          <a:p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P. Zhao and Z. Jin,</a:t>
            </a:r>
            <a:b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“BERT-based models for tweet classification,”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Procedia </a:t>
            </a:r>
            <a:r>
              <a:rPr lang="en-US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Sci.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174, pp. 321–328, 2020.</a:t>
            </a:r>
          </a:p>
          <a:p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A. Vaswani et al.,</a:t>
            </a:r>
            <a:b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“Attention is all you need,”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Adv. Neural Inf. Process. Syst.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30, 2017.</a:t>
            </a:r>
          </a:p>
          <a:p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K.-C. Yang, O. Varol, P.-M. Hui, and F. Menczer,</a:t>
            </a:r>
            <a:b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“Scalable and generalizable social bot detection through data selection,”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Nat. Commun.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11, no. 1, pp. 1–10, 2020.</a:t>
            </a:r>
          </a:p>
          <a:p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 A. Syed, A. Ahmed, M. Zubair, and M. A. Habib,</a:t>
            </a:r>
            <a:b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“Detecting Twitter bots using deep learning and sentiment features,”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Ambient </a:t>
            </a:r>
            <a:r>
              <a:rPr lang="en-US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</a:t>
            </a: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Humaniz</a:t>
            </a: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14, pp. 3575–3590, 2023.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1342</Words>
  <Application>Microsoft Office PowerPoint</Application>
  <PresentationFormat>Custom</PresentationFormat>
  <Paragraphs>127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IBM Plex Sans Condensed</vt:lpstr>
      <vt:lpstr>Calibri</vt:lpstr>
      <vt:lpstr>Wingdings</vt:lpstr>
      <vt:lpstr>Arial</vt:lpstr>
      <vt:lpstr>DM Sans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Sarthak</dc:creator>
  <cp:lastModifiedBy>SHAKEER SHAIK</cp:lastModifiedBy>
  <cp:revision>5</cp:revision>
  <dcterms:created xsi:type="dcterms:W3CDTF">2006-08-16T00:00:00Z</dcterms:created>
  <dcterms:modified xsi:type="dcterms:W3CDTF">2025-11-12T12:57:46Z</dcterms:modified>
</cp:coreProperties>
</file>